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79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2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7761D-94E6-4E59-97F6-B29C25850D68}" type="datetimeFigureOut">
              <a:rPr lang="es-ES" smtClean="0"/>
              <a:t>11/07/2026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364E80-8991-40D0-9084-7F0F79C647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9176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0765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58EB-F47B-5A35-7688-116E466F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3D967B9-1590-192C-AEE8-734895411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6CBED52-9240-B71E-7661-BC89A9F76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F87A99-7A30-2E95-C76A-5B59C3FCE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11444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12F66-42BA-489A-CF82-9B2429B9E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8B70B67-3675-2EE1-4C65-0A9BEBA8D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2B9892E-98BC-EFA0-8F56-00AF6A7C1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20D92D-9C37-B7A4-999F-AFD7DD70C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0028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64E80-8991-40D0-9084-7F0F79C647AE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4063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Aptos"/>
              </a:rPr>
              <a:t>Plataforma de </a:t>
            </a:r>
            <a:r>
              <a:rPr sz="4600" b="1" dirty="0" err="1">
                <a:solidFill>
                  <a:srgbClr val="FFFFFF"/>
                </a:solidFill>
                <a:latin typeface="Aptos"/>
              </a:rPr>
              <a:t>Seguimiento</a:t>
            </a:r>
            <a:endParaRPr sz="4600" b="1" dirty="0">
              <a:solidFill>
                <a:srgbClr val="FFFFFF"/>
              </a:solidFill>
              <a:latin typeface="Aptos"/>
            </a:endParaRPr>
          </a:p>
          <a:p>
            <a:pPr algn="l"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Aptos"/>
              </a:rPr>
              <a:t>de </a:t>
            </a:r>
            <a:r>
              <a:rPr sz="4600" b="1" dirty="0" err="1">
                <a:solidFill>
                  <a:srgbClr val="FFFFFF"/>
                </a:solidFill>
                <a:latin typeface="Aptos"/>
              </a:rPr>
              <a:t>Rehabilitación</a:t>
            </a:r>
            <a:endParaRPr sz="4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1798" y="5389155"/>
            <a:ext cx="1005840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400" dirty="0">
                <a:solidFill>
                  <a:srgbClr val="B9CFE8"/>
                </a:solidFill>
                <a:latin typeface="Aptos"/>
              </a:rPr>
              <a:t>Master de Desarrollo con IA – Big School</a:t>
            </a:r>
          </a:p>
          <a:p>
            <a:pPr algn="l">
              <a:spcAft>
                <a:spcPts val="600"/>
              </a:spcAft>
            </a:pPr>
            <a:r>
              <a:rPr lang="es-ES" sz="2400" b="0" dirty="0">
                <a:solidFill>
                  <a:srgbClr val="B9CFE8"/>
                </a:solidFill>
                <a:latin typeface="Aptos"/>
              </a:rPr>
              <a:t>Memoria del Proyecto Final de Master</a:t>
            </a:r>
          </a:p>
          <a:p>
            <a:pPr algn="l">
              <a:spcAft>
                <a:spcPts val="600"/>
              </a:spcAft>
            </a:pPr>
            <a:r>
              <a:rPr lang="es-ES" sz="1400" dirty="0">
                <a:solidFill>
                  <a:srgbClr val="B9CFE8"/>
                </a:solidFill>
                <a:latin typeface="Aptos"/>
              </a:rPr>
              <a:t>Julio 2026 – Jose A Pelaez Calderon</a:t>
            </a:r>
            <a:endParaRPr sz="1400" b="0" dirty="0">
              <a:solidFill>
                <a:srgbClr val="B9CFE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Objetivo de la aplicación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2006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b="0" dirty="0">
                <a:solidFill>
                  <a:srgbClr val="444A54"/>
                </a:solidFill>
                <a:latin typeface="Aptos Light"/>
              </a:rPr>
              <a:t>Es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una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plataforma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seguimiento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de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programas de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rehabilitación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</a:t>
            </a:r>
          </a:p>
          <a:p>
            <a:pPr algn="just">
              <a:spcAft>
                <a:spcPts val="600"/>
              </a:spcAft>
            </a:pPr>
            <a:r>
              <a:rPr lang="es-ES" sz="1600" dirty="0">
                <a:solidFill>
                  <a:srgbClr val="444A54"/>
                </a:solidFill>
                <a:latin typeface="Aptos Light"/>
              </a:rPr>
              <a:t>En este caso concreto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Logopedia: recuperación de habla</a:t>
            </a:r>
            <a:endParaRPr lang="es-ES" sz="1600" b="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Busca mostrar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c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ómo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evoluciona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un 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paciente</a:t>
            </a:r>
            <a:r>
              <a:rPr sz="1600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dentro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del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programa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que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le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proporciona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su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médico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rehabilitador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 a lo largo del </a:t>
            </a:r>
            <a:r>
              <a:rPr sz="1600" b="0" dirty="0" err="1">
                <a:solidFill>
                  <a:srgbClr val="444A54"/>
                </a:solidFill>
                <a:latin typeface="Aptos Light"/>
              </a:rPr>
              <a:t>tiempo</a:t>
            </a:r>
            <a:r>
              <a:rPr sz="1600" b="0" dirty="0">
                <a:solidFill>
                  <a:srgbClr val="444A54"/>
                </a:solidFill>
                <a:latin typeface="Aptos Light"/>
              </a:rPr>
              <a:t>.</a:t>
            </a:r>
          </a:p>
          <a:p>
            <a:pPr algn="ctr">
              <a:spcAft>
                <a:spcPts val="600"/>
              </a:spcAft>
            </a:pPr>
            <a:endParaRPr sz="1600" b="0" dirty="0">
              <a:solidFill>
                <a:srgbClr val="444A54"/>
              </a:solidFill>
              <a:latin typeface="Aptos Light"/>
            </a:endParaRPr>
          </a:p>
          <a:p>
            <a:pPr algn="ctr">
              <a:spcAft>
                <a:spcPts val="600"/>
              </a:spcAft>
            </a:pPr>
            <a:r>
              <a:rPr lang="es-ES" sz="1600" b="0" i="1" dirty="0">
                <a:solidFill>
                  <a:srgbClr val="444A54"/>
                </a:solidFill>
                <a:latin typeface="Aptos Light"/>
              </a:rPr>
              <a:t>U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n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cuaderno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ejercicios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digital:</a:t>
            </a:r>
            <a:endParaRPr lang="es-ES" sz="1600" b="0" i="1" dirty="0">
              <a:solidFill>
                <a:srgbClr val="444A54"/>
              </a:solidFill>
              <a:latin typeface="Aptos Light"/>
            </a:endParaRPr>
          </a:p>
          <a:p>
            <a:pPr algn="ctr">
              <a:spcAft>
                <a:spcPts val="600"/>
              </a:spcAft>
            </a:pPr>
            <a:r>
              <a:rPr lang="es-ES" sz="1600" i="1" dirty="0">
                <a:solidFill>
                  <a:srgbClr val="444A54"/>
                </a:solidFill>
                <a:latin typeface="Aptos Light"/>
              </a:rPr>
              <a:t>E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l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paciente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i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graba</a:t>
            </a:r>
            <a:r>
              <a:rPr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i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cada</a:t>
            </a:r>
            <a:r>
              <a:rPr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1" i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ejercicio</a:t>
            </a:r>
            <a:r>
              <a:rPr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y el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profesional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ve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ese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historial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convertido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métricas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y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gráficas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b="0" i="1" dirty="0" err="1">
                <a:solidFill>
                  <a:srgbClr val="444A54"/>
                </a:solidFill>
                <a:latin typeface="Aptos Light"/>
              </a:rPr>
              <a:t>progreso</a:t>
            </a:r>
            <a:r>
              <a:rPr lang="es-ES" sz="1600" b="0" i="1" dirty="0">
                <a:solidFill>
                  <a:srgbClr val="444A54"/>
                </a:solidFill>
                <a:latin typeface="Aptos Light"/>
              </a:rPr>
              <a:t> para su </a:t>
            </a:r>
            <a:r>
              <a:rPr lang="es-ES" sz="1600" b="1" i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evaluación</a:t>
            </a:r>
            <a:r>
              <a:rPr sz="1600" b="0" i="1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987907"/>
            <a:ext cx="11064240" cy="1516134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¿Cuál es el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objetivo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?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0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/>
              </a:rPr>
              <a:t>No es solo un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repositorio</a:t>
            </a:r>
            <a:r>
              <a:rPr dirty="0">
                <a:solidFill>
                  <a:srgbClr val="444A54"/>
                </a:solidFill>
                <a:latin typeface="Aptos Light"/>
              </a:rPr>
              <a:t> de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grabaciones</a:t>
            </a:r>
            <a:r>
              <a:rPr dirty="0">
                <a:solidFill>
                  <a:srgbClr val="444A54"/>
                </a:solidFill>
                <a:latin typeface="Aptos Light"/>
              </a:rPr>
              <a:t>,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sino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una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herramienta</a:t>
            </a:r>
            <a:r>
              <a:rPr dirty="0">
                <a:solidFill>
                  <a:srgbClr val="444A54"/>
                </a:solidFill>
                <a:latin typeface="Aptos Light"/>
              </a:rPr>
              <a:t> para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analizar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el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/>
              </a:rPr>
              <a:t>progreso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hacia</a:t>
            </a:r>
            <a:r>
              <a:rPr dirty="0">
                <a:solidFill>
                  <a:srgbClr val="444A54"/>
                </a:solidFill>
                <a:latin typeface="Aptos Light"/>
              </a:rPr>
              <a:t> un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objetivo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clínico</a:t>
            </a:r>
            <a:r>
              <a:rPr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Hoy en día, los seguimien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tos generan mucha documentación, a menudo dispersa y difícil de consolidar. </a:t>
            </a:r>
          </a:p>
          <a:p>
            <a:pPr algn="l">
              <a:spcAft>
                <a:spcPts val="600"/>
              </a:spcAft>
            </a:pPr>
            <a:r>
              <a:rPr lang="es-ES" sz="1600" dirty="0">
                <a:solidFill>
                  <a:srgbClr val="444A54"/>
                </a:solidFill>
                <a:latin typeface="Aptos Light"/>
              </a:rPr>
              <a:t>En consecuencia, el resultado es poco comprensible.</a:t>
            </a:r>
            <a:endParaRPr sz="1600" b="0" dirty="0">
              <a:solidFill>
                <a:srgbClr val="444A54"/>
              </a:solidFill>
              <a:latin typeface="Aptos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022589"/>
              </p:ext>
            </p:extLst>
          </p:nvPr>
        </p:nvGraphicFramePr>
        <p:xfrm>
          <a:off x="563727" y="3065542"/>
          <a:ext cx="11064240" cy="1143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4118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Problema</a:t>
                      </a:r>
                      <a:endParaRPr sz="1600" b="1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Cómo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 lo </a:t>
                      </a:r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</a:rPr>
                        <a:t>resuelve</a:t>
                      </a:r>
                      <a:endParaRPr sz="1600" b="1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488">
                <a:tc>
                  <a:txBody>
                    <a:bodyPr/>
                    <a:lstStyle/>
                    <a:p>
                      <a:pPr algn="ctr"/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Registros dispersos</a:t>
                      </a:r>
                      <a:endParaRPr sz="15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Mediante u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n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repositorio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único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con el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historial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ejercicios</a:t>
                      </a:r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a realizar por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cada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paciente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Progreso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difícil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medir</a:t>
                      </a:r>
                      <a:endParaRPr sz="15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Convierte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cada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grabación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en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métricas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objetivas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y las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compara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contra las </a:t>
                      </a:r>
                      <a:r>
                        <a:rPr lang="es-ES"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pautas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 del </a:t>
                      </a:r>
                      <a:r>
                        <a:rPr sz="15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ejercicio</a:t>
                      </a:r>
                      <a:r>
                        <a:rPr sz="15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46319"/>
            <a:ext cx="11064240" cy="1626843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¿Cuál es el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resultado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?</a:t>
            </a:r>
          </a:p>
          <a:p>
            <a:pPr algn="ctr"/>
            <a:endParaRPr sz="20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/>
              </a:rPr>
              <a:t>El </a:t>
            </a:r>
            <a:r>
              <a:rPr dirty="0" err="1">
                <a:solidFill>
                  <a:srgbClr val="444A54"/>
                </a:solidFill>
                <a:latin typeface="Aptos Light"/>
              </a:rPr>
              <a:t>profesional</a:t>
            </a:r>
            <a:r>
              <a:rPr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/>
              </a:rPr>
              <a:t>muestra datos objetivos</a:t>
            </a:r>
          </a:p>
          <a:p>
            <a:pPr algn="ctr"/>
            <a:endParaRPr lang="es-ES" b="1" dirty="0">
              <a:solidFill>
                <a:schemeClr val="accent6">
                  <a:lumMod val="50000"/>
                </a:schemeClr>
              </a:solidFill>
              <a:latin typeface="Aptos Light"/>
            </a:endParaRPr>
          </a:p>
          <a:p>
            <a:pPr algn="ctr"/>
            <a:r>
              <a:rPr lang="es-ES" sz="1600" dirty="0">
                <a:solidFill>
                  <a:srgbClr val="444A54"/>
                </a:solidFill>
                <a:latin typeface="Aptos Light"/>
              </a:rPr>
              <a:t>“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¿</a:t>
            </a:r>
            <a:r>
              <a:rPr lang="es-ES" sz="1600" i="1" dirty="0">
                <a:solidFill>
                  <a:srgbClr val="444A54"/>
                </a:solidFill>
                <a:latin typeface="Aptos Light"/>
              </a:rPr>
              <a:t>El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paciente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está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mejorando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según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 lo </a:t>
            </a:r>
            <a:r>
              <a:rPr sz="1600" i="1" dirty="0" err="1">
                <a:solidFill>
                  <a:srgbClr val="444A54"/>
                </a:solidFill>
                <a:latin typeface="Aptos Light"/>
              </a:rPr>
              <a:t>esperado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?</a:t>
            </a:r>
            <a:r>
              <a:rPr lang="es-ES" sz="1600" i="1" dirty="0">
                <a:solidFill>
                  <a:srgbClr val="444A54"/>
                </a:solidFill>
                <a:latin typeface="Aptos Light"/>
              </a:rPr>
              <a:t>"</a:t>
            </a:r>
            <a:endParaRPr sz="1600" i="1" dirty="0">
              <a:solidFill>
                <a:srgbClr val="444A54"/>
              </a:solidFill>
              <a:latin typeface="Aptos Light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7F43EA3D-B1D9-8BE4-7F5D-5F4A4832FE36}"/>
              </a:ext>
            </a:extLst>
          </p:cNvPr>
          <p:cNvSpPr txBox="1"/>
          <p:nvPr/>
        </p:nvSpPr>
        <p:spPr>
          <a:xfrm>
            <a:off x="508512" y="2160580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1600" b="0" dirty="0">
                <a:solidFill>
                  <a:srgbClr val="444A54"/>
                </a:solidFill>
                <a:latin typeface="Aptos Light"/>
              </a:rPr>
              <a:t>La aplicación aborda dos problemas principalmente:</a:t>
            </a:r>
            <a:endParaRPr sz="1600" b="0" dirty="0">
              <a:solidFill>
                <a:srgbClr val="444A54"/>
              </a:solidFill>
              <a:latin typeface="Apto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C58A4-61FD-B02A-580D-80CA79B45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16FAF1-C4B3-E40E-CB0E-8CFD7F37E9F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2032D0-C6E1-913D-F31E-69A45DBC60C1}"/>
              </a:ext>
            </a:extLst>
          </p:cNvPr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70AA96-5F52-AEBB-E5BA-BDCCBBBA33C2}"/>
              </a:ext>
            </a:extLst>
          </p:cNvPr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D9F493E4-29E1-73A7-1150-4E3512155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229" y="1152144"/>
            <a:ext cx="8269389" cy="551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01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F3302-7ED2-A051-F4A1-B15CBE466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6BC270-1E98-D32A-35AB-0BCEEBDB47A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CBC606-5339-7D6A-7DB3-7DA87CB7EC9D}"/>
              </a:ext>
            </a:extLst>
          </p:cNvPr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195AB-477D-F215-3B79-E4F758945934}"/>
              </a:ext>
            </a:extLst>
          </p:cNvPr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Qué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problema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resuelve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EE8B12F-72B0-3DF1-381E-FAC84EB6A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52144"/>
            <a:ext cx="8991600" cy="462915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D5BFD20-C18F-4B03-7FFC-F86AECC02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4162" y="4387868"/>
            <a:ext cx="2829276" cy="231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693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Arquitectura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68982"/>
              </p:ext>
            </p:extLst>
          </p:nvPr>
        </p:nvGraphicFramePr>
        <p:xfrm>
          <a:off x="426720" y="1828932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Componente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Responsabilidad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Keycloak</a:t>
                      </a:r>
                      <a:endParaRPr sz="1500" kern="1200" dirty="0">
                        <a:solidFill>
                          <a:srgbClr val="444A54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Auth/Auth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rol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UI + BFF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Interfaz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Backend For Frontend.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S3 Storage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Almacena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Worker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Calcula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asíncrono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Base de datos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Resultados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normas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reportes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seguimiento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4996" y="1280160"/>
            <a:ext cx="5119324" cy="3074752"/>
          </a:xfrm>
          <a:prstGeom prst="rect">
            <a:avLst/>
          </a:prstGeom>
          <a:solidFill>
            <a:srgbClr val="1B1F2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r>
              <a:rPr lang="es-ES" sz="1200" dirty="0">
                <a:solidFill>
                  <a:srgbClr val="D6E2F0"/>
                </a:solidFill>
                <a:latin typeface="Consolas"/>
              </a:rPr>
              <a:t>  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Keycloak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 (Auth/Auth)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UI  &lt;--&gt;  BFF  &lt;--&gt;  Base de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datos</a:t>
            </a:r>
            <a:endParaRPr sz="1200" dirty="0">
              <a:solidFill>
                <a:srgbClr val="D6E2F0"/>
              </a:solidFill>
              <a:latin typeface="Consolas"/>
            </a:endParaRP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         (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normas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,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graba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   |         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reportes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)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v             ^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S3 Storage         | 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metricas</a:t>
            </a:r>
            <a:endParaRPr sz="1200" dirty="0">
              <a:solidFill>
                <a:srgbClr val="D6E2F0"/>
              </a:solidFill>
              <a:latin typeface="Consolas"/>
            </a:endParaRP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|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    v             |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 Worker  ----------+</a:t>
            </a:r>
          </a:p>
          <a:p>
            <a:r>
              <a:rPr sz="1200" dirty="0">
                <a:solidFill>
                  <a:srgbClr val="D6E2F0"/>
                </a:solidFill>
                <a:latin typeface="Consolas"/>
              </a:rPr>
              <a:t>        (</a:t>
            </a:r>
            <a:r>
              <a:rPr sz="1200" dirty="0" err="1">
                <a:solidFill>
                  <a:srgbClr val="D6E2F0"/>
                </a:solidFill>
                <a:latin typeface="Consolas"/>
              </a:rPr>
              <a:t>metricas</a:t>
            </a:r>
            <a:r>
              <a:rPr sz="1200" dirty="0">
                <a:solidFill>
                  <a:srgbClr val="D6E2F0"/>
                </a:solidFill>
                <a:latin typeface="Consolas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897499"/>
            <a:ext cx="11247120" cy="1360682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¿Cuál es la idea principal?</a:t>
            </a:r>
          </a:p>
          <a:p>
            <a:pPr algn="ctr"/>
            <a:endParaRPr b="1" dirty="0">
              <a:solidFill>
                <a:srgbClr val="B57A00"/>
              </a:solidFill>
              <a:latin typeface="Aptos Light" panose="020B0004020202020204" pitchFamily="34" charset="0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grabación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se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guarda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S3, el Worker 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procesa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fuera de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línea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(no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bloquea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al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usuario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) y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resultados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viven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la BBDD junto a las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normas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para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poder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comparar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Cómo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funciona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</a:t>
            </a:r>
            <a:r>
              <a:rPr lang="es-ES" sz="2800" b="1" i="1" dirty="0">
                <a:solidFill>
                  <a:srgbClr val="FFFFFF"/>
                </a:solidFill>
                <a:latin typeface="Aptos Light" panose="020B0004020202020204" pitchFamily="34" charset="0"/>
              </a:rPr>
              <a:t>H</a:t>
            </a:r>
            <a:r>
              <a:rPr sz="2800" b="1" i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appy</a:t>
            </a:r>
            <a:r>
              <a:rPr sz="2800" b="1" i="1" dirty="0">
                <a:solidFill>
                  <a:srgbClr val="FFFFFF"/>
                </a:solidFill>
                <a:latin typeface="Aptos Light" panose="020B0004020202020204" pitchFamily="34" charset="0"/>
              </a:rPr>
              <a:t> path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899531"/>
              </p:ext>
            </p:extLst>
          </p:nvPr>
        </p:nvGraphicFramePr>
        <p:xfrm>
          <a:off x="457200" y="1234440"/>
          <a:ext cx="11247120" cy="2202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1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Actor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Acción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API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cálculo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genera las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pautas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BBDD.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Diagnostica y define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programa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rehabilitación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BBDD).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Consiente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1ª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grabación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sube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elimina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pide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al </a:t>
                      </a:r>
                      <a:r>
                        <a:rPr lang="es-ES" sz="1600" b="0" i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W</a:t>
                      </a:r>
                      <a:r>
                        <a:rPr sz="1600" b="0" i="1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orker</a:t>
                      </a:r>
                      <a:r>
                        <a:rPr sz="1600" b="0" i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análisis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266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Genera un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reporte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 ejercicio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escucha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añade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observaciones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Médico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Genera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seguimiento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1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 programa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(1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:n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 con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gráficas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métrica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frente a las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pautas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05869"/>
            <a:ext cx="11247120" cy="2237669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R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eporte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vs.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seguimiento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genera un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reporte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por cada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ejercicio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de rehabilitación en un periodo de tiempo pautado por médico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En adición, el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seguimiento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genera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por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cada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programa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de rehabilitación 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y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como resultado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agrega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 los reportes de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los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ejercicios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que lo componen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Como resultado, las m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étrica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y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observaciones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del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médico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se muestran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ambos.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Condicionantes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 GDPR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implementados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Las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grabaciones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voz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son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datos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categoría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especial (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biométricos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 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cumplimiento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del GDPR es un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requisito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, no un extra. Cada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condicionante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enlaza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su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artículo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012334"/>
              </p:ext>
            </p:extLst>
          </p:nvPr>
        </p:nvGraphicFramePr>
        <p:xfrm>
          <a:off x="457200" y="2343319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Condicionante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sz="1600" b="1" i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artículo</a:t>
                      </a:r>
                      <a:r>
                        <a:rPr lang="es-ES" sz="1600" b="1" i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GDPR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Cómo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ha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implementado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Consentimiento explícito (Art. 9.2a)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Consentimiento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1ª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grabación</a:t>
                      </a:r>
                      <a:r>
                        <a:rPr lang="es-ES"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sin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él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no se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ejercicios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Anonimización / seudonimización (Art. 4.5 ·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Mapa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disociado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paciente↔pseudónimo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national_id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cifrado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Fernet.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Control de acceso por rol (Art.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Keycloak restringe el acceso por rol (mínimo privilegio).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Restricción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usuario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· RLS (Art. 32)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Row-Level Security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Postgres: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cada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usuario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solo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ve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sus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filas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(no solo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la API).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Registro de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auditoría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(Art. 5.2)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AuditMiddleware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registra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quién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qué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cuándo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audit.event_log</a:t>
                      </a:r>
                      <a:r>
                        <a:rPr lang="es-ES"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solo el admin lo lee.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Hosting solo en Europa (Art. 44-46)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Despliegue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cloud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restringido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a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proveedores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regiones 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europeas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(EEE).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Despliegue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4749225"/>
              </p:ext>
            </p:extLst>
          </p:nvPr>
        </p:nvGraphicFramePr>
        <p:xfrm>
          <a:off x="457200" y="1234440"/>
          <a:ext cx="5577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Entorno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Herramienta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Docker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contenedores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kern="120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Cloud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Terraform (</a:t>
                      </a:r>
                      <a:r>
                        <a:rPr sz="1500" kern="1200" dirty="0" err="1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IaC</a:t>
                      </a:r>
                      <a:r>
                        <a:rPr sz="1500" kern="1200" dirty="0">
                          <a:solidFill>
                            <a:srgbClr val="444A54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solo Europa)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0" y="1234440"/>
            <a:ext cx="5303520" cy="1828800"/>
          </a:xfrm>
          <a:prstGeom prst="rect">
            <a:avLst/>
          </a:prstGeom>
          <a:solidFill>
            <a:srgbClr val="1B1F2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     Internet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        |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nginx (reverse proxy) + UI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         |  enruta hacia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 +----+----+----+----+----+</a:t>
            </a:r>
          </a:p>
          <a:p>
            <a:pPr algn="ctr"/>
            <a:r>
              <a:rPr sz="1200">
                <a:solidFill>
                  <a:srgbClr val="D6E2F0"/>
                </a:solidFill>
                <a:latin typeface="Consolas"/>
              </a:rPr>
              <a:t> BFF Keycloak Postgres S3 Worker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46121"/>
            <a:ext cx="11247120" cy="3509521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MVP vs.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arquitectura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objetivo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(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resiliencia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y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escalabilidad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)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MVP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: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autohospedado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tras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mismo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nginx,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nodo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Arquitectura o</a:t>
            </a:r>
            <a:r>
              <a:rPr sz="1600"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bjetivo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:
• S3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almacenamiento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externo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
• Postgres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servicio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réplicas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backups.
• UI-BFF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varias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instancias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tras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balanceador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(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escala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horizontal).
• Worker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autoescalable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según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la cola de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análisis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
•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Keycloak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alta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disponibilidad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/ IdP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gestionado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(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su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caída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bloquea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acceso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).</a:t>
            </a:r>
            <a:endParaRPr lang="es-ES"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
</a:t>
            </a:r>
            <a:r>
              <a:rPr lang="es-ES" sz="1600" dirty="0">
                <a:solidFill>
                  <a:srgbClr val="444A54"/>
                </a:solidFill>
                <a:latin typeface="Aptos Light" panose="020B0004020202020204" pitchFamily="34" charset="0"/>
              </a:rPr>
              <a:t>E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l nginx es hoy un </a:t>
            </a:r>
            <a:r>
              <a:rPr lang="es-ES" sz="1600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único punto de fallo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 Pasar de un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nodo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a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componentes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distribuidos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redundancia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 y </a:t>
            </a:r>
            <a:r>
              <a:rPr sz="1600" dirty="0" err="1">
                <a:solidFill>
                  <a:srgbClr val="444A54"/>
                </a:solidFill>
                <a:latin typeface="Aptos Light" panose="020B0004020202020204" pitchFamily="34" charset="0"/>
              </a:rPr>
              <a:t>balanceo</a:t>
            </a:r>
            <a:r>
              <a:rPr sz="1600"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¿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Cómo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se ha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implementado</a:t>
            </a:r>
            <a:r>
              <a:rPr lang="es-ES"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?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SDD (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Spec-Driven Development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): primero la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especificación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,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después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código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 La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spec</a:t>
            </a:r>
            <a:r>
              <a:rPr lang="es-ES" sz="1600" dirty="0" err="1">
                <a:solidFill>
                  <a:srgbClr val="444A54"/>
                </a:solidFill>
                <a:latin typeface="Aptos Light"/>
              </a:rPr>
              <a:t>ificación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evolucionó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dos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fases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090"/>
            <a:ext cx="10972800" cy="8951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dirty="0" err="1">
                <a:solidFill>
                  <a:srgbClr val="444A54"/>
                </a:solidFill>
                <a:latin typeface="Aptos Light"/>
              </a:rPr>
              <a:t>Especificación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inicial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: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documento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madre SDD v1.9 (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alcance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y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casos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uso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).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marL="285750" indent="-285750" algn="just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dirty="0" err="1">
                <a:solidFill>
                  <a:srgbClr val="444A54"/>
                </a:solidFill>
                <a:latin typeface="Aptos Light"/>
              </a:rPr>
              <a:t>Iteración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por</a:t>
            </a:r>
            <a:r>
              <a:rPr sz="1600" b="1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b="1" dirty="0" err="1">
                <a:solidFill>
                  <a:srgbClr val="444A54"/>
                </a:solidFill>
                <a:latin typeface="Aptos Light"/>
              </a:rPr>
              <a:t>verticales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: implementación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cada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caso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uso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(UC-1…15)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como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vertical 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slice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vía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OpenSpec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y </a:t>
            </a:r>
            <a:r>
              <a:rPr sz="1600" i="1" dirty="0">
                <a:solidFill>
                  <a:srgbClr val="444A54"/>
                </a:solidFill>
                <a:latin typeface="Aptos Light"/>
              </a:rPr>
              <a:t>skills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SDD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GentlemanProgramming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91232"/>
              </p:ext>
            </p:extLst>
          </p:nvPr>
        </p:nvGraphicFramePr>
        <p:xfrm>
          <a:off x="502920" y="299935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Aspecto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Dónde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documenta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Especificación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inicial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(SDD v1.9)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doc/sdd/FTM_SDD_1_9.md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Especificación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iterada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(specs · design · tasks)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openspec/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Decisiones de arquitectura (ADR)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doc/architecture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Modelo de datos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doc/bbdd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UI (v0) · Skills IA (GPT + Claude)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GentlemanProgramming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Extensiones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del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caso</a:t>
            </a: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 de </a:t>
            </a:r>
            <a:r>
              <a:rPr sz="2800" b="1" dirty="0" err="1">
                <a:solidFill>
                  <a:srgbClr val="FFFFFF"/>
                </a:solidFill>
                <a:latin typeface="Aptos Light" panose="020B0004020202020204" pitchFamily="34" charset="0"/>
              </a:rPr>
              <a:t>uso</a:t>
            </a:r>
            <a:endParaRPr sz="2800" b="1" dirty="0">
              <a:solidFill>
                <a:srgbClr val="FFFFFF"/>
              </a:solidFill>
              <a:latin typeface="Aptos Light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mismo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patrón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sirve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para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cualquier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ámbito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donde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haya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que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analizar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audio 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vídeo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y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seguir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un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progreso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el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tiempo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Aplica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 fines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pedagógicos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o de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estudio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.</a:t>
            </a:r>
            <a:endParaRPr sz="1600" dirty="0">
              <a:solidFill>
                <a:srgbClr val="444A54"/>
              </a:solidFill>
              <a:latin typeface="Aptos Ligh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896021"/>
              </p:ext>
            </p:extLst>
          </p:nvPr>
        </p:nvGraphicFramePr>
        <p:xfrm>
          <a:off x="640080" y="2261920"/>
          <a:ext cx="11064240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Dominio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pedagógico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/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estudio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¿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Qué</a:t>
                      </a:r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se </a:t>
                      </a:r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sigue</a:t>
                      </a:r>
                      <a:r>
                        <a:rPr lang="es-ES"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?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Lectura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técnicas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lectura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tiempo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Escritura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Progreso 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 técnicas 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escritura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y </a:t>
                      </a:r>
                      <a:r>
                        <a:rPr lang="es-ES"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expresion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Exposición oral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Evaluación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exposiciones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algn="ctr"/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(lenguaje corporal, no verbal…)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Interpretación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musical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Evaluacion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técnicas de interpretación. </a:t>
                      </a:r>
                    </a:p>
                    <a:p>
                      <a:pPr algn="ctr"/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Corrección de ritmo, </a:t>
                      </a:r>
                      <a:r>
                        <a:rPr lang="es-ES"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entoncacion</a:t>
                      </a:r>
                      <a:r>
                        <a:rPr lang="es-ES"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…</a:t>
                      </a:r>
                      <a:endParaRPr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14738"/>
            <a:ext cx="11064240" cy="1828800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sz="2400" b="1" dirty="0">
                <a:solidFill>
                  <a:srgbClr val="B57A00"/>
                </a:solidFill>
                <a:latin typeface="Aptos"/>
              </a:rPr>
              <a:t>El </a:t>
            </a:r>
            <a:r>
              <a:rPr lang="es-ES" sz="2400" b="1" dirty="0">
                <a:solidFill>
                  <a:srgbClr val="B57A00"/>
                </a:solidFill>
                <a:latin typeface="Aptos"/>
              </a:rPr>
              <a:t>patrón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se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repite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G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rabar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Extraer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métricas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C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omparar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con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una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pauta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→ 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V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isualizar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progreso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Cambia el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dominio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, no la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arquitectura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.</a:t>
            </a:r>
            <a:endParaRPr lang="es-ES" dirty="0">
              <a:solidFill>
                <a:srgbClr val="444A54"/>
              </a:solidFill>
              <a:latin typeface="Aptos Light" panose="020B0004020202020204" pitchFamily="34" charset="0"/>
            </a:endParaRPr>
          </a:p>
          <a:p>
            <a:pPr algn="ctr"/>
            <a:endParaRPr sz="1600" dirty="0">
              <a:solidFill>
                <a:srgbClr val="444A54"/>
              </a:solidFill>
              <a:latin typeface="Aptos Light" panose="020B00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548640" cy="548640"/>
          </a:xfrm>
          <a:prstGeom prst="rect">
            <a:avLst/>
          </a:prstGeom>
          <a:solidFill>
            <a:srgbClr val="0E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14462"/>
            <a:ext cx="105156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FFFFFF"/>
                </a:solidFill>
                <a:latin typeface="Aptos Light" panose="020B0004020202020204" pitchFamily="34" charset="0"/>
              </a:rPr>
              <a:t>Anexo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sz="1600" dirty="0" err="1">
                <a:solidFill>
                  <a:srgbClr val="444A54"/>
                </a:solidFill>
                <a:latin typeface="Aptos Light"/>
              </a:rPr>
              <a:t>Mejoras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diseñadas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previstas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pero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b="1" dirty="0">
                <a:solidFill>
                  <a:srgbClr val="444A54"/>
                </a:solidFill>
                <a:latin typeface="Aptos Light"/>
              </a:rPr>
              <a:t>no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implementadas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la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versión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actual</a:t>
            </a:r>
            <a:endParaRPr lang="es-ES" sz="1600" dirty="0">
              <a:solidFill>
                <a:srgbClr val="444A54"/>
              </a:solidFill>
              <a:latin typeface="Aptos Light"/>
            </a:endParaRPr>
          </a:p>
          <a:p>
            <a:pPr algn="just">
              <a:spcAft>
                <a:spcPts val="600"/>
              </a:spcAft>
            </a:pPr>
            <a:r>
              <a:rPr sz="1600" dirty="0">
                <a:solidFill>
                  <a:srgbClr val="444A54"/>
                </a:solidFill>
                <a:latin typeface="Aptos Light"/>
              </a:rPr>
              <a:t>Se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separan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con el objetivo de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no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confundir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el trabajo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entregado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 </a:t>
            </a:r>
            <a:r>
              <a:rPr lang="es-ES" sz="1600" dirty="0">
                <a:solidFill>
                  <a:srgbClr val="444A54"/>
                </a:solidFill>
                <a:latin typeface="Aptos Light"/>
              </a:rPr>
              <a:t>frente a la mejora </a:t>
            </a:r>
            <a:r>
              <a:rPr sz="1600" dirty="0" err="1">
                <a:solidFill>
                  <a:srgbClr val="444A54"/>
                </a:solidFill>
                <a:latin typeface="Aptos Light"/>
              </a:rPr>
              <a:t>pendiente</a:t>
            </a:r>
            <a:r>
              <a:rPr sz="16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771794"/>
              </p:ext>
            </p:extLst>
          </p:nvPr>
        </p:nvGraphicFramePr>
        <p:xfrm>
          <a:off x="472287" y="2256656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 err="1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Mejora</a:t>
                      </a:r>
                      <a:endParaRPr sz="1600" b="1" kern="1200" dirty="0">
                        <a:solidFill>
                          <a:srgbClr val="FFFFFF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1" kern="1200" dirty="0">
                          <a:solidFill>
                            <a:srgbClr val="FFFFFF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Estado actual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Interacción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LLM (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asistencia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por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IA)</a:t>
                      </a:r>
                      <a:endParaRPr lang="es-ES" sz="1600" b="0" kern="1200" dirty="0">
                        <a:solidFill>
                          <a:schemeClr val="tx1"/>
                        </a:solidFill>
                        <a:latin typeface="Aptos Light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Diseñada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no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conectada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Tabla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ai_insight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+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frontera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v_ai_payload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listas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;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falta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servicio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que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llama al LLM.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Cifrado Fernet respaldado por KMS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Pendiente. Hoy la clave va por variable de entorno; en prod debe gestionarse con KMS.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S3 como recurso externo gestionado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Pendiente (condicionado por MVP). Hoy autohospedado; el objetivo lo externaliza.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Derecho al olvido (Art. 17 GDPR)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Diseñado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, no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implementado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Esquema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con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is_deleted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(UC-13) y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borrado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mapa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;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falta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el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flujo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 de </a:t>
                      </a:r>
                      <a:r>
                        <a:rPr sz="1600" b="0" kern="1200" dirty="0" err="1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supresión</a:t>
                      </a:r>
                      <a:r>
                        <a:rPr sz="1600" b="0" kern="1200" dirty="0">
                          <a:solidFill>
                            <a:schemeClr val="tx1"/>
                          </a:solidFill>
                          <a:latin typeface="Aptos Light" panose="020B0004020202020204" pitchFamily="34" charset="0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126974"/>
            <a:ext cx="11247120" cy="1416564"/>
          </a:xfrm>
          <a:prstGeom prst="roundRect">
            <a:avLst/>
          </a:prstGeom>
          <a:solidFill>
            <a:srgbClr val="FFF6E0"/>
          </a:solidFill>
          <a:ln w="15875">
            <a:solidFill>
              <a:srgbClr val="B5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/>
            <a:r>
              <a:rPr lang="es-ES" sz="2400" b="1" dirty="0">
                <a:solidFill>
                  <a:srgbClr val="B57A00"/>
                </a:solidFill>
                <a:latin typeface="Aptos"/>
              </a:rPr>
              <a:t>Base</a:t>
            </a:r>
            <a:r>
              <a:rPr sz="2400" b="1" dirty="0">
                <a:solidFill>
                  <a:srgbClr val="B57A00"/>
                </a:solidFill>
                <a:latin typeface="Aptos"/>
              </a:rPr>
              <a:t> de </a:t>
            </a:r>
            <a:r>
              <a:rPr sz="2400" b="1" dirty="0" err="1">
                <a:solidFill>
                  <a:srgbClr val="B57A00"/>
                </a:solidFill>
                <a:latin typeface="Aptos"/>
              </a:rPr>
              <a:t>ingeniería</a:t>
            </a:r>
            <a:endParaRPr lang="es-ES" sz="2400" b="1" dirty="0">
              <a:solidFill>
                <a:srgbClr val="B57A00"/>
              </a:solidFill>
              <a:latin typeface="Aptos"/>
            </a:endParaRPr>
          </a:p>
          <a:p>
            <a:pPr algn="ctr"/>
            <a:endParaRPr sz="2400" b="1" dirty="0">
              <a:solidFill>
                <a:srgbClr val="B57A00"/>
              </a:solidFill>
              <a:latin typeface="Aptos"/>
            </a:endParaRPr>
          </a:p>
          <a:p>
            <a:pPr algn="ctr"/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Cada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mejora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tiene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una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base </a:t>
            </a:r>
            <a:r>
              <a:rPr lang="es-ES"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a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sentada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en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el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diseño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actual</a:t>
            </a:r>
            <a:r>
              <a:rPr lang="es-ES" dirty="0">
                <a:solidFill>
                  <a:srgbClr val="444A54"/>
                </a:solidFill>
                <a:latin typeface="Aptos Light" panose="020B0004020202020204" pitchFamily="34" charset="0"/>
              </a:rPr>
              <a:t>. N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o son ideas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sueltas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,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sino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la </a:t>
            </a:r>
            <a:r>
              <a:rPr b="1" dirty="0" err="1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evolución</a:t>
            </a:r>
            <a:r>
              <a:rPr b="1" dirty="0">
                <a:solidFill>
                  <a:schemeClr val="accent6">
                    <a:lumMod val="50000"/>
                  </a:schemeClr>
                </a:solidFill>
                <a:latin typeface="Aptos Light" panose="020B0004020202020204" pitchFamily="34" charset="0"/>
              </a:rPr>
              <a:t> natural 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de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decisiones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ya</a:t>
            </a:r>
            <a:r>
              <a:rPr dirty="0">
                <a:solidFill>
                  <a:srgbClr val="444A54"/>
                </a:solidFill>
                <a:latin typeface="Aptos Light" panose="020B0004020202020204" pitchFamily="34" charset="0"/>
              </a:rPr>
              <a:t> </a:t>
            </a:r>
            <a:r>
              <a:rPr dirty="0" err="1">
                <a:solidFill>
                  <a:srgbClr val="444A54"/>
                </a:solidFill>
                <a:latin typeface="Aptos Light" panose="020B0004020202020204" pitchFamily="34" charset="0"/>
              </a:rPr>
              <a:t>tomadas</a:t>
            </a:r>
            <a:r>
              <a:rPr sz="1300" dirty="0">
                <a:solidFill>
                  <a:srgbClr val="444A54"/>
                </a:solidFill>
                <a:latin typeface="Aptos Light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1309</Words>
  <Application>Microsoft Office PowerPoint</Application>
  <PresentationFormat>Panorámica</PresentationFormat>
  <Paragraphs>186</Paragraphs>
  <Slides>12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Aptos</vt:lpstr>
      <vt:lpstr>Aptos Light</vt:lpstr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Jose Antonio Peláez Calderón</cp:lastModifiedBy>
  <cp:revision>8</cp:revision>
  <dcterms:created xsi:type="dcterms:W3CDTF">2013-01-27T09:14:16Z</dcterms:created>
  <dcterms:modified xsi:type="dcterms:W3CDTF">2026-07-11T16:39:41Z</dcterms:modified>
  <cp:category/>
</cp:coreProperties>
</file>