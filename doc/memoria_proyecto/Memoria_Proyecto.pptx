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66" r:id="rId5"/>
    <p:sldId id="267" r:id="rId6"/>
    <p:sldId id="259" r:id="rId7"/>
    <p:sldId id="260" r:id="rId8"/>
    <p:sldId id="261" r:id="rId9"/>
    <p:sldId id="262" r:id="rId10"/>
    <p:sldId id="263" r:id="rId11"/>
    <p:sldId id="268" r:id="rId12"/>
    <p:sldId id="264" r:id="rId13"/>
    <p:sldId id="265"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279" autoAdjust="0"/>
    <p:restoredTop sz="94660"/>
  </p:normalViewPr>
  <p:slideViewPr>
    <p:cSldViewPr snapToGrid="0" snapToObjects="1">
      <p:cViewPr varScale="1">
        <p:scale>
          <a:sx n="65" d="100"/>
          <a:sy n="65" d="100"/>
        </p:scale>
        <p:origin x="12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C7761D-94E6-4E59-97F6-B29C25850D68}" type="datetimeFigureOut">
              <a:rPr lang="es-ES" smtClean="0"/>
              <a:t>18/07/2026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364E80-8991-40D0-9084-7F0F79C647AE}" type="slidenum">
              <a:rPr lang="es-ES" smtClean="0"/>
              <a:t>‹Nº›</a:t>
            </a:fld>
            <a:endParaRPr lang="es-ES"/>
          </a:p>
        </p:txBody>
      </p:sp>
    </p:spTree>
    <p:extLst>
      <p:ext uri="{BB962C8B-B14F-4D97-AF65-F5344CB8AC3E}">
        <p14:creationId xmlns:p14="http://schemas.microsoft.com/office/powerpoint/2010/main" val="2409176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3A364E80-8991-40D0-9084-7F0F79C647AE}" type="slidenum">
              <a:rPr lang="es-ES" smtClean="0"/>
              <a:t>3</a:t>
            </a:fld>
            <a:endParaRPr lang="es-ES"/>
          </a:p>
        </p:txBody>
      </p:sp>
    </p:spTree>
    <p:extLst>
      <p:ext uri="{BB962C8B-B14F-4D97-AF65-F5344CB8AC3E}">
        <p14:creationId xmlns:p14="http://schemas.microsoft.com/office/powerpoint/2010/main" val="1950765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B58EB-F47B-5A35-7688-116E466FF8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D967B9-1590-192C-AEE8-7348954115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6CBED52-9240-B71E-7661-BC89A9F768E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2F87A99-7A30-2E95-C76A-5B59C3FCECD4}"/>
              </a:ext>
            </a:extLst>
          </p:cNvPr>
          <p:cNvSpPr>
            <a:spLocks noGrp="1"/>
          </p:cNvSpPr>
          <p:nvPr>
            <p:ph type="sldNum" sz="quarter" idx="5"/>
          </p:nvPr>
        </p:nvSpPr>
        <p:spPr/>
        <p:txBody>
          <a:bodyPr/>
          <a:lstStyle/>
          <a:p>
            <a:fld id="{3A364E80-8991-40D0-9084-7F0F79C647AE}" type="slidenum">
              <a:rPr lang="es-ES" smtClean="0"/>
              <a:t>4</a:t>
            </a:fld>
            <a:endParaRPr lang="es-ES"/>
          </a:p>
        </p:txBody>
      </p:sp>
    </p:spTree>
    <p:extLst>
      <p:ext uri="{BB962C8B-B14F-4D97-AF65-F5344CB8AC3E}">
        <p14:creationId xmlns:p14="http://schemas.microsoft.com/office/powerpoint/2010/main" val="1751144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12F66-42BA-489A-CF82-9B2429B9EE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8B70B67-3675-2EE1-4C65-0A9BEBA8DBB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2B9892E-98BC-EFA0-8F56-00AF6A7C184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20D92D-9C37-B7A4-999F-AFD7DD70CB72}"/>
              </a:ext>
            </a:extLst>
          </p:cNvPr>
          <p:cNvSpPr>
            <a:spLocks noGrp="1"/>
          </p:cNvSpPr>
          <p:nvPr>
            <p:ph type="sldNum" sz="quarter" idx="5"/>
          </p:nvPr>
        </p:nvSpPr>
        <p:spPr/>
        <p:txBody>
          <a:bodyPr/>
          <a:lstStyle/>
          <a:p>
            <a:fld id="{3A364E80-8991-40D0-9084-7F0F79C647AE}" type="slidenum">
              <a:rPr lang="es-ES" smtClean="0"/>
              <a:t>5</a:t>
            </a:fld>
            <a:endParaRPr lang="es-ES"/>
          </a:p>
        </p:txBody>
      </p:sp>
    </p:spTree>
    <p:extLst>
      <p:ext uri="{BB962C8B-B14F-4D97-AF65-F5344CB8AC3E}">
        <p14:creationId xmlns:p14="http://schemas.microsoft.com/office/powerpoint/2010/main" val="1440028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3A364E80-8991-40D0-9084-7F0F79C647AE}" type="slidenum">
              <a:rPr lang="es-ES" smtClean="0"/>
              <a:t>9</a:t>
            </a:fld>
            <a:endParaRPr lang="es-ES"/>
          </a:p>
        </p:txBody>
      </p:sp>
    </p:spTree>
    <p:extLst>
      <p:ext uri="{BB962C8B-B14F-4D97-AF65-F5344CB8AC3E}">
        <p14:creationId xmlns:p14="http://schemas.microsoft.com/office/powerpoint/2010/main" val="2664063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p:cNvGrpSpPr/>
        <p:nvPr/>
      </p:nvGrpSpPr>
      <p:grpSpPr>
        <a:xfrm>
          <a:off x="0" y="0"/>
          <a:ext cx="0" cy="0"/>
          <a:chOff x="0" y="0"/>
          <a:chExt cx="0" cy="0"/>
        </a:xfrm>
      </p:grpSpPr>
      <p:sp>
        <p:nvSpPr>
          <p:cNvPr id="2" name="Rectangle 1"/>
          <p:cNvSpPr/>
          <p:nvPr/>
        </p:nvSpPr>
        <p:spPr>
          <a:xfrm>
            <a:off x="0" y="5120640"/>
            <a:ext cx="12191695" cy="173736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463040"/>
            <a:ext cx="10515600" cy="2286000"/>
          </a:xfrm>
          <a:prstGeom prst="rect">
            <a:avLst/>
          </a:prstGeom>
          <a:noFill/>
        </p:spPr>
        <p:txBody>
          <a:bodyPr wrap="square" anchor="t">
            <a:spAutoFit/>
          </a:bodyPr>
          <a:lstStyle/>
          <a:p>
            <a:pPr algn="l">
              <a:spcAft>
                <a:spcPts val="600"/>
              </a:spcAft>
            </a:pPr>
            <a:r>
              <a:rPr sz="4600" b="1" dirty="0">
                <a:solidFill>
                  <a:srgbClr val="FFFFFF"/>
                </a:solidFill>
                <a:latin typeface="Aptos"/>
              </a:rPr>
              <a:t>Plataforma de </a:t>
            </a:r>
            <a:r>
              <a:rPr sz="4600" b="1" dirty="0" err="1">
                <a:solidFill>
                  <a:srgbClr val="FFFFFF"/>
                </a:solidFill>
                <a:latin typeface="Aptos"/>
              </a:rPr>
              <a:t>Seguimiento</a:t>
            </a:r>
            <a:endParaRPr sz="4600" b="1" dirty="0">
              <a:solidFill>
                <a:srgbClr val="FFFFFF"/>
              </a:solidFill>
              <a:latin typeface="Aptos"/>
            </a:endParaRPr>
          </a:p>
          <a:p>
            <a:pPr algn="l">
              <a:spcAft>
                <a:spcPts val="600"/>
              </a:spcAft>
            </a:pPr>
            <a:r>
              <a:rPr sz="4600" b="1" dirty="0">
                <a:solidFill>
                  <a:srgbClr val="FFFFFF"/>
                </a:solidFill>
                <a:latin typeface="Aptos"/>
              </a:rPr>
              <a:t>de </a:t>
            </a:r>
            <a:r>
              <a:rPr sz="4600" b="1" dirty="0" err="1">
                <a:solidFill>
                  <a:srgbClr val="FFFFFF"/>
                </a:solidFill>
                <a:latin typeface="Aptos"/>
              </a:rPr>
              <a:t>Rehabilitación</a:t>
            </a:r>
            <a:endParaRPr sz="4600" b="1" dirty="0">
              <a:solidFill>
                <a:srgbClr val="FFFFFF"/>
              </a:solidFill>
              <a:latin typeface="Aptos"/>
            </a:endParaRPr>
          </a:p>
        </p:txBody>
      </p:sp>
      <p:sp>
        <p:nvSpPr>
          <p:cNvPr id="4" name="TextBox 3"/>
          <p:cNvSpPr txBox="1"/>
          <p:nvPr/>
        </p:nvSpPr>
        <p:spPr>
          <a:xfrm>
            <a:off x="361798" y="5389155"/>
            <a:ext cx="10058400" cy="1200329"/>
          </a:xfrm>
          <a:prstGeom prst="rect">
            <a:avLst/>
          </a:prstGeom>
          <a:noFill/>
        </p:spPr>
        <p:txBody>
          <a:bodyPr wrap="square" anchor="t">
            <a:spAutoFit/>
          </a:bodyPr>
          <a:lstStyle/>
          <a:p>
            <a:pPr algn="l">
              <a:spcAft>
                <a:spcPts val="600"/>
              </a:spcAft>
            </a:pPr>
            <a:r>
              <a:rPr lang="es-ES" sz="2400" dirty="0">
                <a:solidFill>
                  <a:srgbClr val="B9CFE8"/>
                </a:solidFill>
                <a:latin typeface="Aptos"/>
              </a:rPr>
              <a:t>Master de Desarrollo con IA – Big School</a:t>
            </a:r>
          </a:p>
          <a:p>
            <a:pPr algn="l">
              <a:spcAft>
                <a:spcPts val="600"/>
              </a:spcAft>
            </a:pPr>
            <a:r>
              <a:rPr lang="es-ES" sz="2400" b="0" dirty="0">
                <a:solidFill>
                  <a:srgbClr val="B9CFE8"/>
                </a:solidFill>
                <a:latin typeface="Aptos"/>
              </a:rPr>
              <a:t>Memoria del Proyecto Final de Master</a:t>
            </a:r>
          </a:p>
          <a:p>
            <a:pPr algn="l">
              <a:spcAft>
                <a:spcPts val="600"/>
              </a:spcAft>
            </a:pPr>
            <a:r>
              <a:rPr lang="es-ES" sz="1400" dirty="0">
                <a:solidFill>
                  <a:srgbClr val="B9CFE8"/>
                </a:solidFill>
                <a:latin typeface="Aptos"/>
              </a:rPr>
              <a:t>Julio 2026 – Jose A Pelaez</a:t>
            </a:r>
            <a:endParaRPr sz="1400" b="0" dirty="0">
              <a:solidFill>
                <a:srgbClr val="B9CFE8"/>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56032"/>
            <a:ext cx="548640" cy="54864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1</a:t>
            </a:r>
          </a:p>
        </p:txBody>
      </p:sp>
      <p:sp>
        <p:nvSpPr>
          <p:cNvPr id="4" name="TextBox 3"/>
          <p:cNvSpPr txBox="1"/>
          <p:nvPr/>
        </p:nvSpPr>
        <p:spPr>
          <a:xfrm>
            <a:off x="1188720" y="314462"/>
            <a:ext cx="10515600" cy="523220"/>
          </a:xfrm>
          <a:prstGeom prst="rect">
            <a:avLst/>
          </a:prstGeom>
          <a:noFill/>
        </p:spPr>
        <p:txBody>
          <a:bodyPr wrap="square" anchor="ctr">
            <a:spAutoFit/>
          </a:bodyPr>
          <a:lstStyle/>
          <a:p>
            <a:pPr algn="l">
              <a:spcAft>
                <a:spcPts val="600"/>
              </a:spcAft>
            </a:pPr>
            <a:r>
              <a:rPr lang="es-ES" sz="2800" b="1" dirty="0">
                <a:solidFill>
                  <a:srgbClr val="FFFFFF"/>
                </a:solidFill>
                <a:latin typeface="Aptos Light" panose="020B0004020202020204" pitchFamily="34" charset="0"/>
              </a:rPr>
              <a:t>Objetivo de la aplicación</a:t>
            </a:r>
            <a:endParaRPr sz="2800" b="1" dirty="0">
              <a:solidFill>
                <a:srgbClr val="FFFFFF"/>
              </a:solidFill>
              <a:latin typeface="Aptos Light" panose="020B0004020202020204" pitchFamily="34" charset="0"/>
            </a:endParaRPr>
          </a:p>
        </p:txBody>
      </p:sp>
      <p:sp>
        <p:nvSpPr>
          <p:cNvPr id="5" name="TextBox 4"/>
          <p:cNvSpPr txBox="1"/>
          <p:nvPr/>
        </p:nvSpPr>
        <p:spPr>
          <a:xfrm>
            <a:off x="548640" y="1371600"/>
            <a:ext cx="11064240" cy="2200602"/>
          </a:xfrm>
          <a:prstGeom prst="rect">
            <a:avLst/>
          </a:prstGeom>
          <a:noFill/>
        </p:spPr>
        <p:txBody>
          <a:bodyPr wrap="square" anchor="t">
            <a:spAutoFit/>
          </a:bodyPr>
          <a:lstStyle/>
          <a:p>
            <a:pPr algn="just">
              <a:spcAft>
                <a:spcPts val="600"/>
              </a:spcAft>
            </a:pPr>
            <a:r>
              <a:rPr sz="1600" b="0" dirty="0">
                <a:solidFill>
                  <a:srgbClr val="444A54"/>
                </a:solidFill>
                <a:latin typeface="Aptos Light"/>
              </a:rPr>
              <a:t>Es </a:t>
            </a:r>
            <a:r>
              <a:rPr sz="1600" b="0" dirty="0" err="1">
                <a:solidFill>
                  <a:srgbClr val="444A54"/>
                </a:solidFill>
                <a:latin typeface="Aptos Light"/>
              </a:rPr>
              <a:t>una</a:t>
            </a:r>
            <a:r>
              <a:rPr sz="1600" b="0" dirty="0">
                <a:solidFill>
                  <a:srgbClr val="444A54"/>
                </a:solidFill>
                <a:latin typeface="Aptos Light"/>
              </a:rPr>
              <a:t> </a:t>
            </a:r>
            <a:r>
              <a:rPr sz="1600" b="0" dirty="0" err="1">
                <a:solidFill>
                  <a:srgbClr val="444A54"/>
                </a:solidFill>
                <a:latin typeface="Aptos Light"/>
              </a:rPr>
              <a:t>plataforma</a:t>
            </a:r>
            <a:r>
              <a:rPr sz="1600" b="0" dirty="0">
                <a:solidFill>
                  <a:srgbClr val="444A54"/>
                </a:solidFill>
                <a:latin typeface="Aptos Light"/>
              </a:rPr>
              <a:t> de </a:t>
            </a:r>
            <a:r>
              <a:rPr sz="1600" b="1" dirty="0" err="1">
                <a:solidFill>
                  <a:schemeClr val="accent6">
                    <a:lumMod val="50000"/>
                  </a:schemeClr>
                </a:solidFill>
                <a:latin typeface="Aptos Light"/>
              </a:rPr>
              <a:t>seguimiento</a:t>
            </a:r>
            <a:r>
              <a:rPr sz="1600" b="1" dirty="0">
                <a:solidFill>
                  <a:schemeClr val="accent6">
                    <a:lumMod val="50000"/>
                  </a:schemeClr>
                </a:solidFill>
                <a:latin typeface="Aptos Light"/>
              </a:rPr>
              <a:t> de </a:t>
            </a:r>
            <a:r>
              <a:rPr lang="es-ES" sz="1600" b="1" dirty="0">
                <a:solidFill>
                  <a:schemeClr val="accent6">
                    <a:lumMod val="50000"/>
                  </a:schemeClr>
                </a:solidFill>
                <a:latin typeface="Aptos Light"/>
              </a:rPr>
              <a:t>programas de </a:t>
            </a:r>
            <a:r>
              <a:rPr sz="1600" b="1" dirty="0" err="1">
                <a:solidFill>
                  <a:schemeClr val="accent6">
                    <a:lumMod val="50000"/>
                  </a:schemeClr>
                </a:solidFill>
                <a:latin typeface="Aptos Light"/>
              </a:rPr>
              <a:t>rehabilitación</a:t>
            </a:r>
            <a:r>
              <a:rPr lang="es-ES" sz="1600" b="1" dirty="0">
                <a:solidFill>
                  <a:schemeClr val="accent6">
                    <a:lumMod val="50000"/>
                  </a:schemeClr>
                </a:solidFill>
                <a:latin typeface="Aptos Light"/>
              </a:rPr>
              <a:t> </a:t>
            </a:r>
            <a:r>
              <a:rPr lang="es-ES" sz="1600" dirty="0">
                <a:solidFill>
                  <a:srgbClr val="444A54"/>
                </a:solidFill>
                <a:latin typeface="Aptos Light"/>
              </a:rPr>
              <a:t>.</a:t>
            </a:r>
          </a:p>
          <a:p>
            <a:pPr algn="just">
              <a:spcAft>
                <a:spcPts val="600"/>
              </a:spcAft>
            </a:pPr>
            <a:r>
              <a:rPr lang="es-ES" sz="1600" dirty="0">
                <a:solidFill>
                  <a:srgbClr val="444A54"/>
                </a:solidFill>
                <a:latin typeface="Aptos Light"/>
              </a:rPr>
              <a:t>En este caso concreto </a:t>
            </a:r>
            <a:r>
              <a:rPr lang="es-ES" sz="1600" b="1" dirty="0">
                <a:solidFill>
                  <a:schemeClr val="accent6">
                    <a:lumMod val="50000"/>
                  </a:schemeClr>
                </a:solidFill>
                <a:latin typeface="Aptos Light"/>
              </a:rPr>
              <a:t>Logopedia: recuperación de habla</a:t>
            </a:r>
            <a:endParaRPr lang="es-ES" sz="1600" b="0" dirty="0">
              <a:solidFill>
                <a:srgbClr val="444A54"/>
              </a:solidFill>
              <a:latin typeface="Aptos Light"/>
            </a:endParaRPr>
          </a:p>
          <a:p>
            <a:pPr algn="just">
              <a:spcAft>
                <a:spcPts val="600"/>
              </a:spcAft>
            </a:pPr>
            <a:r>
              <a:rPr lang="es-ES" sz="1600" b="0" dirty="0">
                <a:solidFill>
                  <a:srgbClr val="444A54"/>
                </a:solidFill>
                <a:latin typeface="Aptos Light"/>
              </a:rPr>
              <a:t>Busca mostrar </a:t>
            </a:r>
            <a:r>
              <a:rPr lang="es-ES" sz="1600" b="1" dirty="0">
                <a:solidFill>
                  <a:schemeClr val="accent6">
                    <a:lumMod val="50000"/>
                  </a:schemeClr>
                </a:solidFill>
                <a:latin typeface="Aptos Light"/>
              </a:rPr>
              <a:t>c</a:t>
            </a:r>
            <a:r>
              <a:rPr sz="1600" b="1" dirty="0" err="1">
                <a:solidFill>
                  <a:schemeClr val="accent6">
                    <a:lumMod val="50000"/>
                  </a:schemeClr>
                </a:solidFill>
                <a:latin typeface="Aptos Light"/>
              </a:rPr>
              <a:t>ómo</a:t>
            </a:r>
            <a:r>
              <a:rPr sz="1600" b="1" dirty="0">
                <a:solidFill>
                  <a:schemeClr val="accent6">
                    <a:lumMod val="50000"/>
                  </a:schemeClr>
                </a:solidFill>
                <a:latin typeface="Aptos Light"/>
              </a:rPr>
              <a:t> </a:t>
            </a:r>
            <a:r>
              <a:rPr sz="1600" b="1" dirty="0" err="1">
                <a:solidFill>
                  <a:schemeClr val="accent6">
                    <a:lumMod val="50000"/>
                  </a:schemeClr>
                </a:solidFill>
                <a:latin typeface="Aptos Light"/>
              </a:rPr>
              <a:t>evoluciona</a:t>
            </a:r>
            <a:r>
              <a:rPr sz="1600" b="1" dirty="0">
                <a:solidFill>
                  <a:schemeClr val="accent6">
                    <a:lumMod val="50000"/>
                  </a:schemeClr>
                </a:solidFill>
                <a:latin typeface="Aptos Light"/>
              </a:rPr>
              <a:t> un </a:t>
            </a:r>
            <a:r>
              <a:rPr sz="1600" b="1" dirty="0" err="1">
                <a:solidFill>
                  <a:schemeClr val="accent6">
                    <a:lumMod val="50000"/>
                  </a:schemeClr>
                </a:solidFill>
                <a:latin typeface="Aptos Light"/>
              </a:rPr>
              <a:t>paciente</a:t>
            </a:r>
            <a:r>
              <a:rPr sz="1600" b="1" dirty="0">
                <a:solidFill>
                  <a:schemeClr val="accent6">
                    <a:lumMod val="50000"/>
                  </a:schemeClr>
                </a:solidFill>
                <a:latin typeface="Aptos Light"/>
              </a:rPr>
              <a:t> </a:t>
            </a:r>
            <a:r>
              <a:rPr sz="1600" b="0" dirty="0" err="1">
                <a:solidFill>
                  <a:srgbClr val="444A54"/>
                </a:solidFill>
                <a:latin typeface="Aptos Light"/>
              </a:rPr>
              <a:t>dentro</a:t>
            </a:r>
            <a:r>
              <a:rPr sz="1600" b="0" dirty="0">
                <a:solidFill>
                  <a:srgbClr val="444A54"/>
                </a:solidFill>
                <a:latin typeface="Aptos Light"/>
              </a:rPr>
              <a:t> del </a:t>
            </a:r>
            <a:r>
              <a:rPr sz="1600" b="0" dirty="0" err="1">
                <a:solidFill>
                  <a:srgbClr val="444A54"/>
                </a:solidFill>
                <a:latin typeface="Aptos Light"/>
              </a:rPr>
              <a:t>programa</a:t>
            </a:r>
            <a:r>
              <a:rPr sz="1600" b="0" dirty="0">
                <a:solidFill>
                  <a:srgbClr val="444A54"/>
                </a:solidFill>
                <a:latin typeface="Aptos Light"/>
              </a:rPr>
              <a:t> </a:t>
            </a:r>
            <a:r>
              <a:rPr sz="1600" b="0" dirty="0" err="1">
                <a:solidFill>
                  <a:srgbClr val="444A54"/>
                </a:solidFill>
                <a:latin typeface="Aptos Light"/>
              </a:rPr>
              <a:t>que</a:t>
            </a:r>
            <a:r>
              <a:rPr sz="1600" b="0" dirty="0">
                <a:solidFill>
                  <a:srgbClr val="444A54"/>
                </a:solidFill>
                <a:latin typeface="Aptos Light"/>
              </a:rPr>
              <a:t> le </a:t>
            </a:r>
            <a:r>
              <a:rPr sz="1600" b="0" dirty="0" err="1">
                <a:solidFill>
                  <a:srgbClr val="444A54"/>
                </a:solidFill>
                <a:latin typeface="Aptos Light"/>
              </a:rPr>
              <a:t>proporciona</a:t>
            </a:r>
            <a:r>
              <a:rPr sz="1600" b="0" dirty="0">
                <a:solidFill>
                  <a:srgbClr val="444A54"/>
                </a:solidFill>
                <a:latin typeface="Aptos Light"/>
              </a:rPr>
              <a:t> </a:t>
            </a:r>
            <a:r>
              <a:rPr sz="1600" b="0" dirty="0" err="1">
                <a:solidFill>
                  <a:srgbClr val="444A54"/>
                </a:solidFill>
                <a:latin typeface="Aptos Light"/>
              </a:rPr>
              <a:t>su</a:t>
            </a:r>
            <a:r>
              <a:rPr sz="1600" b="0" dirty="0">
                <a:solidFill>
                  <a:srgbClr val="444A54"/>
                </a:solidFill>
                <a:latin typeface="Aptos Light"/>
              </a:rPr>
              <a:t> </a:t>
            </a:r>
            <a:r>
              <a:rPr sz="1600" b="0" dirty="0" err="1">
                <a:solidFill>
                  <a:srgbClr val="444A54"/>
                </a:solidFill>
                <a:latin typeface="Aptos Light"/>
              </a:rPr>
              <a:t>médico</a:t>
            </a:r>
            <a:r>
              <a:rPr sz="1600" b="0" dirty="0">
                <a:solidFill>
                  <a:srgbClr val="444A54"/>
                </a:solidFill>
                <a:latin typeface="Aptos Light"/>
              </a:rPr>
              <a:t> </a:t>
            </a:r>
            <a:r>
              <a:rPr sz="1600" b="0" dirty="0" err="1">
                <a:solidFill>
                  <a:srgbClr val="444A54"/>
                </a:solidFill>
                <a:latin typeface="Aptos Light"/>
              </a:rPr>
              <a:t>rehabilitador</a:t>
            </a:r>
            <a:r>
              <a:rPr sz="1600" b="0" dirty="0">
                <a:solidFill>
                  <a:srgbClr val="444A54"/>
                </a:solidFill>
                <a:latin typeface="Aptos Light"/>
              </a:rPr>
              <a:t> a lo largo del </a:t>
            </a:r>
            <a:r>
              <a:rPr sz="1600" b="0" dirty="0" err="1">
                <a:solidFill>
                  <a:srgbClr val="444A54"/>
                </a:solidFill>
                <a:latin typeface="Aptos Light"/>
              </a:rPr>
              <a:t>tiempo</a:t>
            </a:r>
            <a:r>
              <a:rPr sz="1600" b="0" dirty="0">
                <a:solidFill>
                  <a:srgbClr val="444A54"/>
                </a:solidFill>
                <a:latin typeface="Aptos Light"/>
              </a:rPr>
              <a:t>.</a:t>
            </a:r>
          </a:p>
          <a:p>
            <a:pPr algn="ctr">
              <a:spcAft>
                <a:spcPts val="600"/>
              </a:spcAft>
            </a:pPr>
            <a:endParaRPr sz="1600" b="0" dirty="0">
              <a:solidFill>
                <a:srgbClr val="444A54"/>
              </a:solidFill>
              <a:latin typeface="Aptos Light"/>
            </a:endParaRPr>
          </a:p>
          <a:p>
            <a:pPr algn="ctr">
              <a:spcAft>
                <a:spcPts val="600"/>
              </a:spcAft>
            </a:pPr>
            <a:r>
              <a:rPr lang="es-ES" sz="1600" b="0" i="1" dirty="0">
                <a:solidFill>
                  <a:srgbClr val="444A54"/>
                </a:solidFill>
                <a:latin typeface="Aptos Light"/>
              </a:rPr>
              <a:t>U</a:t>
            </a:r>
            <a:r>
              <a:rPr sz="1600" b="0" i="1" dirty="0">
                <a:solidFill>
                  <a:srgbClr val="444A54"/>
                </a:solidFill>
                <a:latin typeface="Aptos Light"/>
              </a:rPr>
              <a:t>n </a:t>
            </a:r>
            <a:r>
              <a:rPr sz="1600" b="0" i="1" dirty="0" err="1">
                <a:solidFill>
                  <a:srgbClr val="444A54"/>
                </a:solidFill>
                <a:latin typeface="Aptos Light"/>
              </a:rPr>
              <a:t>cuaderno</a:t>
            </a:r>
            <a:r>
              <a:rPr sz="1600" b="0" i="1" dirty="0">
                <a:solidFill>
                  <a:srgbClr val="444A54"/>
                </a:solidFill>
                <a:latin typeface="Aptos Light"/>
              </a:rPr>
              <a:t> de </a:t>
            </a:r>
            <a:r>
              <a:rPr sz="1600" b="0" i="1" dirty="0" err="1">
                <a:solidFill>
                  <a:srgbClr val="444A54"/>
                </a:solidFill>
                <a:latin typeface="Aptos Light"/>
              </a:rPr>
              <a:t>ejercicios</a:t>
            </a:r>
            <a:r>
              <a:rPr sz="1600" b="0" i="1" dirty="0">
                <a:solidFill>
                  <a:srgbClr val="444A54"/>
                </a:solidFill>
                <a:latin typeface="Aptos Light"/>
              </a:rPr>
              <a:t> digital:</a:t>
            </a:r>
            <a:endParaRPr lang="es-ES" sz="1600" b="0" i="1" dirty="0">
              <a:solidFill>
                <a:srgbClr val="444A54"/>
              </a:solidFill>
              <a:latin typeface="Aptos Light"/>
            </a:endParaRPr>
          </a:p>
          <a:p>
            <a:pPr algn="ctr">
              <a:spcAft>
                <a:spcPts val="600"/>
              </a:spcAft>
            </a:pPr>
            <a:r>
              <a:rPr lang="es-ES" sz="1600" i="1" dirty="0">
                <a:solidFill>
                  <a:srgbClr val="444A54"/>
                </a:solidFill>
                <a:latin typeface="Aptos Light"/>
              </a:rPr>
              <a:t>E</a:t>
            </a:r>
            <a:r>
              <a:rPr sz="1600" b="0" i="1" dirty="0">
                <a:solidFill>
                  <a:srgbClr val="444A54"/>
                </a:solidFill>
                <a:latin typeface="Aptos Light"/>
              </a:rPr>
              <a:t>l </a:t>
            </a:r>
            <a:r>
              <a:rPr sz="1600" b="0" i="1" dirty="0" err="1">
                <a:solidFill>
                  <a:srgbClr val="444A54"/>
                </a:solidFill>
                <a:latin typeface="Aptos Light"/>
              </a:rPr>
              <a:t>paciente</a:t>
            </a:r>
            <a:r>
              <a:rPr sz="1600" b="0" i="1" dirty="0">
                <a:solidFill>
                  <a:srgbClr val="444A54"/>
                </a:solidFill>
                <a:latin typeface="Aptos Light"/>
              </a:rPr>
              <a:t> </a:t>
            </a:r>
            <a:r>
              <a:rPr sz="1600" b="1" i="1" dirty="0" err="1">
                <a:solidFill>
                  <a:schemeClr val="accent6">
                    <a:lumMod val="50000"/>
                  </a:schemeClr>
                </a:solidFill>
                <a:latin typeface="Aptos Light"/>
              </a:rPr>
              <a:t>graba</a:t>
            </a:r>
            <a:r>
              <a:rPr sz="1600" b="1" i="1" dirty="0">
                <a:solidFill>
                  <a:schemeClr val="accent6">
                    <a:lumMod val="50000"/>
                  </a:schemeClr>
                </a:solidFill>
                <a:latin typeface="Aptos Light"/>
              </a:rPr>
              <a:t> </a:t>
            </a:r>
            <a:r>
              <a:rPr sz="1600" b="1" i="1" dirty="0" err="1">
                <a:solidFill>
                  <a:schemeClr val="accent6">
                    <a:lumMod val="50000"/>
                  </a:schemeClr>
                </a:solidFill>
                <a:latin typeface="Aptos Light"/>
              </a:rPr>
              <a:t>cada</a:t>
            </a:r>
            <a:r>
              <a:rPr sz="1600" b="1" i="1" dirty="0">
                <a:solidFill>
                  <a:schemeClr val="accent6">
                    <a:lumMod val="50000"/>
                  </a:schemeClr>
                </a:solidFill>
                <a:latin typeface="Aptos Light"/>
              </a:rPr>
              <a:t> </a:t>
            </a:r>
            <a:r>
              <a:rPr sz="1600" b="1" i="1" dirty="0" err="1">
                <a:solidFill>
                  <a:schemeClr val="accent6">
                    <a:lumMod val="50000"/>
                  </a:schemeClr>
                </a:solidFill>
                <a:latin typeface="Aptos Light"/>
              </a:rPr>
              <a:t>ejercicio</a:t>
            </a:r>
            <a:r>
              <a:rPr sz="1600" b="1" i="1" dirty="0">
                <a:solidFill>
                  <a:schemeClr val="accent6">
                    <a:lumMod val="50000"/>
                  </a:schemeClr>
                </a:solidFill>
                <a:latin typeface="Aptos Light"/>
              </a:rPr>
              <a:t> </a:t>
            </a:r>
            <a:r>
              <a:rPr sz="1600" b="0" i="1" dirty="0">
                <a:solidFill>
                  <a:srgbClr val="444A54"/>
                </a:solidFill>
                <a:latin typeface="Aptos Light"/>
              </a:rPr>
              <a:t>y el </a:t>
            </a:r>
            <a:r>
              <a:rPr sz="1600" b="0" i="1" dirty="0" err="1">
                <a:solidFill>
                  <a:srgbClr val="444A54"/>
                </a:solidFill>
                <a:latin typeface="Aptos Light"/>
              </a:rPr>
              <a:t>profesional</a:t>
            </a:r>
            <a:r>
              <a:rPr sz="1600" b="0" i="1" dirty="0">
                <a:solidFill>
                  <a:srgbClr val="444A54"/>
                </a:solidFill>
                <a:latin typeface="Aptos Light"/>
              </a:rPr>
              <a:t> </a:t>
            </a:r>
            <a:r>
              <a:rPr sz="1600" b="0" i="1" dirty="0" err="1">
                <a:solidFill>
                  <a:srgbClr val="444A54"/>
                </a:solidFill>
                <a:latin typeface="Aptos Light"/>
              </a:rPr>
              <a:t>ve</a:t>
            </a:r>
            <a:r>
              <a:rPr sz="1600" b="0" i="1" dirty="0">
                <a:solidFill>
                  <a:srgbClr val="444A54"/>
                </a:solidFill>
                <a:latin typeface="Aptos Light"/>
              </a:rPr>
              <a:t> ese </a:t>
            </a:r>
            <a:r>
              <a:rPr sz="1600" b="0" i="1" dirty="0" err="1">
                <a:solidFill>
                  <a:srgbClr val="444A54"/>
                </a:solidFill>
                <a:latin typeface="Aptos Light"/>
              </a:rPr>
              <a:t>historial</a:t>
            </a:r>
            <a:r>
              <a:rPr sz="1600" b="0" i="1" dirty="0">
                <a:solidFill>
                  <a:srgbClr val="444A54"/>
                </a:solidFill>
                <a:latin typeface="Aptos Light"/>
              </a:rPr>
              <a:t> </a:t>
            </a:r>
            <a:r>
              <a:rPr sz="1600" b="0" i="1" dirty="0" err="1">
                <a:solidFill>
                  <a:srgbClr val="444A54"/>
                </a:solidFill>
                <a:latin typeface="Aptos Light"/>
              </a:rPr>
              <a:t>convertido</a:t>
            </a:r>
            <a:r>
              <a:rPr sz="1600" b="0" i="1" dirty="0">
                <a:solidFill>
                  <a:srgbClr val="444A54"/>
                </a:solidFill>
                <a:latin typeface="Aptos Light"/>
              </a:rPr>
              <a:t> </a:t>
            </a:r>
            <a:r>
              <a:rPr sz="1600" b="0" i="1" dirty="0" err="1">
                <a:solidFill>
                  <a:srgbClr val="444A54"/>
                </a:solidFill>
                <a:latin typeface="Aptos Light"/>
              </a:rPr>
              <a:t>en</a:t>
            </a:r>
            <a:r>
              <a:rPr sz="1600" b="0" i="1" dirty="0">
                <a:solidFill>
                  <a:srgbClr val="444A54"/>
                </a:solidFill>
                <a:latin typeface="Aptos Light"/>
              </a:rPr>
              <a:t> </a:t>
            </a:r>
            <a:r>
              <a:rPr sz="1600" b="0" i="1" dirty="0" err="1">
                <a:solidFill>
                  <a:srgbClr val="444A54"/>
                </a:solidFill>
                <a:latin typeface="Aptos Light"/>
              </a:rPr>
              <a:t>métricas</a:t>
            </a:r>
            <a:r>
              <a:rPr sz="1600" b="0" i="1" dirty="0">
                <a:solidFill>
                  <a:srgbClr val="444A54"/>
                </a:solidFill>
                <a:latin typeface="Aptos Light"/>
              </a:rPr>
              <a:t> y </a:t>
            </a:r>
            <a:r>
              <a:rPr sz="1600" b="0" i="1" dirty="0" err="1">
                <a:solidFill>
                  <a:srgbClr val="444A54"/>
                </a:solidFill>
                <a:latin typeface="Aptos Light"/>
              </a:rPr>
              <a:t>gráficas</a:t>
            </a:r>
            <a:r>
              <a:rPr sz="1600" b="0" i="1" dirty="0">
                <a:solidFill>
                  <a:srgbClr val="444A54"/>
                </a:solidFill>
                <a:latin typeface="Aptos Light"/>
              </a:rPr>
              <a:t> de </a:t>
            </a:r>
            <a:r>
              <a:rPr sz="1600" b="0" i="1" dirty="0" err="1">
                <a:solidFill>
                  <a:srgbClr val="444A54"/>
                </a:solidFill>
                <a:latin typeface="Aptos Light"/>
              </a:rPr>
              <a:t>progreso</a:t>
            </a:r>
            <a:r>
              <a:rPr lang="es-ES" sz="1600" b="0" i="1" dirty="0">
                <a:solidFill>
                  <a:srgbClr val="444A54"/>
                </a:solidFill>
                <a:latin typeface="Aptos Light"/>
              </a:rPr>
              <a:t> para su </a:t>
            </a:r>
            <a:r>
              <a:rPr lang="es-ES" sz="1600" b="1" i="1" dirty="0">
                <a:solidFill>
                  <a:schemeClr val="accent6">
                    <a:lumMod val="50000"/>
                  </a:schemeClr>
                </a:solidFill>
                <a:latin typeface="Aptos Light"/>
              </a:rPr>
              <a:t>evaluación</a:t>
            </a:r>
            <a:r>
              <a:rPr sz="1600" b="0" i="1" dirty="0">
                <a:solidFill>
                  <a:srgbClr val="444A54"/>
                </a:solidFill>
                <a:latin typeface="Aptos Light"/>
              </a:rPr>
              <a:t>.</a:t>
            </a:r>
          </a:p>
        </p:txBody>
      </p:sp>
      <p:sp>
        <p:nvSpPr>
          <p:cNvPr id="6" name="Rounded Rectangle 5"/>
          <p:cNvSpPr/>
          <p:nvPr/>
        </p:nvSpPr>
        <p:spPr>
          <a:xfrm>
            <a:off x="566928" y="4987907"/>
            <a:ext cx="11064240" cy="1516134"/>
          </a:xfrm>
          <a:prstGeom prst="roundRect">
            <a:avLst/>
          </a:prstGeom>
          <a:solidFill>
            <a:srgbClr val="FFF6E0"/>
          </a:solidFill>
          <a:ln w="15875">
            <a:solidFill>
              <a:srgbClr val="B57A00"/>
            </a:solid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r>
              <a:rPr sz="2400" b="1" dirty="0">
                <a:solidFill>
                  <a:srgbClr val="B57A00"/>
                </a:solidFill>
                <a:latin typeface="Aptos"/>
              </a:rPr>
              <a:t>¿Cuál es el </a:t>
            </a:r>
            <a:r>
              <a:rPr sz="2400" b="1" dirty="0" err="1">
                <a:solidFill>
                  <a:srgbClr val="B57A00"/>
                </a:solidFill>
                <a:latin typeface="Aptos"/>
              </a:rPr>
              <a:t>objetivo</a:t>
            </a:r>
            <a:r>
              <a:rPr sz="2400" b="1" dirty="0">
                <a:solidFill>
                  <a:srgbClr val="B57A00"/>
                </a:solidFill>
                <a:latin typeface="Aptos"/>
              </a:rPr>
              <a:t>?</a:t>
            </a:r>
            <a:endParaRPr lang="es-ES" sz="2400" b="1" dirty="0">
              <a:solidFill>
                <a:srgbClr val="B57A00"/>
              </a:solidFill>
              <a:latin typeface="Aptos"/>
            </a:endParaRPr>
          </a:p>
          <a:p>
            <a:pPr algn="ctr"/>
            <a:endParaRPr sz="2000" b="1" dirty="0">
              <a:solidFill>
                <a:srgbClr val="B57A00"/>
              </a:solidFill>
              <a:latin typeface="Aptos"/>
            </a:endParaRPr>
          </a:p>
          <a:p>
            <a:pPr algn="ctr"/>
            <a:r>
              <a:rPr dirty="0">
                <a:solidFill>
                  <a:srgbClr val="444A54"/>
                </a:solidFill>
                <a:latin typeface="Aptos Light"/>
              </a:rPr>
              <a:t>No es solo un </a:t>
            </a:r>
            <a:r>
              <a:rPr dirty="0" err="1">
                <a:solidFill>
                  <a:srgbClr val="444A54"/>
                </a:solidFill>
                <a:latin typeface="Aptos Light"/>
              </a:rPr>
              <a:t>repositorio</a:t>
            </a:r>
            <a:r>
              <a:rPr dirty="0">
                <a:solidFill>
                  <a:srgbClr val="444A54"/>
                </a:solidFill>
                <a:latin typeface="Aptos Light"/>
              </a:rPr>
              <a:t> de </a:t>
            </a:r>
            <a:r>
              <a:rPr dirty="0" err="1">
                <a:solidFill>
                  <a:srgbClr val="444A54"/>
                </a:solidFill>
                <a:latin typeface="Aptos Light"/>
              </a:rPr>
              <a:t>grabaciones</a:t>
            </a:r>
            <a:r>
              <a:rPr dirty="0">
                <a:solidFill>
                  <a:srgbClr val="444A54"/>
                </a:solidFill>
                <a:latin typeface="Aptos Light"/>
              </a:rPr>
              <a:t>, </a:t>
            </a:r>
            <a:r>
              <a:rPr dirty="0" err="1">
                <a:solidFill>
                  <a:srgbClr val="444A54"/>
                </a:solidFill>
                <a:latin typeface="Aptos Light"/>
              </a:rPr>
              <a:t>sino</a:t>
            </a:r>
            <a:r>
              <a:rPr dirty="0">
                <a:solidFill>
                  <a:srgbClr val="444A54"/>
                </a:solidFill>
                <a:latin typeface="Aptos Light"/>
              </a:rPr>
              <a:t> </a:t>
            </a:r>
            <a:r>
              <a:rPr dirty="0" err="1">
                <a:solidFill>
                  <a:srgbClr val="444A54"/>
                </a:solidFill>
                <a:latin typeface="Aptos Light"/>
              </a:rPr>
              <a:t>una</a:t>
            </a:r>
            <a:r>
              <a:rPr dirty="0">
                <a:solidFill>
                  <a:srgbClr val="444A54"/>
                </a:solidFill>
                <a:latin typeface="Aptos Light"/>
              </a:rPr>
              <a:t> </a:t>
            </a:r>
            <a:r>
              <a:rPr dirty="0" err="1">
                <a:solidFill>
                  <a:srgbClr val="444A54"/>
                </a:solidFill>
                <a:latin typeface="Aptos Light"/>
              </a:rPr>
              <a:t>herramienta</a:t>
            </a:r>
            <a:r>
              <a:rPr dirty="0">
                <a:solidFill>
                  <a:srgbClr val="444A54"/>
                </a:solidFill>
                <a:latin typeface="Aptos Light"/>
              </a:rPr>
              <a:t> para </a:t>
            </a:r>
            <a:r>
              <a:rPr b="1" dirty="0" err="1">
                <a:solidFill>
                  <a:schemeClr val="accent6">
                    <a:lumMod val="50000"/>
                  </a:schemeClr>
                </a:solidFill>
                <a:latin typeface="Aptos Light"/>
              </a:rPr>
              <a:t>analizar</a:t>
            </a:r>
            <a:r>
              <a:rPr b="1" dirty="0">
                <a:solidFill>
                  <a:schemeClr val="accent6">
                    <a:lumMod val="50000"/>
                  </a:schemeClr>
                </a:solidFill>
                <a:latin typeface="Aptos Light"/>
              </a:rPr>
              <a:t> el </a:t>
            </a:r>
            <a:r>
              <a:rPr b="1" dirty="0" err="1">
                <a:solidFill>
                  <a:schemeClr val="accent6">
                    <a:lumMod val="50000"/>
                  </a:schemeClr>
                </a:solidFill>
                <a:latin typeface="Aptos Light"/>
              </a:rPr>
              <a:t>progreso</a:t>
            </a:r>
            <a:r>
              <a:rPr b="1" dirty="0">
                <a:solidFill>
                  <a:schemeClr val="accent6">
                    <a:lumMod val="50000"/>
                  </a:schemeClr>
                </a:solidFill>
                <a:latin typeface="Aptos Light"/>
              </a:rPr>
              <a:t> </a:t>
            </a:r>
            <a:r>
              <a:rPr dirty="0" err="1">
                <a:solidFill>
                  <a:srgbClr val="444A54"/>
                </a:solidFill>
                <a:latin typeface="Aptos Light"/>
              </a:rPr>
              <a:t>hacia</a:t>
            </a:r>
            <a:r>
              <a:rPr dirty="0">
                <a:solidFill>
                  <a:srgbClr val="444A54"/>
                </a:solidFill>
                <a:latin typeface="Aptos Light"/>
              </a:rPr>
              <a:t> un </a:t>
            </a:r>
            <a:r>
              <a:rPr dirty="0" err="1">
                <a:solidFill>
                  <a:srgbClr val="444A54"/>
                </a:solidFill>
                <a:latin typeface="Aptos Light"/>
              </a:rPr>
              <a:t>objetivo</a:t>
            </a:r>
            <a:r>
              <a:rPr dirty="0">
                <a:solidFill>
                  <a:srgbClr val="444A54"/>
                </a:solidFill>
                <a:latin typeface="Aptos Light"/>
              </a:rPr>
              <a:t> </a:t>
            </a:r>
            <a:r>
              <a:rPr dirty="0" err="1">
                <a:solidFill>
                  <a:srgbClr val="444A54"/>
                </a:solidFill>
                <a:latin typeface="Aptos Light"/>
              </a:rPr>
              <a:t>clínico</a:t>
            </a:r>
            <a:r>
              <a:rPr dirty="0">
                <a:solidFill>
                  <a:srgbClr val="444A54"/>
                </a:solidFill>
                <a:latin typeface="Aptos Light"/>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56032"/>
            <a:ext cx="548640" cy="54864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2</a:t>
            </a:r>
          </a:p>
        </p:txBody>
      </p:sp>
      <p:sp>
        <p:nvSpPr>
          <p:cNvPr id="4" name="TextBox 3"/>
          <p:cNvSpPr txBox="1"/>
          <p:nvPr/>
        </p:nvSpPr>
        <p:spPr>
          <a:xfrm>
            <a:off x="1188720" y="314462"/>
            <a:ext cx="10515600" cy="523220"/>
          </a:xfrm>
          <a:prstGeom prst="rect">
            <a:avLst/>
          </a:prstGeom>
          <a:noFill/>
        </p:spPr>
        <p:txBody>
          <a:bodyPr wrap="square" anchor="ctr">
            <a:spAutoFit/>
          </a:bodyPr>
          <a:lstStyle/>
          <a:p>
            <a:pPr algn="l">
              <a:spcAft>
                <a:spcPts val="600"/>
              </a:spcAft>
            </a:pPr>
            <a:r>
              <a:rPr lang="es-ES" sz="2800" b="1" dirty="0">
                <a:solidFill>
                  <a:srgbClr val="FFFFFF"/>
                </a:solidFill>
                <a:latin typeface="Aptos Light" panose="020B0004020202020204" pitchFamily="34" charset="0"/>
              </a:rPr>
              <a:t>¿</a:t>
            </a:r>
            <a:r>
              <a:rPr sz="2800" b="1" dirty="0" err="1">
                <a:solidFill>
                  <a:srgbClr val="FFFFFF"/>
                </a:solidFill>
                <a:latin typeface="Aptos Light" panose="020B0004020202020204" pitchFamily="34" charset="0"/>
              </a:rPr>
              <a:t>Qué</a:t>
            </a:r>
            <a:r>
              <a:rPr sz="2800" b="1" dirty="0">
                <a:solidFill>
                  <a:srgbClr val="FFFFFF"/>
                </a:solidFill>
                <a:latin typeface="Aptos Light" panose="020B0004020202020204" pitchFamily="34" charset="0"/>
              </a:rPr>
              <a:t> </a:t>
            </a:r>
            <a:r>
              <a:rPr sz="2800" b="1" dirty="0" err="1">
                <a:solidFill>
                  <a:srgbClr val="FFFFFF"/>
                </a:solidFill>
                <a:latin typeface="Aptos Light" panose="020B0004020202020204" pitchFamily="34" charset="0"/>
              </a:rPr>
              <a:t>problema</a:t>
            </a:r>
            <a:r>
              <a:rPr sz="2800" b="1" dirty="0">
                <a:solidFill>
                  <a:srgbClr val="FFFFFF"/>
                </a:solidFill>
                <a:latin typeface="Aptos Light" panose="020B0004020202020204" pitchFamily="34" charset="0"/>
              </a:rPr>
              <a:t> </a:t>
            </a:r>
            <a:r>
              <a:rPr sz="2800" b="1" dirty="0" err="1">
                <a:solidFill>
                  <a:srgbClr val="FFFFFF"/>
                </a:solidFill>
                <a:latin typeface="Aptos Light" panose="020B0004020202020204" pitchFamily="34" charset="0"/>
              </a:rPr>
              <a:t>resuelve</a:t>
            </a:r>
            <a:r>
              <a:rPr lang="es-ES" sz="2800" b="1" dirty="0">
                <a:solidFill>
                  <a:srgbClr val="FFFFFF"/>
                </a:solidFill>
                <a:latin typeface="Aptos Light" panose="020B0004020202020204" pitchFamily="34" charset="0"/>
              </a:rPr>
              <a:t>?</a:t>
            </a:r>
            <a:endParaRPr sz="2800" b="1" dirty="0">
              <a:solidFill>
                <a:srgbClr val="FFFFFF"/>
              </a:solidFill>
              <a:latin typeface="Aptos Light" panose="020B0004020202020204" pitchFamily="34" charset="0"/>
            </a:endParaRPr>
          </a:p>
        </p:txBody>
      </p:sp>
      <p:sp>
        <p:nvSpPr>
          <p:cNvPr id="5" name="TextBox 4"/>
          <p:cNvSpPr txBox="1"/>
          <p:nvPr/>
        </p:nvSpPr>
        <p:spPr>
          <a:xfrm>
            <a:off x="548640" y="1280160"/>
            <a:ext cx="11064240" cy="661720"/>
          </a:xfrm>
          <a:prstGeom prst="rect">
            <a:avLst/>
          </a:prstGeom>
          <a:noFill/>
        </p:spPr>
        <p:txBody>
          <a:bodyPr wrap="square" anchor="t">
            <a:spAutoFit/>
          </a:bodyPr>
          <a:lstStyle/>
          <a:p>
            <a:pPr algn="l">
              <a:spcAft>
                <a:spcPts val="600"/>
              </a:spcAft>
            </a:pPr>
            <a:r>
              <a:rPr lang="es-ES" sz="1600" b="0" dirty="0">
                <a:solidFill>
                  <a:srgbClr val="444A54"/>
                </a:solidFill>
                <a:latin typeface="Aptos Light"/>
              </a:rPr>
              <a:t>Hoy en día, los seguimien</a:t>
            </a:r>
            <a:r>
              <a:rPr lang="es-ES" sz="1600" dirty="0">
                <a:solidFill>
                  <a:srgbClr val="444A54"/>
                </a:solidFill>
                <a:latin typeface="Aptos Light"/>
              </a:rPr>
              <a:t>tos generan mucha documentación, a menudo dispersa y difícil de consolidar. </a:t>
            </a:r>
          </a:p>
          <a:p>
            <a:pPr algn="l">
              <a:spcAft>
                <a:spcPts val="600"/>
              </a:spcAft>
            </a:pPr>
            <a:r>
              <a:rPr lang="es-ES" sz="1600" dirty="0">
                <a:solidFill>
                  <a:srgbClr val="444A54"/>
                </a:solidFill>
                <a:latin typeface="Aptos Light"/>
              </a:rPr>
              <a:t>En consecuencia, el resultado es poco comprensible.</a:t>
            </a:r>
            <a:endParaRPr sz="1600" b="0" dirty="0">
              <a:solidFill>
                <a:srgbClr val="444A54"/>
              </a:solidFill>
              <a:latin typeface="Aptos Light"/>
            </a:endParaRPr>
          </a:p>
        </p:txBody>
      </p:sp>
      <p:graphicFrame>
        <p:nvGraphicFramePr>
          <p:cNvPr id="6" name="Table 5"/>
          <p:cNvGraphicFramePr>
            <a:graphicFrameLocks noGrp="1"/>
          </p:cNvGraphicFramePr>
          <p:nvPr>
            <p:extLst>
              <p:ext uri="{D42A27DB-BD31-4B8C-83A1-F6EECF244321}">
                <p14:modId xmlns:p14="http://schemas.microsoft.com/office/powerpoint/2010/main" val="2993022589"/>
              </p:ext>
            </p:extLst>
          </p:nvPr>
        </p:nvGraphicFramePr>
        <p:xfrm>
          <a:off x="563727" y="3065542"/>
          <a:ext cx="11064240" cy="1143366"/>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364118">
                <a:tc>
                  <a:txBody>
                    <a:bodyPr/>
                    <a:lstStyle/>
                    <a:p>
                      <a:pPr algn="ctr"/>
                      <a:r>
                        <a:rPr sz="1600" b="1" dirty="0" err="1">
                          <a:solidFill>
                            <a:srgbClr val="FFFFFF"/>
                          </a:solidFill>
                          <a:latin typeface="Aptos Light" panose="020B0004020202020204" pitchFamily="34" charset="0"/>
                        </a:rPr>
                        <a:t>Problema</a:t>
                      </a:r>
                      <a:endParaRPr sz="1600" b="1" dirty="0">
                        <a:solidFill>
                          <a:srgbClr val="FFFFFF"/>
                        </a:solidFill>
                        <a:latin typeface="Aptos Light" panose="020B0004020202020204" pitchFamily="34" charset="0"/>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2"/>
                    </a:solidFill>
                  </a:tcPr>
                </a:tc>
                <a:tc>
                  <a:txBody>
                    <a:bodyPr/>
                    <a:lstStyle/>
                    <a:p>
                      <a:pPr algn="ctr"/>
                      <a:r>
                        <a:rPr sz="1600" b="1" dirty="0" err="1">
                          <a:solidFill>
                            <a:srgbClr val="FFFFFF"/>
                          </a:solidFill>
                          <a:latin typeface="Aptos Light" panose="020B0004020202020204" pitchFamily="34" charset="0"/>
                        </a:rPr>
                        <a:t>Cómo</a:t>
                      </a:r>
                      <a:r>
                        <a:rPr sz="1600" b="1" dirty="0">
                          <a:solidFill>
                            <a:srgbClr val="FFFFFF"/>
                          </a:solidFill>
                          <a:latin typeface="Aptos Light" panose="020B0004020202020204" pitchFamily="34" charset="0"/>
                        </a:rPr>
                        <a:t> lo </a:t>
                      </a:r>
                      <a:r>
                        <a:rPr sz="1600" b="1" dirty="0" err="1">
                          <a:solidFill>
                            <a:srgbClr val="FFFFFF"/>
                          </a:solidFill>
                          <a:latin typeface="Aptos Light" panose="020B0004020202020204" pitchFamily="34" charset="0"/>
                        </a:rPr>
                        <a:t>resuelve</a:t>
                      </a:r>
                      <a:endParaRPr sz="1600" b="1" dirty="0">
                        <a:solidFill>
                          <a:srgbClr val="FFFFFF"/>
                        </a:solidFill>
                        <a:latin typeface="Aptos Light" panose="020B0004020202020204" pitchFamily="34" charset="0"/>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3488">
                <a:tc>
                  <a:txBody>
                    <a:bodyPr/>
                    <a:lstStyle/>
                    <a:p>
                      <a:pPr algn="ctr"/>
                      <a:r>
                        <a:rPr lang="es-ES" sz="1500" dirty="0">
                          <a:solidFill>
                            <a:srgbClr val="444A54"/>
                          </a:solidFill>
                          <a:latin typeface="Aptos Light" panose="020B0004020202020204" pitchFamily="34" charset="0"/>
                        </a:rPr>
                        <a:t>Registros dispersos</a:t>
                      </a:r>
                      <a:endParaRPr sz="1500" dirty="0">
                        <a:solidFill>
                          <a:srgbClr val="444A54"/>
                        </a:solidFill>
                        <a:latin typeface="Aptos Light" panose="020B000402020202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 sz="1500" dirty="0">
                          <a:solidFill>
                            <a:srgbClr val="444A54"/>
                          </a:solidFill>
                          <a:latin typeface="Aptos Light" panose="020B0004020202020204" pitchFamily="34" charset="0"/>
                        </a:rPr>
                        <a:t>Mediante u</a:t>
                      </a:r>
                      <a:r>
                        <a:rPr sz="1500" dirty="0">
                          <a:solidFill>
                            <a:srgbClr val="444A54"/>
                          </a:solidFill>
                          <a:latin typeface="Aptos Light" panose="020B0004020202020204" pitchFamily="34" charset="0"/>
                        </a:rPr>
                        <a:t>n </a:t>
                      </a:r>
                      <a:r>
                        <a:rPr sz="1500" dirty="0" err="1">
                          <a:solidFill>
                            <a:srgbClr val="444A54"/>
                          </a:solidFill>
                          <a:latin typeface="Aptos Light" panose="020B0004020202020204" pitchFamily="34" charset="0"/>
                        </a:rPr>
                        <a:t>repositorio</a:t>
                      </a:r>
                      <a:r>
                        <a:rPr sz="1500" dirty="0">
                          <a:solidFill>
                            <a:srgbClr val="444A54"/>
                          </a:solidFill>
                          <a:latin typeface="Aptos Light" panose="020B0004020202020204" pitchFamily="34" charset="0"/>
                        </a:rPr>
                        <a:t> </a:t>
                      </a:r>
                      <a:r>
                        <a:rPr sz="1500" dirty="0" err="1">
                          <a:solidFill>
                            <a:srgbClr val="444A54"/>
                          </a:solidFill>
                          <a:latin typeface="Aptos Light" panose="020B0004020202020204" pitchFamily="34" charset="0"/>
                        </a:rPr>
                        <a:t>único</a:t>
                      </a:r>
                      <a:r>
                        <a:rPr sz="1500" dirty="0">
                          <a:solidFill>
                            <a:srgbClr val="444A54"/>
                          </a:solidFill>
                          <a:latin typeface="Aptos Light" panose="020B0004020202020204" pitchFamily="34" charset="0"/>
                        </a:rPr>
                        <a:t> con el </a:t>
                      </a:r>
                      <a:r>
                        <a:rPr sz="1500" dirty="0" err="1">
                          <a:solidFill>
                            <a:srgbClr val="444A54"/>
                          </a:solidFill>
                          <a:latin typeface="Aptos Light" panose="020B0004020202020204" pitchFamily="34" charset="0"/>
                        </a:rPr>
                        <a:t>historial</a:t>
                      </a:r>
                      <a:r>
                        <a:rPr sz="1500" dirty="0">
                          <a:solidFill>
                            <a:srgbClr val="444A54"/>
                          </a:solidFill>
                          <a:latin typeface="Aptos Light" panose="020B0004020202020204" pitchFamily="34" charset="0"/>
                        </a:rPr>
                        <a:t> de </a:t>
                      </a:r>
                      <a:r>
                        <a:rPr sz="1500" dirty="0" err="1">
                          <a:solidFill>
                            <a:srgbClr val="444A54"/>
                          </a:solidFill>
                          <a:latin typeface="Aptos Light" panose="020B0004020202020204" pitchFamily="34" charset="0"/>
                        </a:rPr>
                        <a:t>ejercicios</a:t>
                      </a:r>
                      <a:r>
                        <a:rPr lang="es-ES" sz="1500" dirty="0">
                          <a:solidFill>
                            <a:srgbClr val="444A54"/>
                          </a:solidFill>
                          <a:latin typeface="Aptos Light" panose="020B0004020202020204" pitchFamily="34" charset="0"/>
                        </a:rPr>
                        <a:t> a realizar por </a:t>
                      </a:r>
                      <a:r>
                        <a:rPr sz="1500" dirty="0" err="1">
                          <a:solidFill>
                            <a:srgbClr val="444A54"/>
                          </a:solidFill>
                          <a:latin typeface="Aptos Light" panose="020B0004020202020204" pitchFamily="34" charset="0"/>
                        </a:rPr>
                        <a:t>cada</a:t>
                      </a:r>
                      <a:r>
                        <a:rPr sz="1500" dirty="0">
                          <a:solidFill>
                            <a:srgbClr val="444A54"/>
                          </a:solidFill>
                          <a:latin typeface="Aptos Light" panose="020B0004020202020204" pitchFamily="34" charset="0"/>
                        </a:rPr>
                        <a:t> </a:t>
                      </a:r>
                      <a:r>
                        <a:rPr sz="1500" dirty="0" err="1">
                          <a:solidFill>
                            <a:srgbClr val="444A54"/>
                          </a:solidFill>
                          <a:latin typeface="Aptos Light" panose="020B0004020202020204" pitchFamily="34" charset="0"/>
                        </a:rPr>
                        <a:t>paciente</a:t>
                      </a:r>
                      <a:r>
                        <a:rPr sz="1500" dirty="0">
                          <a:solidFill>
                            <a:srgbClr val="444A54"/>
                          </a:solidFill>
                          <a:latin typeface="Aptos Light" panose="020B00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algn="ctr"/>
                      <a:r>
                        <a:rPr sz="1500" dirty="0">
                          <a:solidFill>
                            <a:srgbClr val="444A54"/>
                          </a:solidFill>
                          <a:latin typeface="Aptos Light" panose="020B0004020202020204" pitchFamily="34" charset="0"/>
                        </a:rPr>
                        <a:t>Progreso </a:t>
                      </a:r>
                      <a:r>
                        <a:rPr sz="1500" dirty="0" err="1">
                          <a:solidFill>
                            <a:srgbClr val="444A54"/>
                          </a:solidFill>
                          <a:latin typeface="Aptos Light" panose="020B0004020202020204" pitchFamily="34" charset="0"/>
                        </a:rPr>
                        <a:t>difícil</a:t>
                      </a:r>
                      <a:r>
                        <a:rPr sz="1500" dirty="0">
                          <a:solidFill>
                            <a:srgbClr val="444A54"/>
                          </a:solidFill>
                          <a:latin typeface="Aptos Light" panose="020B0004020202020204" pitchFamily="34" charset="0"/>
                        </a:rPr>
                        <a:t> de </a:t>
                      </a:r>
                      <a:r>
                        <a:rPr sz="1500" dirty="0" err="1">
                          <a:solidFill>
                            <a:srgbClr val="444A54"/>
                          </a:solidFill>
                          <a:latin typeface="Aptos Light" panose="020B0004020202020204" pitchFamily="34" charset="0"/>
                        </a:rPr>
                        <a:t>medir</a:t>
                      </a:r>
                      <a:endParaRPr sz="1500" dirty="0">
                        <a:solidFill>
                          <a:srgbClr val="444A54"/>
                        </a:solidFill>
                        <a:latin typeface="Aptos Light" panose="020B000402020202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sz="1500" dirty="0" err="1">
                          <a:solidFill>
                            <a:srgbClr val="444A54"/>
                          </a:solidFill>
                          <a:latin typeface="Aptos Light" panose="020B0004020202020204" pitchFamily="34" charset="0"/>
                        </a:rPr>
                        <a:t>Convierte</a:t>
                      </a:r>
                      <a:r>
                        <a:rPr sz="1500" dirty="0">
                          <a:solidFill>
                            <a:srgbClr val="444A54"/>
                          </a:solidFill>
                          <a:latin typeface="Aptos Light" panose="020B0004020202020204" pitchFamily="34" charset="0"/>
                        </a:rPr>
                        <a:t> </a:t>
                      </a:r>
                      <a:r>
                        <a:rPr sz="1500" dirty="0" err="1">
                          <a:solidFill>
                            <a:srgbClr val="444A54"/>
                          </a:solidFill>
                          <a:latin typeface="Aptos Light" panose="020B0004020202020204" pitchFamily="34" charset="0"/>
                        </a:rPr>
                        <a:t>cada</a:t>
                      </a:r>
                      <a:r>
                        <a:rPr sz="1500" dirty="0">
                          <a:solidFill>
                            <a:srgbClr val="444A54"/>
                          </a:solidFill>
                          <a:latin typeface="Aptos Light" panose="020B0004020202020204" pitchFamily="34" charset="0"/>
                        </a:rPr>
                        <a:t> </a:t>
                      </a:r>
                      <a:r>
                        <a:rPr sz="1500" dirty="0" err="1">
                          <a:solidFill>
                            <a:srgbClr val="444A54"/>
                          </a:solidFill>
                          <a:latin typeface="Aptos Light" panose="020B0004020202020204" pitchFamily="34" charset="0"/>
                        </a:rPr>
                        <a:t>grabación</a:t>
                      </a:r>
                      <a:r>
                        <a:rPr sz="1500" dirty="0">
                          <a:solidFill>
                            <a:srgbClr val="444A54"/>
                          </a:solidFill>
                          <a:latin typeface="Aptos Light" panose="020B0004020202020204" pitchFamily="34" charset="0"/>
                        </a:rPr>
                        <a:t> </a:t>
                      </a:r>
                      <a:r>
                        <a:rPr sz="1500" dirty="0" err="1">
                          <a:solidFill>
                            <a:srgbClr val="444A54"/>
                          </a:solidFill>
                          <a:latin typeface="Aptos Light" panose="020B0004020202020204" pitchFamily="34" charset="0"/>
                        </a:rPr>
                        <a:t>en</a:t>
                      </a:r>
                      <a:r>
                        <a:rPr sz="1500" dirty="0">
                          <a:solidFill>
                            <a:srgbClr val="444A54"/>
                          </a:solidFill>
                          <a:latin typeface="Aptos Light" panose="020B0004020202020204" pitchFamily="34" charset="0"/>
                        </a:rPr>
                        <a:t> </a:t>
                      </a:r>
                      <a:r>
                        <a:rPr sz="1500" dirty="0" err="1">
                          <a:solidFill>
                            <a:srgbClr val="444A54"/>
                          </a:solidFill>
                          <a:latin typeface="Aptos Light" panose="020B0004020202020204" pitchFamily="34" charset="0"/>
                        </a:rPr>
                        <a:t>métricas</a:t>
                      </a:r>
                      <a:r>
                        <a:rPr sz="1500" dirty="0">
                          <a:solidFill>
                            <a:srgbClr val="444A54"/>
                          </a:solidFill>
                          <a:latin typeface="Aptos Light" panose="020B0004020202020204" pitchFamily="34" charset="0"/>
                        </a:rPr>
                        <a:t> </a:t>
                      </a:r>
                      <a:r>
                        <a:rPr sz="1500" dirty="0" err="1">
                          <a:solidFill>
                            <a:srgbClr val="444A54"/>
                          </a:solidFill>
                          <a:latin typeface="Aptos Light" panose="020B0004020202020204" pitchFamily="34" charset="0"/>
                        </a:rPr>
                        <a:t>objetivas</a:t>
                      </a:r>
                      <a:r>
                        <a:rPr sz="1500" dirty="0">
                          <a:solidFill>
                            <a:srgbClr val="444A54"/>
                          </a:solidFill>
                          <a:latin typeface="Aptos Light" panose="020B0004020202020204" pitchFamily="34" charset="0"/>
                        </a:rPr>
                        <a:t> y las </a:t>
                      </a:r>
                      <a:r>
                        <a:rPr sz="1500" dirty="0" err="1">
                          <a:solidFill>
                            <a:srgbClr val="444A54"/>
                          </a:solidFill>
                          <a:latin typeface="Aptos Light" panose="020B0004020202020204" pitchFamily="34" charset="0"/>
                        </a:rPr>
                        <a:t>compara</a:t>
                      </a:r>
                      <a:r>
                        <a:rPr sz="1500" dirty="0">
                          <a:solidFill>
                            <a:srgbClr val="444A54"/>
                          </a:solidFill>
                          <a:latin typeface="Aptos Light" panose="020B0004020202020204" pitchFamily="34" charset="0"/>
                        </a:rPr>
                        <a:t> contra las </a:t>
                      </a:r>
                      <a:r>
                        <a:rPr lang="es-ES" sz="1500" dirty="0">
                          <a:solidFill>
                            <a:srgbClr val="444A54"/>
                          </a:solidFill>
                          <a:latin typeface="Aptos Light" panose="020B0004020202020204" pitchFamily="34" charset="0"/>
                        </a:rPr>
                        <a:t>pautas</a:t>
                      </a:r>
                      <a:r>
                        <a:rPr sz="1500" dirty="0">
                          <a:solidFill>
                            <a:srgbClr val="444A54"/>
                          </a:solidFill>
                          <a:latin typeface="Aptos Light" panose="020B0004020202020204" pitchFamily="34" charset="0"/>
                        </a:rPr>
                        <a:t> del </a:t>
                      </a:r>
                      <a:r>
                        <a:rPr sz="1500" dirty="0" err="1">
                          <a:solidFill>
                            <a:srgbClr val="444A54"/>
                          </a:solidFill>
                          <a:latin typeface="Aptos Light" panose="020B0004020202020204" pitchFamily="34" charset="0"/>
                        </a:rPr>
                        <a:t>ejercicio</a:t>
                      </a:r>
                      <a:r>
                        <a:rPr sz="1500" dirty="0">
                          <a:solidFill>
                            <a:srgbClr val="444A54"/>
                          </a:solidFill>
                          <a:latin typeface="Aptos Light" panose="020B00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2"/>
                  </a:ext>
                </a:extLst>
              </a:tr>
            </a:tbl>
          </a:graphicData>
        </a:graphic>
      </p:graphicFrame>
      <p:sp>
        <p:nvSpPr>
          <p:cNvPr id="7" name="Rounded Rectangle 6"/>
          <p:cNvSpPr/>
          <p:nvPr/>
        </p:nvSpPr>
        <p:spPr>
          <a:xfrm>
            <a:off x="548640" y="4846319"/>
            <a:ext cx="11064240" cy="1626843"/>
          </a:xfrm>
          <a:prstGeom prst="roundRect">
            <a:avLst/>
          </a:prstGeom>
          <a:solidFill>
            <a:srgbClr val="FFF6E0"/>
          </a:solidFill>
          <a:ln w="15875">
            <a:solidFill>
              <a:srgbClr val="B57A00"/>
            </a:solid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r>
              <a:rPr lang="es-ES" sz="2400" b="1" dirty="0">
                <a:solidFill>
                  <a:srgbClr val="B57A00"/>
                </a:solidFill>
                <a:latin typeface="Aptos"/>
              </a:rPr>
              <a:t>¿Cuál es el </a:t>
            </a:r>
            <a:r>
              <a:rPr sz="2400" b="1" dirty="0" err="1">
                <a:solidFill>
                  <a:srgbClr val="B57A00"/>
                </a:solidFill>
                <a:latin typeface="Aptos"/>
              </a:rPr>
              <a:t>resultado</a:t>
            </a:r>
            <a:r>
              <a:rPr lang="es-ES" sz="2400" b="1" dirty="0">
                <a:solidFill>
                  <a:srgbClr val="B57A00"/>
                </a:solidFill>
                <a:latin typeface="Aptos"/>
              </a:rPr>
              <a:t>?</a:t>
            </a:r>
          </a:p>
          <a:p>
            <a:pPr algn="ctr"/>
            <a:endParaRPr sz="2000" b="1" dirty="0">
              <a:solidFill>
                <a:srgbClr val="B57A00"/>
              </a:solidFill>
              <a:latin typeface="Aptos"/>
            </a:endParaRPr>
          </a:p>
          <a:p>
            <a:pPr algn="ctr"/>
            <a:r>
              <a:rPr dirty="0">
                <a:solidFill>
                  <a:srgbClr val="444A54"/>
                </a:solidFill>
                <a:latin typeface="Aptos Light"/>
              </a:rPr>
              <a:t>El </a:t>
            </a:r>
            <a:r>
              <a:rPr dirty="0" err="1">
                <a:solidFill>
                  <a:srgbClr val="444A54"/>
                </a:solidFill>
                <a:latin typeface="Aptos Light"/>
              </a:rPr>
              <a:t>profesional</a:t>
            </a:r>
            <a:r>
              <a:rPr dirty="0">
                <a:solidFill>
                  <a:srgbClr val="444A54"/>
                </a:solidFill>
                <a:latin typeface="Aptos Light"/>
              </a:rPr>
              <a:t> </a:t>
            </a:r>
            <a:r>
              <a:rPr lang="es-ES" b="1" dirty="0">
                <a:solidFill>
                  <a:schemeClr val="accent6">
                    <a:lumMod val="50000"/>
                  </a:schemeClr>
                </a:solidFill>
                <a:latin typeface="Aptos Light"/>
              </a:rPr>
              <a:t>muestra datos objetivos</a:t>
            </a:r>
          </a:p>
          <a:p>
            <a:pPr algn="ctr"/>
            <a:endParaRPr lang="es-ES" b="1" dirty="0">
              <a:solidFill>
                <a:schemeClr val="accent6">
                  <a:lumMod val="50000"/>
                </a:schemeClr>
              </a:solidFill>
              <a:latin typeface="Aptos Light"/>
            </a:endParaRPr>
          </a:p>
          <a:p>
            <a:pPr algn="ctr"/>
            <a:r>
              <a:rPr lang="es-ES" sz="1600" dirty="0">
                <a:solidFill>
                  <a:srgbClr val="444A54"/>
                </a:solidFill>
                <a:latin typeface="Aptos Light"/>
              </a:rPr>
              <a:t>“</a:t>
            </a:r>
            <a:r>
              <a:rPr sz="1600" i="1" dirty="0">
                <a:solidFill>
                  <a:srgbClr val="444A54"/>
                </a:solidFill>
                <a:latin typeface="Aptos Light"/>
              </a:rPr>
              <a:t>¿</a:t>
            </a:r>
            <a:r>
              <a:rPr lang="es-ES" sz="1600" i="1" dirty="0">
                <a:solidFill>
                  <a:srgbClr val="444A54"/>
                </a:solidFill>
                <a:latin typeface="Aptos Light"/>
              </a:rPr>
              <a:t>El</a:t>
            </a:r>
            <a:r>
              <a:rPr sz="1600" i="1" dirty="0">
                <a:solidFill>
                  <a:srgbClr val="444A54"/>
                </a:solidFill>
                <a:latin typeface="Aptos Light"/>
              </a:rPr>
              <a:t> </a:t>
            </a:r>
            <a:r>
              <a:rPr sz="1600" i="1" dirty="0" err="1">
                <a:solidFill>
                  <a:srgbClr val="444A54"/>
                </a:solidFill>
                <a:latin typeface="Aptos Light"/>
              </a:rPr>
              <a:t>paciente</a:t>
            </a:r>
            <a:r>
              <a:rPr sz="1600" i="1" dirty="0">
                <a:solidFill>
                  <a:srgbClr val="444A54"/>
                </a:solidFill>
                <a:latin typeface="Aptos Light"/>
              </a:rPr>
              <a:t> </a:t>
            </a:r>
            <a:r>
              <a:rPr sz="1600" i="1" dirty="0" err="1">
                <a:solidFill>
                  <a:srgbClr val="444A54"/>
                </a:solidFill>
                <a:latin typeface="Aptos Light"/>
              </a:rPr>
              <a:t>está</a:t>
            </a:r>
            <a:r>
              <a:rPr sz="1600" i="1" dirty="0">
                <a:solidFill>
                  <a:srgbClr val="444A54"/>
                </a:solidFill>
                <a:latin typeface="Aptos Light"/>
              </a:rPr>
              <a:t> </a:t>
            </a:r>
            <a:r>
              <a:rPr sz="1600" i="1" dirty="0" err="1">
                <a:solidFill>
                  <a:srgbClr val="444A54"/>
                </a:solidFill>
                <a:latin typeface="Aptos Light"/>
              </a:rPr>
              <a:t>mejorando</a:t>
            </a:r>
            <a:r>
              <a:rPr sz="1600" i="1" dirty="0">
                <a:solidFill>
                  <a:srgbClr val="444A54"/>
                </a:solidFill>
                <a:latin typeface="Aptos Light"/>
              </a:rPr>
              <a:t> </a:t>
            </a:r>
            <a:r>
              <a:rPr sz="1600" i="1" dirty="0" err="1">
                <a:solidFill>
                  <a:srgbClr val="444A54"/>
                </a:solidFill>
                <a:latin typeface="Aptos Light"/>
              </a:rPr>
              <a:t>según</a:t>
            </a:r>
            <a:r>
              <a:rPr sz="1600" i="1" dirty="0">
                <a:solidFill>
                  <a:srgbClr val="444A54"/>
                </a:solidFill>
                <a:latin typeface="Aptos Light"/>
              </a:rPr>
              <a:t> lo </a:t>
            </a:r>
            <a:r>
              <a:rPr sz="1600" i="1" dirty="0" err="1">
                <a:solidFill>
                  <a:srgbClr val="444A54"/>
                </a:solidFill>
                <a:latin typeface="Aptos Light"/>
              </a:rPr>
              <a:t>esperado</a:t>
            </a:r>
            <a:r>
              <a:rPr sz="1600" i="1" dirty="0">
                <a:solidFill>
                  <a:srgbClr val="444A54"/>
                </a:solidFill>
                <a:latin typeface="Aptos Light"/>
              </a:rPr>
              <a:t>?</a:t>
            </a:r>
            <a:r>
              <a:rPr lang="es-ES" sz="1600" i="1" dirty="0">
                <a:solidFill>
                  <a:srgbClr val="444A54"/>
                </a:solidFill>
                <a:latin typeface="Aptos Light"/>
              </a:rPr>
              <a:t>"</a:t>
            </a:r>
            <a:endParaRPr sz="1600" i="1" dirty="0">
              <a:solidFill>
                <a:srgbClr val="444A54"/>
              </a:solidFill>
              <a:latin typeface="Aptos Light"/>
            </a:endParaRPr>
          </a:p>
        </p:txBody>
      </p:sp>
      <p:sp>
        <p:nvSpPr>
          <p:cNvPr id="9" name="TextBox 4">
            <a:extLst>
              <a:ext uri="{FF2B5EF4-FFF2-40B4-BE49-F238E27FC236}">
                <a16:creationId xmlns:a16="http://schemas.microsoft.com/office/drawing/2014/main" id="{7F43EA3D-B1D9-8BE4-7F5D-5F4A4832FE36}"/>
              </a:ext>
            </a:extLst>
          </p:cNvPr>
          <p:cNvSpPr txBox="1"/>
          <p:nvPr/>
        </p:nvSpPr>
        <p:spPr>
          <a:xfrm>
            <a:off x="508512" y="2160580"/>
            <a:ext cx="11064240" cy="338554"/>
          </a:xfrm>
          <a:prstGeom prst="rect">
            <a:avLst/>
          </a:prstGeom>
          <a:noFill/>
        </p:spPr>
        <p:txBody>
          <a:bodyPr wrap="square" anchor="t">
            <a:spAutoFit/>
          </a:bodyPr>
          <a:lstStyle/>
          <a:p>
            <a:pPr algn="l">
              <a:spcAft>
                <a:spcPts val="600"/>
              </a:spcAft>
            </a:pPr>
            <a:r>
              <a:rPr lang="es-ES" sz="1600" b="0" dirty="0">
                <a:solidFill>
                  <a:srgbClr val="444A54"/>
                </a:solidFill>
                <a:latin typeface="Aptos Light"/>
              </a:rPr>
              <a:t>La aplicación aborda dos problemas principalmente:</a:t>
            </a:r>
            <a:endParaRPr sz="1600" b="0" dirty="0">
              <a:solidFill>
                <a:srgbClr val="444A54"/>
              </a:solidFill>
              <a:latin typeface="Apto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C58A4-61FD-B02A-580D-80CA79B4595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16FAF1-C4B3-E40E-CB0E-8CFD7F37E9F9}"/>
              </a:ext>
            </a:extLst>
          </p:cNvPr>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F92032D0-C6E1-913D-F31E-69A45DBC60C1}"/>
              </a:ext>
            </a:extLst>
          </p:cNvPr>
          <p:cNvSpPr/>
          <p:nvPr/>
        </p:nvSpPr>
        <p:spPr>
          <a:xfrm>
            <a:off x="457200" y="256032"/>
            <a:ext cx="548640" cy="54864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2</a:t>
            </a:r>
          </a:p>
        </p:txBody>
      </p:sp>
      <p:sp>
        <p:nvSpPr>
          <p:cNvPr id="4" name="TextBox 3">
            <a:extLst>
              <a:ext uri="{FF2B5EF4-FFF2-40B4-BE49-F238E27FC236}">
                <a16:creationId xmlns:a16="http://schemas.microsoft.com/office/drawing/2014/main" id="{B970AA96-5F52-AEBB-E5BA-BDCCBBBA33C2}"/>
              </a:ext>
            </a:extLst>
          </p:cNvPr>
          <p:cNvSpPr txBox="1"/>
          <p:nvPr/>
        </p:nvSpPr>
        <p:spPr>
          <a:xfrm>
            <a:off x="1188720" y="314462"/>
            <a:ext cx="10515600" cy="523220"/>
          </a:xfrm>
          <a:prstGeom prst="rect">
            <a:avLst/>
          </a:prstGeom>
          <a:noFill/>
        </p:spPr>
        <p:txBody>
          <a:bodyPr wrap="square" anchor="ctr">
            <a:spAutoFit/>
          </a:bodyPr>
          <a:lstStyle/>
          <a:p>
            <a:pPr algn="l">
              <a:spcAft>
                <a:spcPts val="600"/>
              </a:spcAft>
            </a:pPr>
            <a:r>
              <a:rPr lang="es-ES" sz="2800" b="1" dirty="0">
                <a:solidFill>
                  <a:srgbClr val="FFFFFF"/>
                </a:solidFill>
                <a:latin typeface="Aptos Light" panose="020B0004020202020204" pitchFamily="34" charset="0"/>
              </a:rPr>
              <a:t>¿</a:t>
            </a:r>
            <a:r>
              <a:rPr sz="2800" b="1" dirty="0" err="1">
                <a:solidFill>
                  <a:srgbClr val="FFFFFF"/>
                </a:solidFill>
                <a:latin typeface="Aptos Light" panose="020B0004020202020204" pitchFamily="34" charset="0"/>
              </a:rPr>
              <a:t>Qué</a:t>
            </a:r>
            <a:r>
              <a:rPr sz="2800" b="1" dirty="0">
                <a:solidFill>
                  <a:srgbClr val="FFFFFF"/>
                </a:solidFill>
                <a:latin typeface="Aptos Light" panose="020B0004020202020204" pitchFamily="34" charset="0"/>
              </a:rPr>
              <a:t> </a:t>
            </a:r>
            <a:r>
              <a:rPr sz="2800" b="1" dirty="0" err="1">
                <a:solidFill>
                  <a:srgbClr val="FFFFFF"/>
                </a:solidFill>
                <a:latin typeface="Aptos Light" panose="020B0004020202020204" pitchFamily="34" charset="0"/>
              </a:rPr>
              <a:t>problema</a:t>
            </a:r>
            <a:r>
              <a:rPr sz="2800" b="1" dirty="0">
                <a:solidFill>
                  <a:srgbClr val="FFFFFF"/>
                </a:solidFill>
                <a:latin typeface="Aptos Light" panose="020B0004020202020204" pitchFamily="34" charset="0"/>
              </a:rPr>
              <a:t> </a:t>
            </a:r>
            <a:r>
              <a:rPr sz="2800" b="1" dirty="0" err="1">
                <a:solidFill>
                  <a:srgbClr val="FFFFFF"/>
                </a:solidFill>
                <a:latin typeface="Aptos Light" panose="020B0004020202020204" pitchFamily="34" charset="0"/>
              </a:rPr>
              <a:t>resuelve</a:t>
            </a:r>
            <a:r>
              <a:rPr lang="es-ES" sz="2800" b="1" dirty="0">
                <a:solidFill>
                  <a:srgbClr val="FFFFFF"/>
                </a:solidFill>
                <a:latin typeface="Aptos Light" panose="020B0004020202020204" pitchFamily="34" charset="0"/>
              </a:rPr>
              <a:t>?</a:t>
            </a:r>
            <a:endParaRPr sz="2800" b="1" dirty="0">
              <a:solidFill>
                <a:srgbClr val="FFFFFF"/>
              </a:solidFill>
              <a:latin typeface="Aptos Light" panose="020B0004020202020204" pitchFamily="34" charset="0"/>
            </a:endParaRPr>
          </a:p>
        </p:txBody>
      </p:sp>
      <p:pic>
        <p:nvPicPr>
          <p:cNvPr id="16" name="Imagen 15">
            <a:extLst>
              <a:ext uri="{FF2B5EF4-FFF2-40B4-BE49-F238E27FC236}">
                <a16:creationId xmlns:a16="http://schemas.microsoft.com/office/drawing/2014/main" id="{D9F493E4-29E1-73A7-1150-4E351215596C}"/>
              </a:ext>
            </a:extLst>
          </p:cNvPr>
          <p:cNvPicPr>
            <a:picLocks noChangeAspect="1"/>
          </p:cNvPicPr>
          <p:nvPr/>
        </p:nvPicPr>
        <p:blipFill>
          <a:blip r:embed="rId3"/>
          <a:stretch>
            <a:fillRect/>
          </a:stretch>
        </p:blipFill>
        <p:spPr>
          <a:xfrm>
            <a:off x="2069229" y="1152144"/>
            <a:ext cx="8269389" cy="5518693"/>
          </a:xfrm>
          <a:prstGeom prst="rect">
            <a:avLst/>
          </a:prstGeom>
        </p:spPr>
      </p:pic>
    </p:spTree>
    <p:extLst>
      <p:ext uri="{BB962C8B-B14F-4D97-AF65-F5344CB8AC3E}">
        <p14:creationId xmlns:p14="http://schemas.microsoft.com/office/powerpoint/2010/main" val="3081201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F3302-7ED2-A051-F4A1-B15CBE466DD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F6BC270-1E98-D32A-35AB-0BCEEBDB47A3}"/>
              </a:ext>
            </a:extLst>
          </p:cNvPr>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3CBC606-5339-7D6A-7DB3-7DA87CB7EC9D}"/>
              </a:ext>
            </a:extLst>
          </p:cNvPr>
          <p:cNvSpPr/>
          <p:nvPr/>
        </p:nvSpPr>
        <p:spPr>
          <a:xfrm>
            <a:off x="457200" y="256032"/>
            <a:ext cx="548640" cy="54864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2</a:t>
            </a:r>
          </a:p>
        </p:txBody>
      </p:sp>
      <p:sp>
        <p:nvSpPr>
          <p:cNvPr id="4" name="TextBox 3">
            <a:extLst>
              <a:ext uri="{FF2B5EF4-FFF2-40B4-BE49-F238E27FC236}">
                <a16:creationId xmlns:a16="http://schemas.microsoft.com/office/drawing/2014/main" id="{465195AB-477D-F215-3B79-E4F758945934}"/>
              </a:ext>
            </a:extLst>
          </p:cNvPr>
          <p:cNvSpPr txBox="1"/>
          <p:nvPr/>
        </p:nvSpPr>
        <p:spPr>
          <a:xfrm>
            <a:off x="1188720" y="314462"/>
            <a:ext cx="10515600" cy="523220"/>
          </a:xfrm>
          <a:prstGeom prst="rect">
            <a:avLst/>
          </a:prstGeom>
          <a:noFill/>
        </p:spPr>
        <p:txBody>
          <a:bodyPr wrap="square" anchor="ctr">
            <a:spAutoFit/>
          </a:bodyPr>
          <a:lstStyle/>
          <a:p>
            <a:pPr algn="l">
              <a:spcAft>
                <a:spcPts val="600"/>
              </a:spcAft>
            </a:pPr>
            <a:r>
              <a:rPr lang="es-ES" sz="2800" b="1" dirty="0">
                <a:solidFill>
                  <a:srgbClr val="FFFFFF"/>
                </a:solidFill>
                <a:latin typeface="Aptos Light" panose="020B0004020202020204" pitchFamily="34" charset="0"/>
              </a:rPr>
              <a:t>¿</a:t>
            </a:r>
            <a:r>
              <a:rPr sz="2800" b="1" dirty="0" err="1">
                <a:solidFill>
                  <a:srgbClr val="FFFFFF"/>
                </a:solidFill>
                <a:latin typeface="Aptos Light" panose="020B0004020202020204" pitchFamily="34" charset="0"/>
              </a:rPr>
              <a:t>Qué</a:t>
            </a:r>
            <a:r>
              <a:rPr sz="2800" b="1" dirty="0">
                <a:solidFill>
                  <a:srgbClr val="FFFFFF"/>
                </a:solidFill>
                <a:latin typeface="Aptos Light" panose="020B0004020202020204" pitchFamily="34" charset="0"/>
              </a:rPr>
              <a:t> </a:t>
            </a:r>
            <a:r>
              <a:rPr sz="2800" b="1" dirty="0" err="1">
                <a:solidFill>
                  <a:srgbClr val="FFFFFF"/>
                </a:solidFill>
                <a:latin typeface="Aptos Light" panose="020B0004020202020204" pitchFamily="34" charset="0"/>
              </a:rPr>
              <a:t>problema</a:t>
            </a:r>
            <a:r>
              <a:rPr sz="2800" b="1" dirty="0">
                <a:solidFill>
                  <a:srgbClr val="FFFFFF"/>
                </a:solidFill>
                <a:latin typeface="Aptos Light" panose="020B0004020202020204" pitchFamily="34" charset="0"/>
              </a:rPr>
              <a:t> </a:t>
            </a:r>
            <a:r>
              <a:rPr sz="2800" b="1" dirty="0" err="1">
                <a:solidFill>
                  <a:srgbClr val="FFFFFF"/>
                </a:solidFill>
                <a:latin typeface="Aptos Light" panose="020B0004020202020204" pitchFamily="34" charset="0"/>
              </a:rPr>
              <a:t>resuelve</a:t>
            </a:r>
            <a:r>
              <a:rPr lang="es-ES" sz="2800" b="1" dirty="0">
                <a:solidFill>
                  <a:srgbClr val="FFFFFF"/>
                </a:solidFill>
                <a:latin typeface="Aptos Light" panose="020B0004020202020204" pitchFamily="34" charset="0"/>
              </a:rPr>
              <a:t>?</a:t>
            </a:r>
            <a:endParaRPr sz="2800" b="1" dirty="0">
              <a:solidFill>
                <a:srgbClr val="FFFFFF"/>
              </a:solidFill>
              <a:latin typeface="Aptos Light" panose="020B0004020202020204" pitchFamily="34" charset="0"/>
            </a:endParaRPr>
          </a:p>
        </p:txBody>
      </p:sp>
      <p:pic>
        <p:nvPicPr>
          <p:cNvPr id="6" name="Imagen 5">
            <a:extLst>
              <a:ext uri="{FF2B5EF4-FFF2-40B4-BE49-F238E27FC236}">
                <a16:creationId xmlns:a16="http://schemas.microsoft.com/office/drawing/2014/main" id="{4EE8B12F-72B0-3DF1-381E-FAC84EB6A88B}"/>
              </a:ext>
            </a:extLst>
          </p:cNvPr>
          <p:cNvPicPr>
            <a:picLocks noChangeAspect="1"/>
          </p:cNvPicPr>
          <p:nvPr/>
        </p:nvPicPr>
        <p:blipFill>
          <a:blip r:embed="rId3"/>
          <a:stretch>
            <a:fillRect/>
          </a:stretch>
        </p:blipFill>
        <p:spPr>
          <a:xfrm>
            <a:off x="731520" y="1152144"/>
            <a:ext cx="8991600" cy="4629150"/>
          </a:xfrm>
          <a:prstGeom prst="rect">
            <a:avLst/>
          </a:prstGeom>
        </p:spPr>
      </p:pic>
      <p:pic>
        <p:nvPicPr>
          <p:cNvPr id="12" name="Imagen 11">
            <a:extLst>
              <a:ext uri="{FF2B5EF4-FFF2-40B4-BE49-F238E27FC236}">
                <a16:creationId xmlns:a16="http://schemas.microsoft.com/office/drawing/2014/main" id="{5D5BFD20-C18F-4B03-7FFC-F86AECC02B22}"/>
              </a:ext>
            </a:extLst>
          </p:cNvPr>
          <p:cNvPicPr>
            <a:picLocks noChangeAspect="1"/>
          </p:cNvPicPr>
          <p:nvPr/>
        </p:nvPicPr>
        <p:blipFill>
          <a:blip r:embed="rId4"/>
          <a:stretch>
            <a:fillRect/>
          </a:stretch>
        </p:blipFill>
        <p:spPr>
          <a:xfrm>
            <a:off x="8034162" y="4387868"/>
            <a:ext cx="2829276" cy="2317903"/>
          </a:xfrm>
          <a:prstGeom prst="rect">
            <a:avLst/>
          </a:prstGeom>
        </p:spPr>
      </p:pic>
    </p:spTree>
    <p:extLst>
      <p:ext uri="{BB962C8B-B14F-4D97-AF65-F5344CB8AC3E}">
        <p14:creationId xmlns:p14="http://schemas.microsoft.com/office/powerpoint/2010/main" val="3336693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56032"/>
            <a:ext cx="548640" cy="54864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3</a:t>
            </a:r>
          </a:p>
        </p:txBody>
      </p:sp>
      <p:sp>
        <p:nvSpPr>
          <p:cNvPr id="4" name="TextBox 3"/>
          <p:cNvSpPr txBox="1"/>
          <p:nvPr/>
        </p:nvSpPr>
        <p:spPr>
          <a:xfrm>
            <a:off x="1188720" y="314462"/>
            <a:ext cx="10515600" cy="523220"/>
          </a:xfrm>
          <a:prstGeom prst="rect">
            <a:avLst/>
          </a:prstGeom>
          <a:noFill/>
        </p:spPr>
        <p:txBody>
          <a:bodyPr wrap="square" anchor="ctr">
            <a:spAutoFit/>
          </a:bodyPr>
          <a:lstStyle/>
          <a:p>
            <a:pPr>
              <a:spcAft>
                <a:spcPts val="600"/>
              </a:spcAft>
            </a:pPr>
            <a:r>
              <a:rPr sz="2800" b="1" dirty="0" err="1">
                <a:solidFill>
                  <a:srgbClr val="FFFFFF"/>
                </a:solidFill>
                <a:latin typeface="Aptos Light" panose="020B0004020202020204" pitchFamily="34" charset="0"/>
              </a:rPr>
              <a:t>Arquitectura</a:t>
            </a:r>
            <a:endParaRPr sz="2800" b="1" dirty="0">
              <a:solidFill>
                <a:srgbClr val="FFFFFF"/>
              </a:solidFill>
              <a:latin typeface="Aptos Light" panose="020B00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376668982"/>
              </p:ext>
            </p:extLst>
          </p:nvPr>
        </p:nvGraphicFramePr>
        <p:xfrm>
          <a:off x="426720" y="1828932"/>
          <a:ext cx="5669280" cy="21945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65760">
                <a:tc>
                  <a:txBody>
                    <a:bodyPr/>
                    <a:lstStyle/>
                    <a:p>
                      <a:pPr marL="0" algn="ctr" defTabSz="457200" rtl="0" eaLnBrk="1" latinLnBrk="0" hangingPunct="1"/>
                      <a:r>
                        <a:rPr sz="1600" b="1" kern="1200" dirty="0" err="1">
                          <a:solidFill>
                            <a:srgbClr val="FFFFFF"/>
                          </a:solidFill>
                          <a:latin typeface="Aptos Light" panose="020B0004020202020204" pitchFamily="34" charset="0"/>
                          <a:ea typeface="+mn-ea"/>
                          <a:cs typeface="+mn-cs"/>
                        </a:rPr>
                        <a:t>Componente</a:t>
                      </a:r>
                      <a:endParaRPr sz="1600" b="1" kern="1200" dirty="0">
                        <a:solidFill>
                          <a:srgbClr val="FFFFFF"/>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2"/>
                    </a:solidFill>
                  </a:tcPr>
                </a:tc>
                <a:tc>
                  <a:txBody>
                    <a:bodyPr/>
                    <a:lstStyle/>
                    <a:p>
                      <a:pPr marL="0" algn="ctr" defTabSz="457200" rtl="0" eaLnBrk="1" latinLnBrk="0" hangingPunct="1"/>
                      <a:r>
                        <a:rPr sz="1600" b="1" kern="1200" dirty="0" err="1">
                          <a:solidFill>
                            <a:srgbClr val="FFFFFF"/>
                          </a:solidFill>
                          <a:latin typeface="Aptos Light" panose="020B0004020202020204" pitchFamily="34" charset="0"/>
                          <a:ea typeface="+mn-ea"/>
                          <a:cs typeface="+mn-cs"/>
                        </a:rPr>
                        <a:t>Responsabilidad</a:t>
                      </a:r>
                      <a:endParaRPr sz="1600" b="1" kern="1200" dirty="0">
                        <a:solidFill>
                          <a:srgbClr val="FFFFFF"/>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algn="ctr" defTabSz="457200" rtl="0" eaLnBrk="1" latinLnBrk="0" hangingPunct="1"/>
                      <a:r>
                        <a:rPr sz="1500" kern="1200" dirty="0" err="1">
                          <a:solidFill>
                            <a:srgbClr val="444A54"/>
                          </a:solidFill>
                          <a:latin typeface="Aptos Light" panose="020B0004020202020204" pitchFamily="34" charset="0"/>
                          <a:ea typeface="+mn-ea"/>
                          <a:cs typeface="+mn-cs"/>
                        </a:rPr>
                        <a:t>Keycloak</a:t>
                      </a:r>
                      <a:endParaRPr sz="1500" kern="1200" dirty="0">
                        <a:solidFill>
                          <a:srgbClr val="444A54"/>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500" kern="1200" dirty="0">
                          <a:solidFill>
                            <a:srgbClr val="444A54"/>
                          </a:solidFill>
                          <a:latin typeface="Aptos Light" panose="020B0004020202020204" pitchFamily="34" charset="0"/>
                          <a:ea typeface="+mn-ea"/>
                          <a:cs typeface="+mn-cs"/>
                        </a:rPr>
                        <a:t>Auth/Auth </a:t>
                      </a:r>
                      <a:r>
                        <a:rPr sz="1500" kern="1200" dirty="0" err="1">
                          <a:solidFill>
                            <a:srgbClr val="444A54"/>
                          </a:solidFill>
                          <a:latin typeface="Aptos Light" panose="020B0004020202020204" pitchFamily="34" charset="0"/>
                          <a:ea typeface="+mn-ea"/>
                          <a:cs typeface="+mn-cs"/>
                        </a:rPr>
                        <a:t>por</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rol</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técnico</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médico</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paciente</a:t>
                      </a:r>
                      <a:r>
                        <a:rPr sz="1500" kern="1200" dirty="0">
                          <a:solidFill>
                            <a:srgbClr val="444A54"/>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algn="ctr" defTabSz="457200" rtl="0" eaLnBrk="1" latinLnBrk="0" hangingPunct="1"/>
                      <a:r>
                        <a:rPr sz="1500" kern="1200" dirty="0">
                          <a:solidFill>
                            <a:srgbClr val="444A54"/>
                          </a:solidFill>
                          <a:latin typeface="Aptos Light" panose="020B0004020202020204" pitchFamily="34" charset="0"/>
                          <a:ea typeface="+mn-ea"/>
                          <a:cs typeface="+mn-cs"/>
                        </a:rPr>
                        <a:t>UI + BFF</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500" kern="1200" dirty="0" err="1">
                          <a:solidFill>
                            <a:srgbClr val="444A54"/>
                          </a:solidFill>
                          <a:latin typeface="Aptos Light" panose="020B0004020202020204" pitchFamily="34" charset="0"/>
                          <a:ea typeface="+mn-ea"/>
                          <a:cs typeface="+mn-cs"/>
                        </a:rPr>
                        <a:t>Interfaz</a:t>
                      </a:r>
                      <a:r>
                        <a:rPr sz="1500" kern="1200" dirty="0">
                          <a:solidFill>
                            <a:srgbClr val="444A54"/>
                          </a:solidFill>
                          <a:latin typeface="Aptos Light" panose="020B0004020202020204" pitchFamily="34" charset="0"/>
                          <a:ea typeface="+mn-ea"/>
                          <a:cs typeface="+mn-cs"/>
                        </a:rPr>
                        <a:t> y </a:t>
                      </a:r>
                      <a:r>
                        <a:rPr sz="1500" kern="1200" dirty="0" err="1">
                          <a:solidFill>
                            <a:srgbClr val="444A54"/>
                          </a:solidFill>
                          <a:latin typeface="Aptos Light" panose="020B0004020202020204" pitchFamily="34" charset="0"/>
                          <a:ea typeface="+mn-ea"/>
                          <a:cs typeface="+mn-cs"/>
                        </a:rPr>
                        <a:t>su</a:t>
                      </a:r>
                      <a:r>
                        <a:rPr sz="1500" kern="1200" dirty="0">
                          <a:solidFill>
                            <a:srgbClr val="444A54"/>
                          </a:solidFill>
                          <a:latin typeface="Aptos Light" panose="020B0004020202020204" pitchFamily="34" charset="0"/>
                          <a:ea typeface="+mn-ea"/>
                          <a:cs typeface="+mn-cs"/>
                        </a:rPr>
                        <a:t> Backend For Frontend.</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5760">
                <a:tc>
                  <a:txBody>
                    <a:bodyPr/>
                    <a:lstStyle/>
                    <a:p>
                      <a:pPr marL="0" algn="ctr" defTabSz="457200" rtl="0" eaLnBrk="1" latinLnBrk="0" hangingPunct="1"/>
                      <a:r>
                        <a:rPr sz="1500" kern="1200">
                          <a:solidFill>
                            <a:srgbClr val="444A54"/>
                          </a:solidFill>
                          <a:latin typeface="Aptos Light" panose="020B0004020202020204" pitchFamily="34" charset="0"/>
                          <a:ea typeface="+mn-ea"/>
                          <a:cs typeface="+mn-cs"/>
                        </a:rPr>
                        <a:t>S3 Storage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500" kern="1200" dirty="0" err="1">
                          <a:solidFill>
                            <a:srgbClr val="444A54"/>
                          </a:solidFill>
                          <a:latin typeface="Aptos Light" panose="020B0004020202020204" pitchFamily="34" charset="0"/>
                          <a:ea typeface="+mn-ea"/>
                          <a:cs typeface="+mn-cs"/>
                        </a:rPr>
                        <a:t>Almacena</a:t>
                      </a:r>
                      <a:r>
                        <a:rPr sz="1500" kern="1200" dirty="0">
                          <a:solidFill>
                            <a:srgbClr val="444A54"/>
                          </a:solidFill>
                          <a:latin typeface="Aptos Light" panose="020B0004020202020204" pitchFamily="34" charset="0"/>
                          <a:ea typeface="+mn-ea"/>
                          <a:cs typeface="+mn-cs"/>
                        </a:rPr>
                        <a:t> las </a:t>
                      </a:r>
                      <a:r>
                        <a:rPr sz="1500" kern="1200" dirty="0" err="1">
                          <a:solidFill>
                            <a:srgbClr val="444A54"/>
                          </a:solidFill>
                          <a:latin typeface="Aptos Light" panose="020B0004020202020204" pitchFamily="34" charset="0"/>
                          <a:ea typeface="+mn-ea"/>
                          <a:cs typeface="+mn-cs"/>
                        </a:rPr>
                        <a:t>grabaciones</a:t>
                      </a:r>
                      <a:r>
                        <a:rPr sz="1500" kern="1200" dirty="0">
                          <a:solidFill>
                            <a:srgbClr val="444A54"/>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marL="0" algn="ctr" defTabSz="457200" rtl="0" eaLnBrk="1" latinLnBrk="0" hangingPunct="1"/>
                      <a:r>
                        <a:rPr sz="1500" kern="1200">
                          <a:solidFill>
                            <a:srgbClr val="444A54"/>
                          </a:solidFill>
                          <a:latin typeface="Aptos Light" panose="020B0004020202020204" pitchFamily="34" charset="0"/>
                          <a:ea typeface="+mn-ea"/>
                          <a:cs typeface="+mn-cs"/>
                        </a:rPr>
                        <a:t>Worker</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500" kern="1200" dirty="0" err="1">
                          <a:solidFill>
                            <a:srgbClr val="444A54"/>
                          </a:solidFill>
                          <a:latin typeface="Aptos Light" panose="020B0004020202020204" pitchFamily="34" charset="0"/>
                          <a:ea typeface="+mn-ea"/>
                          <a:cs typeface="+mn-cs"/>
                        </a:rPr>
                        <a:t>Calcula</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métricas</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asíncrono</a:t>
                      </a:r>
                      <a:r>
                        <a:rPr sz="1500" kern="1200" dirty="0">
                          <a:solidFill>
                            <a:srgbClr val="444A54"/>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5760">
                <a:tc>
                  <a:txBody>
                    <a:bodyPr/>
                    <a:lstStyle/>
                    <a:p>
                      <a:pPr marL="0" algn="ctr" defTabSz="457200" rtl="0" eaLnBrk="1" latinLnBrk="0" hangingPunct="1"/>
                      <a:r>
                        <a:rPr sz="1500" kern="1200">
                          <a:solidFill>
                            <a:srgbClr val="444A54"/>
                          </a:solidFill>
                          <a:latin typeface="Aptos Light" panose="020B0004020202020204" pitchFamily="34" charset="0"/>
                          <a:ea typeface="+mn-ea"/>
                          <a:cs typeface="+mn-cs"/>
                        </a:rPr>
                        <a:t>Base de datos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algn="ctr" defTabSz="457200" rtl="0" eaLnBrk="1" latinLnBrk="0" hangingPunct="1"/>
                      <a:r>
                        <a:rPr sz="1500" kern="1200" dirty="0" err="1">
                          <a:solidFill>
                            <a:srgbClr val="444A54"/>
                          </a:solidFill>
                          <a:latin typeface="Aptos Light" panose="020B0004020202020204" pitchFamily="34" charset="0"/>
                          <a:ea typeface="+mn-ea"/>
                          <a:cs typeface="+mn-cs"/>
                        </a:rPr>
                        <a:t>Resultados</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normas</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reportes</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seguimiento</a:t>
                      </a:r>
                      <a:r>
                        <a:rPr sz="1500" kern="1200" dirty="0">
                          <a:solidFill>
                            <a:srgbClr val="444A54"/>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5"/>
                  </a:ext>
                </a:extLst>
              </a:tr>
            </a:tbl>
          </a:graphicData>
        </a:graphic>
      </p:graphicFrame>
      <p:sp>
        <p:nvSpPr>
          <p:cNvPr id="6" name="Rectangle 5"/>
          <p:cNvSpPr/>
          <p:nvPr/>
        </p:nvSpPr>
        <p:spPr>
          <a:xfrm>
            <a:off x="6584996" y="1280160"/>
            <a:ext cx="5119324" cy="3074752"/>
          </a:xfrm>
          <a:prstGeom prst="rect">
            <a:avLst/>
          </a:prstGeom>
          <a:solidFill>
            <a:srgbClr val="1B1F27"/>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r>
              <a:rPr lang="es-ES" sz="1200" dirty="0">
                <a:solidFill>
                  <a:srgbClr val="D6E2F0"/>
                </a:solidFill>
                <a:latin typeface="Consolas"/>
              </a:rPr>
              <a:t>  </a:t>
            </a:r>
            <a:r>
              <a:rPr sz="1200" dirty="0">
                <a:solidFill>
                  <a:srgbClr val="D6E2F0"/>
                </a:solidFill>
                <a:latin typeface="Consolas"/>
              </a:rPr>
              <a:t> </a:t>
            </a:r>
            <a:r>
              <a:rPr sz="1200" dirty="0" err="1">
                <a:solidFill>
                  <a:srgbClr val="D6E2F0"/>
                </a:solidFill>
                <a:latin typeface="Consolas"/>
              </a:rPr>
              <a:t>Keycloak</a:t>
            </a:r>
            <a:r>
              <a:rPr sz="1200" dirty="0">
                <a:solidFill>
                  <a:srgbClr val="D6E2F0"/>
                </a:solidFill>
                <a:latin typeface="Consolas"/>
              </a:rPr>
              <a:t>  (Auth/Auth)</a:t>
            </a:r>
          </a:p>
          <a:p>
            <a:r>
              <a:rPr sz="1200" dirty="0">
                <a:solidFill>
                  <a:srgbClr val="D6E2F0"/>
                </a:solidFill>
                <a:latin typeface="Consolas"/>
              </a:rPr>
              <a:t>             |</a:t>
            </a:r>
          </a:p>
          <a:p>
            <a:r>
              <a:rPr sz="1200" dirty="0">
                <a:solidFill>
                  <a:srgbClr val="D6E2F0"/>
                </a:solidFill>
                <a:latin typeface="Consolas"/>
              </a:rPr>
              <a:t>  UI  &lt;--&gt;  BFF  &lt;--&gt;  Base de </a:t>
            </a:r>
            <a:r>
              <a:rPr sz="1200" dirty="0" err="1">
                <a:solidFill>
                  <a:srgbClr val="D6E2F0"/>
                </a:solidFill>
                <a:latin typeface="Consolas"/>
              </a:rPr>
              <a:t>datos</a:t>
            </a:r>
            <a:endParaRPr sz="1200" dirty="0">
              <a:solidFill>
                <a:srgbClr val="D6E2F0"/>
              </a:solidFill>
              <a:latin typeface="Consolas"/>
            </a:endParaRPr>
          </a:p>
          <a:p>
            <a:r>
              <a:rPr sz="1200" dirty="0">
                <a:solidFill>
                  <a:srgbClr val="D6E2F0"/>
                </a:solidFill>
                <a:latin typeface="Consolas"/>
              </a:rPr>
              <a:t>             |         (</a:t>
            </a:r>
            <a:r>
              <a:rPr sz="1200" dirty="0" err="1">
                <a:solidFill>
                  <a:srgbClr val="D6E2F0"/>
                </a:solidFill>
                <a:latin typeface="Consolas"/>
              </a:rPr>
              <a:t>normas</a:t>
            </a:r>
            <a:r>
              <a:rPr sz="1200" dirty="0">
                <a:solidFill>
                  <a:srgbClr val="D6E2F0"/>
                </a:solidFill>
                <a:latin typeface="Consolas"/>
              </a:rPr>
              <a:t>,</a:t>
            </a:r>
          </a:p>
          <a:p>
            <a:r>
              <a:rPr sz="1200" dirty="0">
                <a:solidFill>
                  <a:srgbClr val="D6E2F0"/>
                </a:solidFill>
                <a:latin typeface="Consolas"/>
              </a:rPr>
              <a:t>     </a:t>
            </a:r>
            <a:r>
              <a:rPr sz="1200" dirty="0" err="1">
                <a:solidFill>
                  <a:srgbClr val="D6E2F0"/>
                </a:solidFill>
                <a:latin typeface="Consolas"/>
              </a:rPr>
              <a:t>graba</a:t>
            </a:r>
            <a:r>
              <a:rPr sz="1200" dirty="0">
                <a:solidFill>
                  <a:srgbClr val="D6E2F0"/>
                </a:solidFill>
                <a:latin typeface="Consolas"/>
              </a:rPr>
              <a:t>   |          </a:t>
            </a:r>
            <a:r>
              <a:rPr sz="1200" dirty="0" err="1">
                <a:solidFill>
                  <a:srgbClr val="D6E2F0"/>
                </a:solidFill>
                <a:latin typeface="Consolas"/>
              </a:rPr>
              <a:t>reportes</a:t>
            </a:r>
            <a:r>
              <a:rPr sz="1200" dirty="0">
                <a:solidFill>
                  <a:srgbClr val="D6E2F0"/>
                </a:solidFill>
                <a:latin typeface="Consolas"/>
              </a:rPr>
              <a:t>)</a:t>
            </a:r>
          </a:p>
          <a:p>
            <a:r>
              <a:rPr sz="1200" dirty="0">
                <a:solidFill>
                  <a:srgbClr val="D6E2F0"/>
                </a:solidFill>
                <a:latin typeface="Consolas"/>
              </a:rPr>
              <a:t>             v             ^</a:t>
            </a:r>
          </a:p>
          <a:p>
            <a:r>
              <a:rPr sz="1200" dirty="0">
                <a:solidFill>
                  <a:srgbClr val="D6E2F0"/>
                </a:solidFill>
                <a:latin typeface="Consolas"/>
              </a:rPr>
              <a:t>        S3 Storage         | </a:t>
            </a:r>
            <a:r>
              <a:rPr sz="1200" dirty="0" err="1">
                <a:solidFill>
                  <a:srgbClr val="D6E2F0"/>
                </a:solidFill>
                <a:latin typeface="Consolas"/>
              </a:rPr>
              <a:t>metricas</a:t>
            </a:r>
            <a:endParaRPr sz="1200" dirty="0">
              <a:solidFill>
                <a:srgbClr val="D6E2F0"/>
              </a:solidFill>
              <a:latin typeface="Consolas"/>
            </a:endParaRPr>
          </a:p>
          <a:p>
            <a:r>
              <a:rPr sz="1200" dirty="0">
                <a:solidFill>
                  <a:srgbClr val="D6E2F0"/>
                </a:solidFill>
                <a:latin typeface="Consolas"/>
              </a:rPr>
              <a:t>             |             |</a:t>
            </a:r>
          </a:p>
          <a:p>
            <a:r>
              <a:rPr sz="1200" dirty="0">
                <a:solidFill>
                  <a:srgbClr val="D6E2F0"/>
                </a:solidFill>
                <a:latin typeface="Consolas"/>
              </a:rPr>
              <a:t>             v             |</a:t>
            </a:r>
          </a:p>
          <a:p>
            <a:r>
              <a:rPr sz="1200" dirty="0">
                <a:solidFill>
                  <a:srgbClr val="D6E2F0"/>
                </a:solidFill>
                <a:latin typeface="Consolas"/>
              </a:rPr>
              <a:t>         Worker  ----------+</a:t>
            </a:r>
          </a:p>
          <a:p>
            <a:r>
              <a:rPr sz="1200" dirty="0">
                <a:solidFill>
                  <a:srgbClr val="D6E2F0"/>
                </a:solidFill>
                <a:latin typeface="Consolas"/>
              </a:rPr>
              <a:t>        (</a:t>
            </a:r>
            <a:r>
              <a:rPr sz="1200" dirty="0" err="1">
                <a:solidFill>
                  <a:srgbClr val="D6E2F0"/>
                </a:solidFill>
                <a:latin typeface="Consolas"/>
              </a:rPr>
              <a:t>metricas</a:t>
            </a:r>
            <a:r>
              <a:rPr sz="1200" dirty="0">
                <a:solidFill>
                  <a:srgbClr val="D6E2F0"/>
                </a:solidFill>
                <a:latin typeface="Consolas"/>
              </a:rPr>
              <a:t>)</a:t>
            </a:r>
          </a:p>
        </p:txBody>
      </p:sp>
      <p:sp>
        <p:nvSpPr>
          <p:cNvPr id="7" name="Rounded Rectangle 6"/>
          <p:cNvSpPr/>
          <p:nvPr/>
        </p:nvSpPr>
        <p:spPr>
          <a:xfrm>
            <a:off x="457200" y="4897499"/>
            <a:ext cx="11247120" cy="1360682"/>
          </a:xfrm>
          <a:prstGeom prst="roundRect">
            <a:avLst/>
          </a:prstGeom>
          <a:solidFill>
            <a:srgbClr val="FFF6E0"/>
          </a:solidFill>
          <a:ln w="15875">
            <a:solidFill>
              <a:srgbClr val="B57A00"/>
            </a:solid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r>
              <a:rPr lang="es-ES" sz="2400" b="1" dirty="0">
                <a:solidFill>
                  <a:srgbClr val="B57A00"/>
                </a:solidFill>
                <a:latin typeface="Aptos"/>
              </a:rPr>
              <a:t>¿Cuál es la idea principal?</a:t>
            </a:r>
          </a:p>
          <a:p>
            <a:pPr algn="ctr"/>
            <a:endParaRPr b="1" dirty="0">
              <a:solidFill>
                <a:srgbClr val="B57A00"/>
              </a:solidFill>
              <a:latin typeface="Aptos Light" panose="020B0004020202020204" pitchFamily="34" charset="0"/>
            </a:endParaRPr>
          </a:p>
          <a:p>
            <a:pPr algn="ctr"/>
            <a:r>
              <a:rPr dirty="0">
                <a:solidFill>
                  <a:srgbClr val="444A54"/>
                </a:solidFill>
                <a:latin typeface="Aptos Light" panose="020B0004020202020204" pitchFamily="34" charset="0"/>
              </a:rPr>
              <a:t>La </a:t>
            </a:r>
            <a:r>
              <a:rPr dirty="0" err="1">
                <a:solidFill>
                  <a:srgbClr val="444A54"/>
                </a:solidFill>
                <a:latin typeface="Aptos Light" panose="020B0004020202020204" pitchFamily="34" charset="0"/>
              </a:rPr>
              <a:t>grabación</a:t>
            </a:r>
            <a:r>
              <a:rPr dirty="0">
                <a:solidFill>
                  <a:srgbClr val="444A54"/>
                </a:solidFill>
                <a:latin typeface="Aptos Light" panose="020B0004020202020204" pitchFamily="34" charset="0"/>
              </a:rPr>
              <a:t> se </a:t>
            </a:r>
            <a:r>
              <a:rPr dirty="0" err="1">
                <a:solidFill>
                  <a:srgbClr val="444A54"/>
                </a:solidFill>
                <a:latin typeface="Aptos Light" panose="020B0004020202020204" pitchFamily="34" charset="0"/>
              </a:rPr>
              <a:t>guarda</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en</a:t>
            </a:r>
            <a:r>
              <a:rPr dirty="0">
                <a:solidFill>
                  <a:srgbClr val="444A54"/>
                </a:solidFill>
                <a:latin typeface="Aptos Light" panose="020B0004020202020204" pitchFamily="34" charset="0"/>
              </a:rPr>
              <a:t> S3, el Worker la </a:t>
            </a:r>
            <a:r>
              <a:rPr dirty="0" err="1">
                <a:solidFill>
                  <a:srgbClr val="444A54"/>
                </a:solidFill>
                <a:latin typeface="Aptos Light" panose="020B0004020202020204" pitchFamily="34" charset="0"/>
              </a:rPr>
              <a:t>procesa</a:t>
            </a:r>
            <a:r>
              <a:rPr dirty="0">
                <a:solidFill>
                  <a:srgbClr val="444A54"/>
                </a:solidFill>
                <a:latin typeface="Aptos Light" panose="020B0004020202020204" pitchFamily="34" charset="0"/>
              </a:rPr>
              <a:t> fuera de </a:t>
            </a:r>
            <a:r>
              <a:rPr dirty="0" err="1">
                <a:solidFill>
                  <a:srgbClr val="444A54"/>
                </a:solidFill>
                <a:latin typeface="Aptos Light" panose="020B0004020202020204" pitchFamily="34" charset="0"/>
              </a:rPr>
              <a:t>línea</a:t>
            </a:r>
            <a:r>
              <a:rPr dirty="0">
                <a:solidFill>
                  <a:srgbClr val="444A54"/>
                </a:solidFill>
                <a:latin typeface="Aptos Light" panose="020B0004020202020204" pitchFamily="34" charset="0"/>
              </a:rPr>
              <a:t> (no </a:t>
            </a:r>
            <a:r>
              <a:rPr dirty="0" err="1">
                <a:solidFill>
                  <a:srgbClr val="444A54"/>
                </a:solidFill>
                <a:latin typeface="Aptos Light" panose="020B0004020202020204" pitchFamily="34" charset="0"/>
              </a:rPr>
              <a:t>bloquea</a:t>
            </a:r>
            <a:r>
              <a:rPr dirty="0">
                <a:solidFill>
                  <a:srgbClr val="444A54"/>
                </a:solidFill>
                <a:latin typeface="Aptos Light" panose="020B0004020202020204" pitchFamily="34" charset="0"/>
              </a:rPr>
              <a:t> al </a:t>
            </a:r>
            <a:r>
              <a:rPr dirty="0" err="1">
                <a:solidFill>
                  <a:srgbClr val="444A54"/>
                </a:solidFill>
                <a:latin typeface="Aptos Light" panose="020B0004020202020204" pitchFamily="34" charset="0"/>
              </a:rPr>
              <a:t>usuario</a:t>
            </a:r>
            <a:r>
              <a:rPr dirty="0">
                <a:solidFill>
                  <a:srgbClr val="444A54"/>
                </a:solidFill>
                <a:latin typeface="Aptos Light" panose="020B0004020202020204" pitchFamily="34" charset="0"/>
              </a:rPr>
              <a:t>) y </a:t>
            </a:r>
            <a:r>
              <a:rPr dirty="0" err="1">
                <a:solidFill>
                  <a:srgbClr val="444A54"/>
                </a:solidFill>
                <a:latin typeface="Aptos Light" panose="020B0004020202020204" pitchFamily="34" charset="0"/>
              </a:rPr>
              <a:t>los</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resultados</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viven</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en</a:t>
            </a:r>
            <a:r>
              <a:rPr dirty="0">
                <a:solidFill>
                  <a:srgbClr val="444A54"/>
                </a:solidFill>
                <a:latin typeface="Aptos Light" panose="020B0004020202020204" pitchFamily="34" charset="0"/>
              </a:rPr>
              <a:t> la BBDD junto a las </a:t>
            </a:r>
            <a:r>
              <a:rPr dirty="0" err="1">
                <a:solidFill>
                  <a:srgbClr val="444A54"/>
                </a:solidFill>
                <a:latin typeface="Aptos Light" panose="020B0004020202020204" pitchFamily="34" charset="0"/>
              </a:rPr>
              <a:t>normas</a:t>
            </a:r>
            <a:r>
              <a:rPr dirty="0">
                <a:solidFill>
                  <a:srgbClr val="444A54"/>
                </a:solidFill>
                <a:latin typeface="Aptos Light" panose="020B0004020202020204" pitchFamily="34" charset="0"/>
              </a:rPr>
              <a:t> para </a:t>
            </a:r>
            <a:r>
              <a:rPr dirty="0" err="1">
                <a:solidFill>
                  <a:srgbClr val="444A54"/>
                </a:solidFill>
                <a:latin typeface="Aptos Light" panose="020B0004020202020204" pitchFamily="34" charset="0"/>
              </a:rPr>
              <a:t>poder</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comparar</a:t>
            </a:r>
            <a:r>
              <a:rPr dirty="0">
                <a:solidFill>
                  <a:srgbClr val="444A54"/>
                </a:solidFill>
                <a:latin typeface="Aptos Light" panose="020B0004020202020204" pitchFamily="34"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56032"/>
            <a:ext cx="548640" cy="54864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4</a:t>
            </a:r>
          </a:p>
        </p:txBody>
      </p:sp>
      <p:sp>
        <p:nvSpPr>
          <p:cNvPr id="4" name="TextBox 3"/>
          <p:cNvSpPr txBox="1"/>
          <p:nvPr/>
        </p:nvSpPr>
        <p:spPr>
          <a:xfrm>
            <a:off x="1188720" y="314462"/>
            <a:ext cx="10515600" cy="523220"/>
          </a:xfrm>
          <a:prstGeom prst="rect">
            <a:avLst/>
          </a:prstGeom>
          <a:noFill/>
        </p:spPr>
        <p:txBody>
          <a:bodyPr wrap="square" anchor="ctr">
            <a:spAutoFit/>
          </a:bodyPr>
          <a:lstStyle/>
          <a:p>
            <a:pPr>
              <a:spcAft>
                <a:spcPts val="600"/>
              </a:spcAft>
            </a:pPr>
            <a:r>
              <a:rPr lang="es-ES" sz="2800" b="1" dirty="0">
                <a:solidFill>
                  <a:srgbClr val="FFFFFF"/>
                </a:solidFill>
                <a:latin typeface="Aptos Light" panose="020B0004020202020204" pitchFamily="34" charset="0"/>
              </a:rPr>
              <a:t>¿</a:t>
            </a:r>
            <a:r>
              <a:rPr sz="2800" b="1" dirty="0" err="1">
                <a:solidFill>
                  <a:srgbClr val="FFFFFF"/>
                </a:solidFill>
                <a:latin typeface="Aptos Light" panose="020B0004020202020204" pitchFamily="34" charset="0"/>
              </a:rPr>
              <a:t>Cómo</a:t>
            </a:r>
            <a:r>
              <a:rPr sz="2800" b="1" dirty="0">
                <a:solidFill>
                  <a:srgbClr val="FFFFFF"/>
                </a:solidFill>
                <a:latin typeface="Aptos Light" panose="020B0004020202020204" pitchFamily="34" charset="0"/>
              </a:rPr>
              <a:t> </a:t>
            </a:r>
            <a:r>
              <a:rPr sz="2800" b="1" dirty="0" err="1">
                <a:solidFill>
                  <a:srgbClr val="FFFFFF"/>
                </a:solidFill>
                <a:latin typeface="Aptos Light" panose="020B0004020202020204" pitchFamily="34" charset="0"/>
              </a:rPr>
              <a:t>funciona</a:t>
            </a:r>
            <a:r>
              <a:rPr lang="es-ES" sz="2800" b="1" dirty="0">
                <a:solidFill>
                  <a:srgbClr val="FFFFFF"/>
                </a:solidFill>
                <a:latin typeface="Aptos Light" panose="020B0004020202020204" pitchFamily="34" charset="0"/>
              </a:rPr>
              <a:t>?</a:t>
            </a:r>
            <a:r>
              <a:rPr sz="2800" b="1" dirty="0">
                <a:solidFill>
                  <a:srgbClr val="FFFFFF"/>
                </a:solidFill>
                <a:latin typeface="Aptos Light" panose="020B0004020202020204" pitchFamily="34" charset="0"/>
              </a:rPr>
              <a:t> </a:t>
            </a:r>
            <a:r>
              <a:rPr lang="es-ES" sz="2800" b="1" i="1" dirty="0">
                <a:solidFill>
                  <a:srgbClr val="FFFFFF"/>
                </a:solidFill>
                <a:latin typeface="Aptos Light" panose="020B0004020202020204" pitchFamily="34" charset="0"/>
              </a:rPr>
              <a:t>H</a:t>
            </a:r>
            <a:r>
              <a:rPr sz="2800" b="1" i="1" dirty="0" err="1">
                <a:solidFill>
                  <a:srgbClr val="FFFFFF"/>
                </a:solidFill>
                <a:latin typeface="Aptos Light" panose="020B0004020202020204" pitchFamily="34" charset="0"/>
              </a:rPr>
              <a:t>appy</a:t>
            </a:r>
            <a:r>
              <a:rPr sz="2800" b="1" i="1" dirty="0">
                <a:solidFill>
                  <a:srgbClr val="FFFFFF"/>
                </a:solidFill>
                <a:latin typeface="Aptos Light" panose="020B0004020202020204" pitchFamily="34" charset="0"/>
              </a:rPr>
              <a:t> path</a:t>
            </a:r>
          </a:p>
        </p:txBody>
      </p:sp>
      <p:graphicFrame>
        <p:nvGraphicFramePr>
          <p:cNvPr id="5" name="Table 4"/>
          <p:cNvGraphicFramePr>
            <a:graphicFrameLocks noGrp="1"/>
          </p:cNvGraphicFramePr>
          <p:nvPr>
            <p:extLst>
              <p:ext uri="{D42A27DB-BD31-4B8C-83A1-F6EECF244321}">
                <p14:modId xmlns:p14="http://schemas.microsoft.com/office/powerpoint/2010/main" val="669899531"/>
              </p:ext>
            </p:extLst>
          </p:nvPr>
        </p:nvGraphicFramePr>
        <p:xfrm>
          <a:off x="457200" y="1234440"/>
          <a:ext cx="11247120" cy="2202066"/>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9418320">
                  <a:extLst>
                    <a:ext uri="{9D8B030D-6E8A-4147-A177-3AD203B41FA5}">
                      <a16:colId xmlns:a16="http://schemas.microsoft.com/office/drawing/2014/main" val="20002"/>
                    </a:ext>
                  </a:extLst>
                </a:gridCol>
              </a:tblGrid>
              <a:tr h="365760">
                <a:tc>
                  <a:txBody>
                    <a:bodyPr/>
                    <a:lstStyle/>
                    <a:p>
                      <a:pPr marL="0" algn="ctr" defTabSz="457200" rtl="0" eaLnBrk="1" latinLnBrk="0" hangingPunct="1"/>
                      <a:r>
                        <a:rPr sz="1600" b="1" kern="1200" dirty="0">
                          <a:solidFill>
                            <a:srgbClr val="FFFFFF"/>
                          </a:solidFill>
                          <a:latin typeface="Aptos Light" panose="020B0004020202020204" pitchFamily="34" charset="0"/>
                          <a:ea typeface="+mn-ea"/>
                          <a:cs typeface="+mn-cs"/>
                        </a:rPr>
                        <a:t>#</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2"/>
                    </a:solidFill>
                  </a:tcPr>
                </a:tc>
                <a:tc>
                  <a:txBody>
                    <a:bodyPr/>
                    <a:lstStyle/>
                    <a:p>
                      <a:pPr marL="0" algn="ctr" defTabSz="457200" rtl="0" eaLnBrk="1" latinLnBrk="0" hangingPunct="1"/>
                      <a:r>
                        <a:rPr sz="1600" b="1" kern="1200" dirty="0">
                          <a:solidFill>
                            <a:srgbClr val="FFFFFF"/>
                          </a:solidFill>
                          <a:latin typeface="Aptos Light" panose="020B0004020202020204" pitchFamily="34" charset="0"/>
                          <a:ea typeface="+mn-ea"/>
                          <a:cs typeface="+mn-cs"/>
                        </a:rPr>
                        <a:t>Actor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2"/>
                    </a:solidFill>
                  </a:tcPr>
                </a:tc>
                <a:tc>
                  <a:txBody>
                    <a:bodyPr/>
                    <a:lstStyle/>
                    <a:p>
                      <a:pPr marL="0" algn="ctr" defTabSz="457200" rtl="0" eaLnBrk="1" latinLnBrk="0" hangingPunct="1"/>
                      <a:r>
                        <a:rPr sz="1600" b="1" kern="1200" dirty="0" err="1">
                          <a:solidFill>
                            <a:srgbClr val="FFFFFF"/>
                          </a:solidFill>
                          <a:latin typeface="Aptos Light" panose="020B0004020202020204" pitchFamily="34" charset="0"/>
                          <a:ea typeface="+mn-ea"/>
                          <a:cs typeface="+mn-cs"/>
                        </a:rPr>
                        <a:t>Acción</a:t>
                      </a:r>
                      <a:endParaRPr sz="1600" b="1" kern="1200" dirty="0">
                        <a:solidFill>
                          <a:srgbClr val="FFFFFF"/>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Técnico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dirty="0" err="1">
                          <a:solidFill>
                            <a:schemeClr val="tx1"/>
                          </a:solidFill>
                          <a:latin typeface="Aptos Light" panose="020B0004020202020204" pitchFamily="34" charset="0"/>
                          <a:ea typeface="+mn-ea"/>
                          <a:cs typeface="+mn-cs"/>
                        </a:rPr>
                        <a:t>Registra</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en</a:t>
                      </a:r>
                      <a:r>
                        <a:rPr sz="1600" b="0" kern="1200" dirty="0">
                          <a:solidFill>
                            <a:schemeClr val="tx1"/>
                          </a:solidFill>
                          <a:latin typeface="Aptos Light" panose="020B0004020202020204" pitchFamily="34" charset="0"/>
                          <a:ea typeface="+mn-ea"/>
                          <a:cs typeface="+mn-cs"/>
                        </a:rPr>
                        <a:t> la API el </a:t>
                      </a:r>
                      <a:r>
                        <a:rPr sz="1600" b="0" kern="1200" dirty="0" err="1">
                          <a:solidFill>
                            <a:schemeClr val="tx1"/>
                          </a:solidFill>
                          <a:latin typeface="Aptos Light" panose="020B0004020202020204" pitchFamily="34" charset="0"/>
                          <a:ea typeface="+mn-ea"/>
                          <a:cs typeface="+mn-cs"/>
                        </a:rPr>
                        <a:t>cálculo</a:t>
                      </a:r>
                      <a:r>
                        <a:rPr sz="1600" b="0" kern="1200" dirty="0">
                          <a:solidFill>
                            <a:schemeClr val="tx1"/>
                          </a:solidFill>
                          <a:latin typeface="Aptos Light" panose="020B0004020202020204" pitchFamily="34" charset="0"/>
                          <a:ea typeface="+mn-ea"/>
                          <a:cs typeface="+mn-cs"/>
                        </a:rPr>
                        <a:t> de </a:t>
                      </a:r>
                      <a:r>
                        <a:rPr sz="1600" b="0" kern="1200" dirty="0" err="1">
                          <a:solidFill>
                            <a:schemeClr val="tx1"/>
                          </a:solidFill>
                          <a:latin typeface="Aptos Light" panose="020B0004020202020204" pitchFamily="34" charset="0"/>
                          <a:ea typeface="+mn-ea"/>
                          <a:cs typeface="+mn-cs"/>
                        </a:rPr>
                        <a:t>métricas</a:t>
                      </a:r>
                      <a:r>
                        <a:rPr sz="1600" b="0" kern="1200" dirty="0">
                          <a:solidFill>
                            <a:schemeClr val="tx1"/>
                          </a:solidFill>
                          <a:latin typeface="Aptos Light" panose="020B0004020202020204" pitchFamily="34" charset="0"/>
                          <a:ea typeface="+mn-ea"/>
                          <a:cs typeface="+mn-cs"/>
                        </a:rPr>
                        <a:t> y genera las </a:t>
                      </a:r>
                      <a:r>
                        <a:rPr lang="es-ES" sz="1600" b="0" kern="1200" dirty="0">
                          <a:solidFill>
                            <a:schemeClr val="tx1"/>
                          </a:solidFill>
                          <a:latin typeface="Aptos Light" panose="020B0004020202020204" pitchFamily="34" charset="0"/>
                          <a:ea typeface="+mn-ea"/>
                          <a:cs typeface="+mn-cs"/>
                        </a:rPr>
                        <a:t>pautas</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en</a:t>
                      </a:r>
                      <a:r>
                        <a:rPr sz="1600" b="0" kern="1200" dirty="0">
                          <a:solidFill>
                            <a:schemeClr val="tx1"/>
                          </a:solidFill>
                          <a:latin typeface="Aptos Light" panose="020B0004020202020204" pitchFamily="34" charset="0"/>
                          <a:ea typeface="+mn-ea"/>
                          <a:cs typeface="+mn-cs"/>
                        </a:rPr>
                        <a:t> BBDD.</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Médico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dirty="0">
                          <a:solidFill>
                            <a:schemeClr val="tx1"/>
                          </a:solidFill>
                          <a:latin typeface="Aptos Light" panose="020B0004020202020204" pitchFamily="34" charset="0"/>
                          <a:ea typeface="+mn-ea"/>
                          <a:cs typeface="+mn-cs"/>
                        </a:rPr>
                        <a:t>Diagnostica y define el </a:t>
                      </a:r>
                      <a:r>
                        <a:rPr sz="1600" b="0" kern="1200" dirty="0" err="1">
                          <a:solidFill>
                            <a:schemeClr val="tx1"/>
                          </a:solidFill>
                          <a:latin typeface="Aptos Light" panose="020B0004020202020204" pitchFamily="34" charset="0"/>
                          <a:ea typeface="+mn-ea"/>
                          <a:cs typeface="+mn-cs"/>
                        </a:rPr>
                        <a:t>programa</a:t>
                      </a:r>
                      <a:r>
                        <a:rPr sz="1600" b="0" kern="1200" dirty="0">
                          <a:solidFill>
                            <a:schemeClr val="tx1"/>
                          </a:solidFill>
                          <a:latin typeface="Aptos Light" panose="020B0004020202020204" pitchFamily="34" charset="0"/>
                          <a:ea typeface="+mn-ea"/>
                          <a:cs typeface="+mn-cs"/>
                        </a:rPr>
                        <a:t> de </a:t>
                      </a:r>
                      <a:r>
                        <a:rPr sz="1600" b="0" kern="1200" dirty="0" err="1">
                          <a:solidFill>
                            <a:schemeClr val="tx1"/>
                          </a:solidFill>
                          <a:latin typeface="Aptos Light" panose="020B0004020202020204" pitchFamily="34" charset="0"/>
                          <a:ea typeface="+mn-ea"/>
                          <a:cs typeface="+mn-cs"/>
                        </a:rPr>
                        <a:t>rehabilitación</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ejercicios</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en</a:t>
                      </a:r>
                      <a:r>
                        <a:rPr sz="1600" b="0" kern="1200" dirty="0">
                          <a:solidFill>
                            <a:schemeClr val="tx1"/>
                          </a:solidFill>
                          <a:latin typeface="Aptos Light" panose="020B0004020202020204" pitchFamily="34" charset="0"/>
                          <a:ea typeface="+mn-ea"/>
                          <a:cs typeface="+mn-cs"/>
                        </a:rPr>
                        <a:t> BBDD).</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5760">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3</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Paciente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dirty="0" err="1">
                          <a:solidFill>
                            <a:schemeClr val="tx1"/>
                          </a:solidFill>
                          <a:latin typeface="Aptos Light" panose="020B0004020202020204" pitchFamily="34" charset="0"/>
                          <a:ea typeface="+mn-ea"/>
                          <a:cs typeface="+mn-cs"/>
                        </a:rPr>
                        <a:t>Consiente</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en</a:t>
                      </a:r>
                      <a:r>
                        <a:rPr sz="1600" b="0" kern="1200" dirty="0">
                          <a:solidFill>
                            <a:schemeClr val="tx1"/>
                          </a:solidFill>
                          <a:latin typeface="Aptos Light" panose="020B0004020202020204" pitchFamily="34" charset="0"/>
                          <a:ea typeface="+mn-ea"/>
                          <a:cs typeface="+mn-cs"/>
                        </a:rPr>
                        <a:t> la 1ª </a:t>
                      </a:r>
                      <a:r>
                        <a:rPr sz="1600" b="0" kern="1200" dirty="0" err="1">
                          <a:solidFill>
                            <a:schemeClr val="tx1"/>
                          </a:solidFill>
                          <a:latin typeface="Aptos Light" panose="020B0004020202020204" pitchFamily="34" charset="0"/>
                          <a:ea typeface="+mn-ea"/>
                          <a:cs typeface="+mn-cs"/>
                        </a:rPr>
                        <a:t>grabación</a:t>
                      </a:r>
                      <a:r>
                        <a:rPr lang="es-ES" sz="1600" b="0" kern="1200" dirty="0">
                          <a:solidFill>
                            <a:schemeClr val="tx1"/>
                          </a:solidFill>
                          <a:latin typeface="Aptos Light" panose="020B0004020202020204" pitchFamily="34" charset="0"/>
                          <a:ea typeface="+mn-ea"/>
                          <a:cs typeface="+mn-cs"/>
                        </a:rPr>
                        <a:t>,</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sube</a:t>
                      </a:r>
                      <a:r>
                        <a:rPr lang="es-ES" sz="1600" b="0" kern="1200" dirty="0">
                          <a:solidFill>
                            <a:schemeClr val="tx1"/>
                          </a:solidFill>
                          <a:latin typeface="Aptos Light" panose="020B0004020202020204" pitchFamily="34" charset="0"/>
                          <a:ea typeface="+mn-ea"/>
                          <a:cs typeface="+mn-cs"/>
                        </a:rPr>
                        <a:t> o </a:t>
                      </a:r>
                      <a:r>
                        <a:rPr sz="1600" b="0" kern="1200" dirty="0" err="1">
                          <a:solidFill>
                            <a:schemeClr val="tx1"/>
                          </a:solidFill>
                          <a:latin typeface="Aptos Light" panose="020B0004020202020204" pitchFamily="34" charset="0"/>
                          <a:ea typeface="+mn-ea"/>
                          <a:cs typeface="+mn-cs"/>
                        </a:rPr>
                        <a:t>elimina</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grabaciones</a:t>
                      </a:r>
                      <a:r>
                        <a:rPr sz="1600" b="0" kern="1200" dirty="0">
                          <a:solidFill>
                            <a:schemeClr val="tx1"/>
                          </a:solidFill>
                          <a:latin typeface="Aptos Light" panose="020B0004020202020204" pitchFamily="34" charset="0"/>
                          <a:ea typeface="+mn-ea"/>
                          <a:cs typeface="+mn-cs"/>
                        </a:rPr>
                        <a:t> y </a:t>
                      </a:r>
                      <a:r>
                        <a:rPr sz="1600" b="0" kern="1200" dirty="0" err="1">
                          <a:solidFill>
                            <a:schemeClr val="tx1"/>
                          </a:solidFill>
                          <a:latin typeface="Aptos Light" panose="020B0004020202020204" pitchFamily="34" charset="0"/>
                          <a:ea typeface="+mn-ea"/>
                          <a:cs typeface="+mn-cs"/>
                        </a:rPr>
                        <a:t>pide</a:t>
                      </a:r>
                      <a:r>
                        <a:rPr sz="1600" b="0" kern="1200" dirty="0">
                          <a:solidFill>
                            <a:schemeClr val="tx1"/>
                          </a:solidFill>
                          <a:latin typeface="Aptos Light" panose="020B0004020202020204" pitchFamily="34" charset="0"/>
                          <a:ea typeface="+mn-ea"/>
                          <a:cs typeface="+mn-cs"/>
                        </a:rPr>
                        <a:t> al </a:t>
                      </a:r>
                      <a:r>
                        <a:rPr lang="es-ES" sz="1600" b="0" i="1" kern="1200" dirty="0">
                          <a:solidFill>
                            <a:schemeClr val="tx1"/>
                          </a:solidFill>
                          <a:latin typeface="Aptos Light" panose="020B0004020202020204" pitchFamily="34" charset="0"/>
                          <a:ea typeface="+mn-ea"/>
                          <a:cs typeface="+mn-cs"/>
                        </a:rPr>
                        <a:t>W</a:t>
                      </a:r>
                      <a:r>
                        <a:rPr sz="1600" b="0" i="1" kern="1200" dirty="0" err="1">
                          <a:solidFill>
                            <a:schemeClr val="tx1"/>
                          </a:solidFill>
                          <a:latin typeface="Aptos Light" panose="020B0004020202020204" pitchFamily="34" charset="0"/>
                          <a:ea typeface="+mn-ea"/>
                          <a:cs typeface="+mn-cs"/>
                        </a:rPr>
                        <a:t>orker</a:t>
                      </a:r>
                      <a:r>
                        <a:rPr sz="1600" b="0" i="1" kern="1200" dirty="0">
                          <a:solidFill>
                            <a:schemeClr val="tx1"/>
                          </a:solidFill>
                          <a:latin typeface="Aptos Light" panose="020B0004020202020204" pitchFamily="34" charset="0"/>
                          <a:ea typeface="+mn-ea"/>
                          <a:cs typeface="+mn-cs"/>
                        </a:rPr>
                        <a:t> </a:t>
                      </a:r>
                      <a:r>
                        <a:rPr sz="1600" b="0" kern="1200" dirty="0">
                          <a:solidFill>
                            <a:schemeClr val="tx1"/>
                          </a:solidFill>
                          <a:latin typeface="Aptos Light" panose="020B0004020202020204" pitchFamily="34" charset="0"/>
                          <a:ea typeface="+mn-ea"/>
                          <a:cs typeface="+mn-cs"/>
                        </a:rPr>
                        <a:t>el </a:t>
                      </a:r>
                      <a:r>
                        <a:rPr sz="1600" b="0" kern="1200" dirty="0" err="1">
                          <a:solidFill>
                            <a:schemeClr val="tx1"/>
                          </a:solidFill>
                          <a:latin typeface="Aptos Light" panose="020B0004020202020204" pitchFamily="34" charset="0"/>
                          <a:ea typeface="+mn-ea"/>
                          <a:cs typeface="+mn-cs"/>
                        </a:rPr>
                        <a:t>análisis</a:t>
                      </a:r>
                      <a:r>
                        <a:rPr sz="1600" b="0" kern="1200" dirty="0">
                          <a:solidFill>
                            <a:schemeClr val="tx1"/>
                          </a:solidFill>
                          <a:latin typeface="Aptos Light" panose="020B0004020202020204" pitchFamily="34" charset="0"/>
                          <a:ea typeface="+mn-ea"/>
                          <a:cs typeface="+mn-cs"/>
                        </a:rPr>
                        <a:t> de </a:t>
                      </a:r>
                      <a:r>
                        <a:rPr sz="1600" b="0" kern="1200" dirty="0" err="1">
                          <a:solidFill>
                            <a:schemeClr val="tx1"/>
                          </a:solidFill>
                          <a:latin typeface="Aptos Light" panose="020B0004020202020204" pitchFamily="34" charset="0"/>
                          <a:ea typeface="+mn-ea"/>
                          <a:cs typeface="+mn-cs"/>
                        </a:rPr>
                        <a:t>métricas</a:t>
                      </a:r>
                      <a:r>
                        <a:rPr sz="1600" b="0" kern="1200" dirty="0">
                          <a:solidFill>
                            <a:schemeClr val="tx1"/>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3266">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4</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dirty="0">
                          <a:solidFill>
                            <a:schemeClr val="tx1"/>
                          </a:solidFill>
                          <a:latin typeface="Aptos Light" panose="020B0004020202020204" pitchFamily="34" charset="0"/>
                          <a:ea typeface="+mn-ea"/>
                          <a:cs typeface="+mn-cs"/>
                        </a:rPr>
                        <a:t>Médico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dirty="0">
                          <a:solidFill>
                            <a:schemeClr val="tx1"/>
                          </a:solidFill>
                          <a:latin typeface="Aptos Light" panose="020B0004020202020204" pitchFamily="34" charset="0"/>
                          <a:ea typeface="+mn-ea"/>
                          <a:cs typeface="+mn-cs"/>
                        </a:rPr>
                        <a:t>Genera un </a:t>
                      </a:r>
                      <a:r>
                        <a:rPr sz="1600" b="0" kern="1200" dirty="0" err="1">
                          <a:solidFill>
                            <a:schemeClr val="tx1"/>
                          </a:solidFill>
                          <a:latin typeface="Aptos Light" panose="020B0004020202020204" pitchFamily="34" charset="0"/>
                          <a:ea typeface="+mn-ea"/>
                          <a:cs typeface="+mn-cs"/>
                        </a:rPr>
                        <a:t>reporte</a:t>
                      </a:r>
                      <a:r>
                        <a:rPr sz="1600" b="0" kern="1200" dirty="0">
                          <a:solidFill>
                            <a:schemeClr val="tx1"/>
                          </a:solidFill>
                          <a:latin typeface="Aptos Light" panose="020B0004020202020204" pitchFamily="34" charset="0"/>
                          <a:ea typeface="+mn-ea"/>
                          <a:cs typeface="+mn-cs"/>
                        </a:rPr>
                        <a:t> </a:t>
                      </a:r>
                      <a:r>
                        <a:rPr lang="es-ES" sz="1600" b="1" kern="1200" dirty="0">
                          <a:solidFill>
                            <a:schemeClr val="tx1"/>
                          </a:solidFill>
                          <a:latin typeface="Aptos Light" panose="020B0004020202020204" pitchFamily="34" charset="0"/>
                          <a:ea typeface="+mn-ea"/>
                          <a:cs typeface="+mn-cs"/>
                        </a:rPr>
                        <a:t>por ejercicio</a:t>
                      </a:r>
                      <a:r>
                        <a:rPr lang="es-ES" sz="1600" b="0" kern="1200" dirty="0">
                          <a:solidFill>
                            <a:schemeClr val="tx1"/>
                          </a:solidFill>
                          <a:latin typeface="Aptos Light" panose="020B0004020202020204" pitchFamily="34" charset="0"/>
                          <a:ea typeface="+mn-ea"/>
                          <a:cs typeface="+mn-cs"/>
                        </a:rPr>
                        <a:t>,</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escucha</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grabaciones</a:t>
                      </a:r>
                      <a:r>
                        <a:rPr sz="1600" b="0" kern="1200" dirty="0">
                          <a:solidFill>
                            <a:schemeClr val="tx1"/>
                          </a:solidFill>
                          <a:latin typeface="Aptos Light" panose="020B0004020202020204" pitchFamily="34" charset="0"/>
                          <a:ea typeface="+mn-ea"/>
                          <a:cs typeface="+mn-cs"/>
                        </a:rPr>
                        <a:t> y </a:t>
                      </a:r>
                      <a:r>
                        <a:rPr sz="1600" b="0" kern="1200" dirty="0" err="1">
                          <a:solidFill>
                            <a:schemeClr val="tx1"/>
                          </a:solidFill>
                          <a:latin typeface="Aptos Light" panose="020B0004020202020204" pitchFamily="34" charset="0"/>
                          <a:ea typeface="+mn-ea"/>
                          <a:cs typeface="+mn-cs"/>
                        </a:rPr>
                        <a:t>añade</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observaciones</a:t>
                      </a:r>
                      <a:r>
                        <a:rPr sz="1600" b="0" kern="1200" dirty="0">
                          <a:solidFill>
                            <a:schemeClr val="tx1"/>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5760">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5</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Médico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algn="ctr" defTabSz="457200" rtl="0" eaLnBrk="1" latinLnBrk="0" hangingPunct="1"/>
                      <a:r>
                        <a:rPr sz="1600" b="0" kern="1200" dirty="0">
                          <a:solidFill>
                            <a:schemeClr val="tx1"/>
                          </a:solidFill>
                          <a:latin typeface="Aptos Light" panose="020B0004020202020204" pitchFamily="34" charset="0"/>
                          <a:ea typeface="+mn-ea"/>
                          <a:cs typeface="+mn-cs"/>
                        </a:rPr>
                        <a:t>Genera el </a:t>
                      </a:r>
                      <a:r>
                        <a:rPr sz="1600" b="0" kern="1200" dirty="0" err="1">
                          <a:solidFill>
                            <a:schemeClr val="tx1"/>
                          </a:solidFill>
                          <a:latin typeface="Aptos Light" panose="020B0004020202020204" pitchFamily="34" charset="0"/>
                          <a:ea typeface="+mn-ea"/>
                          <a:cs typeface="+mn-cs"/>
                        </a:rPr>
                        <a:t>seguimiento</a:t>
                      </a:r>
                      <a:r>
                        <a:rPr sz="1600" b="0" kern="1200" dirty="0">
                          <a:solidFill>
                            <a:schemeClr val="tx1"/>
                          </a:solidFill>
                          <a:latin typeface="Aptos Light" panose="020B0004020202020204" pitchFamily="34" charset="0"/>
                          <a:ea typeface="+mn-ea"/>
                          <a:cs typeface="+mn-cs"/>
                        </a:rPr>
                        <a:t> </a:t>
                      </a:r>
                      <a:r>
                        <a:rPr lang="es-ES" sz="1600" b="1" kern="1200" dirty="0">
                          <a:solidFill>
                            <a:schemeClr val="tx1"/>
                          </a:solidFill>
                          <a:latin typeface="Aptos Light" panose="020B0004020202020204" pitchFamily="34" charset="0"/>
                          <a:ea typeface="+mn-ea"/>
                          <a:cs typeface="+mn-cs"/>
                        </a:rPr>
                        <a:t>por programa </a:t>
                      </a:r>
                      <a:r>
                        <a:rPr sz="1600" b="0" kern="1200" dirty="0">
                          <a:solidFill>
                            <a:schemeClr val="tx1"/>
                          </a:solidFill>
                          <a:latin typeface="Aptos Light" panose="020B0004020202020204" pitchFamily="34" charset="0"/>
                          <a:ea typeface="+mn-ea"/>
                          <a:cs typeface="+mn-cs"/>
                        </a:rPr>
                        <a:t>(1</a:t>
                      </a:r>
                      <a:r>
                        <a:rPr lang="es-ES" sz="1600" b="0" kern="1200" dirty="0">
                          <a:solidFill>
                            <a:schemeClr val="tx1"/>
                          </a:solidFill>
                          <a:latin typeface="Aptos Light" panose="020B0004020202020204" pitchFamily="34" charset="0"/>
                          <a:ea typeface="+mn-ea"/>
                          <a:cs typeface="+mn-cs"/>
                        </a:rPr>
                        <a:t>:n</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ejercicios</a:t>
                      </a:r>
                      <a:r>
                        <a:rPr sz="1600" b="0" kern="1200" dirty="0">
                          <a:solidFill>
                            <a:schemeClr val="tx1"/>
                          </a:solidFill>
                          <a:latin typeface="Aptos Light" panose="020B0004020202020204" pitchFamily="34" charset="0"/>
                          <a:ea typeface="+mn-ea"/>
                          <a:cs typeface="+mn-cs"/>
                        </a:rPr>
                        <a:t>) con </a:t>
                      </a:r>
                      <a:r>
                        <a:rPr sz="1600" b="0" kern="1200" dirty="0" err="1">
                          <a:solidFill>
                            <a:schemeClr val="tx1"/>
                          </a:solidFill>
                          <a:latin typeface="Aptos Light" panose="020B0004020202020204" pitchFamily="34" charset="0"/>
                          <a:ea typeface="+mn-ea"/>
                          <a:cs typeface="+mn-cs"/>
                        </a:rPr>
                        <a:t>gráficas</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métrica</a:t>
                      </a:r>
                      <a:r>
                        <a:rPr sz="1600" b="0" kern="1200" dirty="0">
                          <a:solidFill>
                            <a:schemeClr val="tx1"/>
                          </a:solidFill>
                          <a:latin typeface="Aptos Light" panose="020B0004020202020204" pitchFamily="34" charset="0"/>
                          <a:ea typeface="+mn-ea"/>
                          <a:cs typeface="+mn-cs"/>
                        </a:rPr>
                        <a:t> </a:t>
                      </a:r>
                      <a:r>
                        <a:rPr lang="es-ES" sz="1600" b="0" kern="1200" dirty="0">
                          <a:solidFill>
                            <a:schemeClr val="tx1"/>
                          </a:solidFill>
                          <a:latin typeface="Aptos Light" panose="020B0004020202020204" pitchFamily="34" charset="0"/>
                          <a:ea typeface="+mn-ea"/>
                          <a:cs typeface="+mn-cs"/>
                        </a:rPr>
                        <a:t>frente a las</a:t>
                      </a:r>
                      <a:r>
                        <a:rPr sz="1600" b="0" kern="1200" dirty="0">
                          <a:solidFill>
                            <a:schemeClr val="tx1"/>
                          </a:solidFill>
                          <a:latin typeface="Aptos Light" panose="020B0004020202020204" pitchFamily="34" charset="0"/>
                          <a:ea typeface="+mn-ea"/>
                          <a:cs typeface="+mn-cs"/>
                        </a:rPr>
                        <a:t> </a:t>
                      </a:r>
                      <a:r>
                        <a:rPr lang="es-ES" sz="1600" b="0" kern="1200" dirty="0">
                          <a:solidFill>
                            <a:schemeClr val="tx1"/>
                          </a:solidFill>
                          <a:latin typeface="Aptos Light" panose="020B0004020202020204" pitchFamily="34" charset="0"/>
                          <a:ea typeface="+mn-ea"/>
                          <a:cs typeface="+mn-cs"/>
                        </a:rPr>
                        <a:t>pautas</a:t>
                      </a:r>
                      <a:r>
                        <a:rPr sz="1600" b="0" kern="1200" dirty="0">
                          <a:solidFill>
                            <a:schemeClr val="tx1"/>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457200" y="4305869"/>
            <a:ext cx="11247120" cy="2237669"/>
          </a:xfrm>
          <a:prstGeom prst="roundRect">
            <a:avLst/>
          </a:prstGeom>
          <a:solidFill>
            <a:srgbClr val="FFF6E0"/>
          </a:solidFill>
          <a:ln w="15875">
            <a:solidFill>
              <a:srgbClr val="B57A00"/>
            </a:solid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r>
              <a:rPr lang="es-ES" sz="2400" b="1" dirty="0">
                <a:solidFill>
                  <a:srgbClr val="B57A00"/>
                </a:solidFill>
                <a:latin typeface="Aptos"/>
              </a:rPr>
              <a:t>R</a:t>
            </a:r>
            <a:r>
              <a:rPr sz="2400" b="1" dirty="0" err="1">
                <a:solidFill>
                  <a:srgbClr val="B57A00"/>
                </a:solidFill>
                <a:latin typeface="Aptos"/>
              </a:rPr>
              <a:t>eporte</a:t>
            </a:r>
            <a:r>
              <a:rPr sz="2400" b="1" dirty="0">
                <a:solidFill>
                  <a:srgbClr val="B57A00"/>
                </a:solidFill>
                <a:latin typeface="Aptos"/>
              </a:rPr>
              <a:t> </a:t>
            </a:r>
            <a:r>
              <a:rPr lang="es-ES" sz="2400" b="1" dirty="0">
                <a:solidFill>
                  <a:srgbClr val="B57A00"/>
                </a:solidFill>
                <a:latin typeface="Aptos"/>
              </a:rPr>
              <a:t>vs.</a:t>
            </a:r>
            <a:r>
              <a:rPr sz="2400" b="1" dirty="0">
                <a:solidFill>
                  <a:srgbClr val="B57A00"/>
                </a:solidFill>
                <a:latin typeface="Aptos"/>
              </a:rPr>
              <a:t> </a:t>
            </a:r>
            <a:r>
              <a:rPr sz="2400" b="1" dirty="0" err="1">
                <a:solidFill>
                  <a:srgbClr val="B57A00"/>
                </a:solidFill>
                <a:latin typeface="Aptos"/>
              </a:rPr>
              <a:t>seguimiento</a:t>
            </a:r>
            <a:endParaRPr lang="es-ES" sz="2400" b="1" dirty="0">
              <a:solidFill>
                <a:srgbClr val="B57A00"/>
              </a:solidFill>
              <a:latin typeface="Aptos"/>
            </a:endParaRPr>
          </a:p>
          <a:p>
            <a:pPr algn="ctr"/>
            <a:endParaRPr sz="2400" b="1" dirty="0">
              <a:solidFill>
                <a:srgbClr val="B57A00"/>
              </a:solidFill>
              <a:latin typeface="Aptos"/>
            </a:endParaRPr>
          </a:p>
          <a:p>
            <a:pPr algn="ctr"/>
            <a:r>
              <a:rPr lang="es-ES" dirty="0">
                <a:solidFill>
                  <a:srgbClr val="444A54"/>
                </a:solidFill>
                <a:latin typeface="Aptos Light" panose="020B0004020202020204" pitchFamily="34" charset="0"/>
              </a:rPr>
              <a:t>Se genera un </a:t>
            </a:r>
            <a:r>
              <a:rPr lang="es-ES" b="1" dirty="0">
                <a:solidFill>
                  <a:schemeClr val="accent6">
                    <a:lumMod val="50000"/>
                  </a:schemeClr>
                </a:solidFill>
                <a:latin typeface="Aptos Light" panose="020B0004020202020204" pitchFamily="34" charset="0"/>
              </a:rPr>
              <a:t>reporte</a:t>
            </a:r>
            <a:r>
              <a:rPr lang="es-ES" dirty="0">
                <a:solidFill>
                  <a:srgbClr val="444A54"/>
                </a:solidFill>
                <a:latin typeface="Aptos Light" panose="020B0004020202020204" pitchFamily="34" charset="0"/>
              </a:rPr>
              <a:t> por cada</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ejercicio</a:t>
            </a:r>
            <a:r>
              <a:rPr lang="es-ES" dirty="0">
                <a:solidFill>
                  <a:srgbClr val="444A54"/>
                </a:solidFill>
                <a:latin typeface="Aptos Light" panose="020B0004020202020204" pitchFamily="34" charset="0"/>
              </a:rPr>
              <a:t> de rehabilitación en un periodo de tiempo pautado por médico</a:t>
            </a:r>
            <a:r>
              <a:rPr dirty="0">
                <a:solidFill>
                  <a:srgbClr val="444A54"/>
                </a:solidFill>
                <a:latin typeface="Aptos Light" panose="020B0004020202020204" pitchFamily="34" charset="0"/>
              </a:rPr>
              <a:t>.</a:t>
            </a:r>
            <a:endParaRPr lang="es-ES" dirty="0">
              <a:solidFill>
                <a:srgbClr val="444A54"/>
              </a:solidFill>
              <a:latin typeface="Aptos Light" panose="020B0004020202020204" pitchFamily="34" charset="0"/>
            </a:endParaRPr>
          </a:p>
          <a:p>
            <a:pPr algn="ctr"/>
            <a:r>
              <a:rPr lang="es-ES" dirty="0">
                <a:solidFill>
                  <a:srgbClr val="444A54"/>
                </a:solidFill>
                <a:latin typeface="Aptos Light" panose="020B0004020202020204" pitchFamily="34" charset="0"/>
              </a:rPr>
              <a:t> En adición, el </a:t>
            </a:r>
            <a:r>
              <a:rPr lang="es-ES" b="1" dirty="0">
                <a:solidFill>
                  <a:schemeClr val="accent6">
                    <a:lumMod val="50000"/>
                  </a:schemeClr>
                </a:solidFill>
                <a:latin typeface="Aptos Light" panose="020B0004020202020204" pitchFamily="34" charset="0"/>
              </a:rPr>
              <a:t>seguimiento</a:t>
            </a:r>
            <a:r>
              <a:rPr dirty="0">
                <a:solidFill>
                  <a:srgbClr val="444A54"/>
                </a:solidFill>
                <a:latin typeface="Aptos Light" panose="020B0004020202020204" pitchFamily="34" charset="0"/>
              </a:rPr>
              <a:t> </a:t>
            </a:r>
            <a:r>
              <a:rPr lang="es-ES" dirty="0">
                <a:solidFill>
                  <a:srgbClr val="444A54"/>
                </a:solidFill>
                <a:latin typeface="Aptos Light" panose="020B0004020202020204" pitchFamily="34" charset="0"/>
              </a:rPr>
              <a:t>se genera </a:t>
            </a:r>
            <a:r>
              <a:rPr dirty="0" err="1">
                <a:solidFill>
                  <a:srgbClr val="444A54"/>
                </a:solidFill>
                <a:latin typeface="Aptos Light" panose="020B0004020202020204" pitchFamily="34" charset="0"/>
              </a:rPr>
              <a:t>por</a:t>
            </a:r>
            <a:r>
              <a:rPr dirty="0">
                <a:solidFill>
                  <a:srgbClr val="444A54"/>
                </a:solidFill>
                <a:latin typeface="Aptos Light" panose="020B0004020202020204" pitchFamily="34" charset="0"/>
              </a:rPr>
              <a:t> </a:t>
            </a:r>
            <a:r>
              <a:rPr lang="es-ES" dirty="0">
                <a:solidFill>
                  <a:srgbClr val="444A54"/>
                </a:solidFill>
                <a:latin typeface="Aptos Light" panose="020B0004020202020204" pitchFamily="34" charset="0"/>
              </a:rPr>
              <a:t>cada </a:t>
            </a:r>
            <a:r>
              <a:rPr dirty="0" err="1">
                <a:solidFill>
                  <a:srgbClr val="444A54"/>
                </a:solidFill>
                <a:latin typeface="Aptos Light" panose="020B0004020202020204" pitchFamily="34" charset="0"/>
              </a:rPr>
              <a:t>programa</a:t>
            </a:r>
            <a:r>
              <a:rPr lang="es-ES" dirty="0">
                <a:solidFill>
                  <a:srgbClr val="444A54"/>
                </a:solidFill>
                <a:latin typeface="Aptos Light" panose="020B0004020202020204" pitchFamily="34" charset="0"/>
              </a:rPr>
              <a:t> de rehabilitación </a:t>
            </a:r>
            <a:r>
              <a:rPr dirty="0">
                <a:solidFill>
                  <a:srgbClr val="444A54"/>
                </a:solidFill>
                <a:latin typeface="Aptos Light" panose="020B0004020202020204" pitchFamily="34" charset="0"/>
              </a:rPr>
              <a:t>y </a:t>
            </a:r>
            <a:r>
              <a:rPr lang="es-ES" dirty="0">
                <a:solidFill>
                  <a:srgbClr val="444A54"/>
                </a:solidFill>
                <a:latin typeface="Aptos Light" panose="020B0004020202020204" pitchFamily="34" charset="0"/>
              </a:rPr>
              <a:t>como resultado </a:t>
            </a:r>
            <a:r>
              <a:rPr dirty="0" err="1">
                <a:solidFill>
                  <a:srgbClr val="444A54"/>
                </a:solidFill>
                <a:latin typeface="Aptos Light" panose="020B0004020202020204" pitchFamily="34" charset="0"/>
              </a:rPr>
              <a:t>agrega</a:t>
            </a:r>
            <a:r>
              <a:rPr lang="es-ES" dirty="0">
                <a:solidFill>
                  <a:srgbClr val="444A54"/>
                </a:solidFill>
                <a:latin typeface="Aptos Light" panose="020B0004020202020204" pitchFamily="34" charset="0"/>
              </a:rPr>
              <a:t> los reportes de</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los</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ejercicios</a:t>
            </a:r>
            <a:r>
              <a:rPr dirty="0">
                <a:solidFill>
                  <a:srgbClr val="444A54"/>
                </a:solidFill>
                <a:latin typeface="Aptos Light" panose="020B0004020202020204" pitchFamily="34" charset="0"/>
              </a:rPr>
              <a:t> </a:t>
            </a:r>
            <a:r>
              <a:rPr lang="es-ES" dirty="0">
                <a:solidFill>
                  <a:srgbClr val="444A54"/>
                </a:solidFill>
                <a:latin typeface="Aptos Light" panose="020B0004020202020204" pitchFamily="34" charset="0"/>
              </a:rPr>
              <a:t>que lo componen</a:t>
            </a:r>
            <a:r>
              <a:rPr dirty="0">
                <a:solidFill>
                  <a:srgbClr val="444A54"/>
                </a:solidFill>
                <a:latin typeface="Aptos Light" panose="020B0004020202020204" pitchFamily="34" charset="0"/>
              </a:rPr>
              <a:t>.</a:t>
            </a:r>
            <a:endParaRPr lang="es-ES" dirty="0">
              <a:solidFill>
                <a:srgbClr val="444A54"/>
              </a:solidFill>
              <a:latin typeface="Aptos Light" panose="020B0004020202020204" pitchFamily="34" charset="0"/>
            </a:endParaRPr>
          </a:p>
          <a:p>
            <a:pPr algn="ctr"/>
            <a:endParaRPr lang="es-ES" dirty="0">
              <a:solidFill>
                <a:srgbClr val="444A54"/>
              </a:solidFill>
              <a:latin typeface="Aptos Light" panose="020B0004020202020204" pitchFamily="34" charset="0"/>
            </a:endParaRPr>
          </a:p>
          <a:p>
            <a:pPr algn="ctr"/>
            <a:r>
              <a:rPr lang="es-ES" dirty="0">
                <a:solidFill>
                  <a:srgbClr val="444A54"/>
                </a:solidFill>
                <a:latin typeface="Aptos Light" panose="020B0004020202020204" pitchFamily="34" charset="0"/>
              </a:rPr>
              <a:t>Como resultado, las m</a:t>
            </a:r>
            <a:r>
              <a:rPr dirty="0" err="1">
                <a:solidFill>
                  <a:srgbClr val="444A54"/>
                </a:solidFill>
                <a:latin typeface="Aptos Light" panose="020B0004020202020204" pitchFamily="34" charset="0"/>
              </a:rPr>
              <a:t>étrica</a:t>
            </a:r>
            <a:r>
              <a:rPr lang="es-ES" dirty="0">
                <a:solidFill>
                  <a:srgbClr val="444A54"/>
                </a:solidFill>
                <a:latin typeface="Aptos Light" panose="020B0004020202020204" pitchFamily="34" charset="0"/>
              </a:rPr>
              <a:t>s</a:t>
            </a:r>
            <a:r>
              <a:rPr dirty="0">
                <a:solidFill>
                  <a:srgbClr val="444A54"/>
                </a:solidFill>
                <a:latin typeface="Aptos Light" panose="020B0004020202020204" pitchFamily="34" charset="0"/>
              </a:rPr>
              <a:t> </a:t>
            </a:r>
            <a:r>
              <a:rPr lang="es-ES" dirty="0">
                <a:solidFill>
                  <a:srgbClr val="444A54"/>
                </a:solidFill>
                <a:latin typeface="Aptos Light" panose="020B0004020202020204" pitchFamily="34" charset="0"/>
              </a:rPr>
              <a:t>y</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observaciones</a:t>
            </a:r>
            <a:r>
              <a:rPr dirty="0">
                <a:solidFill>
                  <a:srgbClr val="444A54"/>
                </a:solidFill>
                <a:latin typeface="Aptos Light" panose="020B0004020202020204" pitchFamily="34" charset="0"/>
              </a:rPr>
              <a:t> del </a:t>
            </a:r>
            <a:r>
              <a:rPr dirty="0" err="1">
                <a:solidFill>
                  <a:srgbClr val="444A54"/>
                </a:solidFill>
                <a:latin typeface="Aptos Light" panose="020B0004020202020204" pitchFamily="34" charset="0"/>
              </a:rPr>
              <a:t>médico</a:t>
            </a:r>
            <a:r>
              <a:rPr dirty="0">
                <a:solidFill>
                  <a:srgbClr val="444A54"/>
                </a:solidFill>
                <a:latin typeface="Aptos Light" panose="020B0004020202020204" pitchFamily="34" charset="0"/>
              </a:rPr>
              <a:t> </a:t>
            </a:r>
            <a:r>
              <a:rPr lang="es-ES" dirty="0">
                <a:solidFill>
                  <a:srgbClr val="444A54"/>
                </a:solidFill>
                <a:latin typeface="Aptos Light" panose="020B0004020202020204" pitchFamily="34" charset="0"/>
              </a:rPr>
              <a:t>se muestran</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en</a:t>
            </a:r>
            <a:r>
              <a:rPr dirty="0">
                <a:solidFill>
                  <a:srgbClr val="444A54"/>
                </a:solidFill>
                <a:latin typeface="Aptos Light" panose="020B0004020202020204" pitchFamily="34" charset="0"/>
              </a:rPr>
              <a:t> ambos.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56032"/>
            <a:ext cx="548640" cy="54864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4.1</a:t>
            </a:r>
          </a:p>
        </p:txBody>
      </p:sp>
      <p:sp>
        <p:nvSpPr>
          <p:cNvPr id="4" name="TextBox 3"/>
          <p:cNvSpPr txBox="1"/>
          <p:nvPr/>
        </p:nvSpPr>
        <p:spPr>
          <a:xfrm>
            <a:off x="1188720" y="314462"/>
            <a:ext cx="10515600" cy="523220"/>
          </a:xfrm>
          <a:prstGeom prst="rect">
            <a:avLst/>
          </a:prstGeom>
          <a:noFill/>
        </p:spPr>
        <p:txBody>
          <a:bodyPr wrap="square" anchor="ctr">
            <a:spAutoFit/>
          </a:bodyPr>
          <a:lstStyle/>
          <a:p>
            <a:pPr algn="l">
              <a:spcAft>
                <a:spcPts val="600"/>
              </a:spcAft>
            </a:pPr>
            <a:r>
              <a:rPr sz="2800" b="1" dirty="0" err="1">
                <a:solidFill>
                  <a:srgbClr val="FFFFFF"/>
                </a:solidFill>
                <a:latin typeface="Aptos Light" panose="020B0004020202020204" pitchFamily="34" charset="0"/>
              </a:rPr>
              <a:t>Condicionantes</a:t>
            </a:r>
            <a:r>
              <a:rPr sz="2800" b="1" dirty="0">
                <a:solidFill>
                  <a:srgbClr val="FFFFFF"/>
                </a:solidFill>
                <a:latin typeface="Aptos Light" panose="020B0004020202020204" pitchFamily="34" charset="0"/>
              </a:rPr>
              <a:t> de GDPR </a:t>
            </a:r>
            <a:r>
              <a:rPr sz="2800" b="1" dirty="0" err="1">
                <a:solidFill>
                  <a:srgbClr val="FFFFFF"/>
                </a:solidFill>
                <a:latin typeface="Aptos Light" panose="020B0004020202020204" pitchFamily="34" charset="0"/>
              </a:rPr>
              <a:t>implementados</a:t>
            </a:r>
            <a:endParaRPr sz="2800" b="1" dirty="0">
              <a:solidFill>
                <a:srgbClr val="FFFFFF"/>
              </a:solidFill>
              <a:latin typeface="Aptos Light" panose="020B0004020202020204" pitchFamily="34" charset="0"/>
            </a:endParaRPr>
          </a:p>
        </p:txBody>
      </p:sp>
      <p:sp>
        <p:nvSpPr>
          <p:cNvPr id="5" name="TextBox 4"/>
          <p:cNvSpPr txBox="1"/>
          <p:nvPr/>
        </p:nvSpPr>
        <p:spPr>
          <a:xfrm>
            <a:off x="457200" y="1188720"/>
            <a:ext cx="11247120" cy="584775"/>
          </a:xfrm>
          <a:prstGeom prst="rect">
            <a:avLst/>
          </a:prstGeom>
          <a:noFill/>
        </p:spPr>
        <p:txBody>
          <a:bodyPr wrap="square" anchor="t">
            <a:spAutoFit/>
          </a:bodyPr>
          <a:lstStyle/>
          <a:p>
            <a:pPr algn="just">
              <a:spcAft>
                <a:spcPts val="600"/>
              </a:spcAft>
            </a:pPr>
            <a:r>
              <a:rPr sz="1600" dirty="0">
                <a:solidFill>
                  <a:srgbClr val="444A54"/>
                </a:solidFill>
                <a:latin typeface="Aptos Light"/>
              </a:rPr>
              <a:t>Las </a:t>
            </a:r>
            <a:r>
              <a:rPr sz="1600" dirty="0" err="1">
                <a:solidFill>
                  <a:srgbClr val="444A54"/>
                </a:solidFill>
                <a:latin typeface="Aptos Light"/>
              </a:rPr>
              <a:t>grabaciones</a:t>
            </a:r>
            <a:r>
              <a:rPr sz="1600" dirty="0">
                <a:solidFill>
                  <a:srgbClr val="444A54"/>
                </a:solidFill>
                <a:latin typeface="Aptos Light"/>
              </a:rPr>
              <a:t> de </a:t>
            </a:r>
            <a:r>
              <a:rPr sz="1600" dirty="0" err="1">
                <a:solidFill>
                  <a:srgbClr val="444A54"/>
                </a:solidFill>
                <a:latin typeface="Aptos Light"/>
              </a:rPr>
              <a:t>voz</a:t>
            </a:r>
            <a:r>
              <a:rPr sz="1600" dirty="0">
                <a:solidFill>
                  <a:srgbClr val="444A54"/>
                </a:solidFill>
                <a:latin typeface="Aptos Light"/>
              </a:rPr>
              <a:t> son </a:t>
            </a:r>
            <a:r>
              <a:rPr sz="1600" dirty="0" err="1">
                <a:solidFill>
                  <a:srgbClr val="444A54"/>
                </a:solidFill>
                <a:latin typeface="Aptos Light"/>
              </a:rPr>
              <a:t>datos</a:t>
            </a:r>
            <a:r>
              <a:rPr sz="1600" dirty="0">
                <a:solidFill>
                  <a:srgbClr val="444A54"/>
                </a:solidFill>
                <a:latin typeface="Aptos Light"/>
              </a:rPr>
              <a:t> de </a:t>
            </a:r>
            <a:r>
              <a:rPr sz="1600" dirty="0" err="1">
                <a:solidFill>
                  <a:srgbClr val="444A54"/>
                </a:solidFill>
                <a:latin typeface="Aptos Light"/>
              </a:rPr>
              <a:t>categoría</a:t>
            </a:r>
            <a:r>
              <a:rPr sz="1600" dirty="0">
                <a:solidFill>
                  <a:srgbClr val="444A54"/>
                </a:solidFill>
                <a:latin typeface="Aptos Light"/>
              </a:rPr>
              <a:t> especial (</a:t>
            </a:r>
            <a:r>
              <a:rPr sz="1600" dirty="0" err="1">
                <a:solidFill>
                  <a:srgbClr val="444A54"/>
                </a:solidFill>
                <a:latin typeface="Aptos Light"/>
              </a:rPr>
              <a:t>biométricos</a:t>
            </a:r>
            <a:r>
              <a:rPr sz="1600" dirty="0">
                <a:solidFill>
                  <a:srgbClr val="444A54"/>
                </a:solidFill>
                <a:latin typeface="Aptos Light"/>
              </a:rPr>
              <a:t>)</a:t>
            </a:r>
            <a:r>
              <a:rPr lang="es-ES" sz="1600" dirty="0">
                <a:solidFill>
                  <a:srgbClr val="444A54"/>
                </a:solidFill>
                <a:latin typeface="Aptos Light"/>
              </a:rPr>
              <a:t>. E</a:t>
            </a:r>
            <a:r>
              <a:rPr sz="1600" dirty="0">
                <a:solidFill>
                  <a:srgbClr val="444A54"/>
                </a:solidFill>
                <a:latin typeface="Aptos Light"/>
              </a:rPr>
              <a:t>l </a:t>
            </a:r>
            <a:r>
              <a:rPr sz="1600" dirty="0" err="1">
                <a:solidFill>
                  <a:srgbClr val="444A54"/>
                </a:solidFill>
                <a:latin typeface="Aptos Light"/>
              </a:rPr>
              <a:t>cumplimiento</a:t>
            </a:r>
            <a:r>
              <a:rPr sz="1600" dirty="0">
                <a:solidFill>
                  <a:srgbClr val="444A54"/>
                </a:solidFill>
                <a:latin typeface="Aptos Light"/>
              </a:rPr>
              <a:t> del GDPR es un </a:t>
            </a:r>
            <a:r>
              <a:rPr sz="1600" dirty="0" err="1">
                <a:solidFill>
                  <a:srgbClr val="444A54"/>
                </a:solidFill>
                <a:latin typeface="Aptos Light"/>
              </a:rPr>
              <a:t>requisito</a:t>
            </a:r>
            <a:r>
              <a:rPr sz="1600" dirty="0">
                <a:solidFill>
                  <a:srgbClr val="444A54"/>
                </a:solidFill>
                <a:latin typeface="Aptos Light"/>
              </a:rPr>
              <a:t>, no un extra. Cada </a:t>
            </a:r>
            <a:r>
              <a:rPr sz="1600" dirty="0" err="1">
                <a:solidFill>
                  <a:srgbClr val="444A54"/>
                </a:solidFill>
                <a:latin typeface="Aptos Light"/>
              </a:rPr>
              <a:t>condicionante</a:t>
            </a:r>
            <a:r>
              <a:rPr sz="1600" dirty="0">
                <a:solidFill>
                  <a:srgbClr val="444A54"/>
                </a:solidFill>
                <a:latin typeface="Aptos Light"/>
              </a:rPr>
              <a:t> </a:t>
            </a:r>
            <a:r>
              <a:rPr sz="1600" dirty="0" err="1">
                <a:solidFill>
                  <a:srgbClr val="444A54"/>
                </a:solidFill>
                <a:latin typeface="Aptos Light"/>
              </a:rPr>
              <a:t>enlaza</a:t>
            </a:r>
            <a:r>
              <a:rPr sz="1600" dirty="0">
                <a:solidFill>
                  <a:srgbClr val="444A54"/>
                </a:solidFill>
                <a:latin typeface="Aptos Light"/>
              </a:rPr>
              <a:t> a </a:t>
            </a:r>
            <a:r>
              <a:rPr sz="1600" dirty="0" err="1">
                <a:solidFill>
                  <a:srgbClr val="444A54"/>
                </a:solidFill>
                <a:latin typeface="Aptos Light"/>
              </a:rPr>
              <a:t>su</a:t>
            </a:r>
            <a:r>
              <a:rPr sz="1600" dirty="0">
                <a:solidFill>
                  <a:srgbClr val="444A54"/>
                </a:solidFill>
                <a:latin typeface="Aptos Light"/>
              </a:rPr>
              <a:t> </a:t>
            </a:r>
            <a:r>
              <a:rPr sz="1600" dirty="0" err="1">
                <a:solidFill>
                  <a:srgbClr val="444A54"/>
                </a:solidFill>
                <a:latin typeface="Aptos Light"/>
              </a:rPr>
              <a:t>artículo</a:t>
            </a:r>
            <a:r>
              <a:rPr sz="1600" dirty="0">
                <a:solidFill>
                  <a:srgbClr val="444A54"/>
                </a:solidFill>
                <a:latin typeface="Aptos Light"/>
              </a:rPr>
              <a:t>.</a:t>
            </a:r>
          </a:p>
        </p:txBody>
      </p:sp>
      <p:graphicFrame>
        <p:nvGraphicFramePr>
          <p:cNvPr id="6" name="Table 5"/>
          <p:cNvGraphicFramePr>
            <a:graphicFrameLocks noGrp="1"/>
          </p:cNvGraphicFramePr>
          <p:nvPr>
            <p:extLst>
              <p:ext uri="{D42A27DB-BD31-4B8C-83A1-F6EECF244321}">
                <p14:modId xmlns:p14="http://schemas.microsoft.com/office/powerpoint/2010/main" val="1777185844"/>
              </p:ext>
            </p:extLst>
          </p:nvPr>
        </p:nvGraphicFramePr>
        <p:xfrm>
          <a:off x="457200" y="2343319"/>
          <a:ext cx="11247120" cy="2560320"/>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365760">
                <a:tc>
                  <a:txBody>
                    <a:bodyPr/>
                    <a:lstStyle/>
                    <a:p>
                      <a:pPr marL="0" algn="ctr" defTabSz="457200" rtl="0" eaLnBrk="1" latinLnBrk="0" hangingPunct="1"/>
                      <a:r>
                        <a:rPr sz="1600" b="1" kern="1200" dirty="0" err="1">
                          <a:solidFill>
                            <a:srgbClr val="FFFFFF"/>
                          </a:solidFill>
                          <a:latin typeface="Aptos Light" panose="020B0004020202020204" pitchFamily="34" charset="0"/>
                          <a:ea typeface="+mn-ea"/>
                          <a:cs typeface="+mn-cs"/>
                        </a:rPr>
                        <a:t>Condicionante</a:t>
                      </a:r>
                      <a:r>
                        <a:rPr sz="1600" b="1" kern="1200" dirty="0">
                          <a:solidFill>
                            <a:srgbClr val="FFFFFF"/>
                          </a:solidFill>
                          <a:latin typeface="Aptos Light" panose="020B0004020202020204" pitchFamily="34" charset="0"/>
                          <a:ea typeface="+mn-ea"/>
                          <a:cs typeface="+mn-cs"/>
                        </a:rPr>
                        <a:t> (</a:t>
                      </a:r>
                      <a:r>
                        <a:rPr sz="1600" b="1" i="1" kern="1200" dirty="0" err="1">
                          <a:solidFill>
                            <a:srgbClr val="FFFFFF"/>
                          </a:solidFill>
                          <a:latin typeface="Aptos Light" panose="020B0004020202020204" pitchFamily="34" charset="0"/>
                          <a:ea typeface="+mn-ea"/>
                          <a:cs typeface="+mn-cs"/>
                        </a:rPr>
                        <a:t>artículo</a:t>
                      </a:r>
                      <a:r>
                        <a:rPr lang="es-ES" sz="1600" b="1" i="1" kern="1200" dirty="0">
                          <a:solidFill>
                            <a:srgbClr val="FFFFFF"/>
                          </a:solidFill>
                          <a:latin typeface="Aptos Light" panose="020B0004020202020204" pitchFamily="34" charset="0"/>
                          <a:ea typeface="+mn-ea"/>
                          <a:cs typeface="+mn-cs"/>
                        </a:rPr>
                        <a:t> GDPR</a:t>
                      </a:r>
                      <a:r>
                        <a:rPr sz="1600" b="1" kern="1200" dirty="0">
                          <a:solidFill>
                            <a:srgbClr val="FFFFFF"/>
                          </a:solidFill>
                          <a:latin typeface="Aptos Light" panose="020B0004020202020204" pitchFamily="34" charset="0"/>
                          <a:ea typeface="+mn-ea"/>
                          <a:cs typeface="+mn-cs"/>
                        </a:rPr>
                        <a:t>)</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2"/>
                    </a:solidFill>
                  </a:tcPr>
                </a:tc>
                <a:tc>
                  <a:txBody>
                    <a:bodyPr/>
                    <a:lstStyle/>
                    <a:p>
                      <a:pPr marL="0" algn="ctr" defTabSz="457200" rtl="0" eaLnBrk="1" latinLnBrk="0" hangingPunct="1"/>
                      <a:r>
                        <a:rPr lang="es-ES" sz="1600" b="1" kern="1200" dirty="0">
                          <a:solidFill>
                            <a:srgbClr val="FFFFFF"/>
                          </a:solidFill>
                          <a:latin typeface="Aptos Light" panose="020B0004020202020204" pitchFamily="34" charset="0"/>
                          <a:ea typeface="+mn-ea"/>
                          <a:cs typeface="+mn-cs"/>
                        </a:rPr>
                        <a:t>¿</a:t>
                      </a:r>
                      <a:r>
                        <a:rPr sz="1600" b="1" kern="1200" dirty="0" err="1">
                          <a:solidFill>
                            <a:srgbClr val="FFFFFF"/>
                          </a:solidFill>
                          <a:latin typeface="Aptos Light" panose="020B0004020202020204" pitchFamily="34" charset="0"/>
                          <a:ea typeface="+mn-ea"/>
                          <a:cs typeface="+mn-cs"/>
                        </a:rPr>
                        <a:t>Cómo</a:t>
                      </a:r>
                      <a:r>
                        <a:rPr sz="1600" b="1" kern="1200" dirty="0">
                          <a:solidFill>
                            <a:srgbClr val="FFFFFF"/>
                          </a:solidFill>
                          <a:latin typeface="Aptos Light" panose="020B0004020202020204" pitchFamily="34" charset="0"/>
                          <a:ea typeface="+mn-ea"/>
                          <a:cs typeface="+mn-cs"/>
                        </a:rPr>
                        <a:t> se ha </a:t>
                      </a:r>
                      <a:r>
                        <a:rPr sz="1600" b="1" kern="1200" dirty="0" err="1">
                          <a:solidFill>
                            <a:srgbClr val="FFFFFF"/>
                          </a:solidFill>
                          <a:latin typeface="Aptos Light" panose="020B0004020202020204" pitchFamily="34" charset="0"/>
                          <a:ea typeface="+mn-ea"/>
                          <a:cs typeface="+mn-cs"/>
                        </a:rPr>
                        <a:t>implementado</a:t>
                      </a:r>
                      <a:r>
                        <a:rPr lang="es-ES" sz="1600" b="1" kern="1200" dirty="0">
                          <a:solidFill>
                            <a:srgbClr val="FFFFFF"/>
                          </a:solidFill>
                          <a:latin typeface="Aptos Light" panose="020B0004020202020204" pitchFamily="34" charset="0"/>
                          <a:ea typeface="+mn-ea"/>
                          <a:cs typeface="+mn-cs"/>
                        </a:rPr>
                        <a:t>?</a:t>
                      </a:r>
                      <a:endParaRPr sz="1600" b="1" kern="1200" dirty="0">
                        <a:solidFill>
                          <a:srgbClr val="FFFFFF"/>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algn="ctr" defTabSz="457200" rtl="0" eaLnBrk="1" latinLnBrk="0" hangingPunct="1"/>
                      <a:r>
                        <a:rPr sz="1500" kern="1200">
                          <a:solidFill>
                            <a:srgbClr val="444A54"/>
                          </a:solidFill>
                          <a:latin typeface="Aptos Light" panose="020B0004020202020204" pitchFamily="34" charset="0"/>
                          <a:ea typeface="+mn-ea"/>
                          <a:cs typeface="+mn-cs"/>
                        </a:rPr>
                        <a:t>Consentimiento explícito (Art. 9.2a)</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500" kern="1200" dirty="0" err="1">
                          <a:solidFill>
                            <a:srgbClr val="444A54"/>
                          </a:solidFill>
                          <a:latin typeface="Aptos Light" panose="020B0004020202020204" pitchFamily="34" charset="0"/>
                          <a:ea typeface="+mn-ea"/>
                          <a:cs typeface="+mn-cs"/>
                        </a:rPr>
                        <a:t>Consentimiento</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en</a:t>
                      </a:r>
                      <a:r>
                        <a:rPr sz="1500" kern="1200" dirty="0">
                          <a:solidFill>
                            <a:srgbClr val="444A54"/>
                          </a:solidFill>
                          <a:latin typeface="Aptos Light" panose="020B0004020202020204" pitchFamily="34" charset="0"/>
                          <a:ea typeface="+mn-ea"/>
                          <a:cs typeface="+mn-cs"/>
                        </a:rPr>
                        <a:t> la 1ª </a:t>
                      </a:r>
                      <a:r>
                        <a:rPr sz="1500" kern="1200" dirty="0" err="1">
                          <a:solidFill>
                            <a:srgbClr val="444A54"/>
                          </a:solidFill>
                          <a:latin typeface="Aptos Light" panose="020B0004020202020204" pitchFamily="34" charset="0"/>
                          <a:ea typeface="+mn-ea"/>
                          <a:cs typeface="+mn-cs"/>
                        </a:rPr>
                        <a:t>grabación</a:t>
                      </a:r>
                      <a:r>
                        <a:rPr lang="es-ES" sz="1500" kern="1200" dirty="0">
                          <a:solidFill>
                            <a:srgbClr val="444A54"/>
                          </a:solidFill>
                          <a:latin typeface="Aptos Light" panose="020B0004020202020204" pitchFamily="34" charset="0"/>
                          <a:ea typeface="+mn-ea"/>
                          <a:cs typeface="+mn-cs"/>
                        </a:rPr>
                        <a:t>,</a:t>
                      </a:r>
                      <a:r>
                        <a:rPr sz="1500" kern="1200" dirty="0">
                          <a:solidFill>
                            <a:srgbClr val="444A54"/>
                          </a:solidFill>
                          <a:latin typeface="Aptos Light" panose="020B0004020202020204" pitchFamily="34" charset="0"/>
                          <a:ea typeface="+mn-ea"/>
                          <a:cs typeface="+mn-cs"/>
                        </a:rPr>
                        <a:t> sin </a:t>
                      </a:r>
                      <a:r>
                        <a:rPr sz="1500" kern="1200" dirty="0" err="1">
                          <a:solidFill>
                            <a:srgbClr val="444A54"/>
                          </a:solidFill>
                          <a:latin typeface="Aptos Light" panose="020B0004020202020204" pitchFamily="34" charset="0"/>
                          <a:ea typeface="+mn-ea"/>
                          <a:cs typeface="+mn-cs"/>
                        </a:rPr>
                        <a:t>él</a:t>
                      </a:r>
                      <a:r>
                        <a:rPr sz="1500" kern="1200" dirty="0">
                          <a:solidFill>
                            <a:srgbClr val="444A54"/>
                          </a:solidFill>
                          <a:latin typeface="Aptos Light" panose="020B0004020202020204" pitchFamily="34" charset="0"/>
                          <a:ea typeface="+mn-ea"/>
                          <a:cs typeface="+mn-cs"/>
                        </a:rPr>
                        <a:t> no se </a:t>
                      </a:r>
                      <a:r>
                        <a:rPr sz="1500" kern="1200" dirty="0" err="1">
                          <a:solidFill>
                            <a:srgbClr val="444A54"/>
                          </a:solidFill>
                          <a:latin typeface="Aptos Light" panose="020B0004020202020204" pitchFamily="34" charset="0"/>
                          <a:ea typeface="+mn-ea"/>
                          <a:cs typeface="+mn-cs"/>
                        </a:rPr>
                        <a:t>registran</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ejercicios</a:t>
                      </a:r>
                      <a:r>
                        <a:rPr sz="1500" kern="1200" dirty="0">
                          <a:solidFill>
                            <a:srgbClr val="444A54"/>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algn="ctr" defTabSz="457200" rtl="0" eaLnBrk="1" latinLnBrk="0" hangingPunct="1"/>
                      <a:r>
                        <a:rPr sz="1500" kern="1200">
                          <a:solidFill>
                            <a:srgbClr val="444A54"/>
                          </a:solidFill>
                          <a:latin typeface="Aptos Light" panose="020B0004020202020204" pitchFamily="34" charset="0"/>
                          <a:ea typeface="+mn-ea"/>
                          <a:cs typeface="+mn-cs"/>
                        </a:rPr>
                        <a:t>Anonimización / seudonimización (Art. 4.5 · 32)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500" kern="1200" dirty="0">
                          <a:solidFill>
                            <a:srgbClr val="444A54"/>
                          </a:solidFill>
                          <a:latin typeface="Aptos Light" panose="020B0004020202020204" pitchFamily="34" charset="0"/>
                          <a:ea typeface="+mn-ea"/>
                          <a:cs typeface="+mn-cs"/>
                        </a:rPr>
                        <a:t>Mapa </a:t>
                      </a:r>
                      <a:r>
                        <a:rPr sz="1500" kern="1200" dirty="0" err="1">
                          <a:solidFill>
                            <a:srgbClr val="444A54"/>
                          </a:solidFill>
                          <a:latin typeface="Aptos Light" panose="020B0004020202020204" pitchFamily="34" charset="0"/>
                          <a:ea typeface="+mn-ea"/>
                          <a:cs typeface="+mn-cs"/>
                        </a:rPr>
                        <a:t>disociado</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paciente↔pseudónimo</a:t>
                      </a:r>
                      <a:r>
                        <a:rPr sz="1500" kern="1200" dirty="0">
                          <a:solidFill>
                            <a:srgbClr val="444A54"/>
                          </a:solidFill>
                          <a:latin typeface="Aptos Light" panose="020B0004020202020204" pitchFamily="34" charset="0"/>
                          <a:ea typeface="+mn-ea"/>
                          <a:cs typeface="+mn-cs"/>
                        </a:rPr>
                        <a:t> + </a:t>
                      </a:r>
                      <a:r>
                        <a:rPr sz="1500" kern="1200" dirty="0" err="1">
                          <a:solidFill>
                            <a:srgbClr val="444A54"/>
                          </a:solidFill>
                          <a:latin typeface="Aptos Light" panose="020B0004020202020204" pitchFamily="34" charset="0"/>
                          <a:ea typeface="+mn-ea"/>
                          <a:cs typeface="+mn-cs"/>
                        </a:rPr>
                        <a:t>national_id</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cifrado</a:t>
                      </a:r>
                      <a:r>
                        <a:rPr sz="1500" kern="1200" dirty="0">
                          <a:solidFill>
                            <a:srgbClr val="444A54"/>
                          </a:solidFill>
                          <a:latin typeface="Aptos Light" panose="020B0004020202020204" pitchFamily="34" charset="0"/>
                          <a:ea typeface="+mn-ea"/>
                          <a:cs typeface="+mn-cs"/>
                        </a:rPr>
                        <a:t> con Fernet.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5760">
                <a:tc>
                  <a:txBody>
                    <a:bodyPr/>
                    <a:lstStyle/>
                    <a:p>
                      <a:pPr marL="0" algn="ctr" defTabSz="457200" rtl="0" eaLnBrk="1" latinLnBrk="0" hangingPunct="1"/>
                      <a:r>
                        <a:rPr sz="1500" kern="1200">
                          <a:solidFill>
                            <a:srgbClr val="444A54"/>
                          </a:solidFill>
                          <a:latin typeface="Aptos Light" panose="020B0004020202020204" pitchFamily="34" charset="0"/>
                          <a:ea typeface="+mn-ea"/>
                          <a:cs typeface="+mn-cs"/>
                        </a:rPr>
                        <a:t>Control de acceso por rol (Art. 32)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500" kern="1200">
                          <a:solidFill>
                            <a:srgbClr val="444A54"/>
                          </a:solidFill>
                          <a:latin typeface="Aptos Light" panose="020B0004020202020204" pitchFamily="34" charset="0"/>
                          <a:ea typeface="+mn-ea"/>
                          <a:cs typeface="+mn-cs"/>
                        </a:rPr>
                        <a:t>Keycloak restringe el acceso por rol (mínimo privilegio).</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marL="0" algn="ctr" defTabSz="457200" rtl="0" eaLnBrk="1" latinLnBrk="0" hangingPunct="1"/>
                      <a:r>
                        <a:rPr sz="1500" kern="1200" dirty="0" err="1">
                          <a:solidFill>
                            <a:srgbClr val="444A54"/>
                          </a:solidFill>
                          <a:latin typeface="Aptos Light" panose="020B0004020202020204" pitchFamily="34" charset="0"/>
                          <a:ea typeface="+mn-ea"/>
                          <a:cs typeface="+mn-cs"/>
                        </a:rPr>
                        <a:t>Restricción</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por</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usuario</a:t>
                      </a:r>
                      <a:r>
                        <a:rPr sz="1500" kern="1200" dirty="0">
                          <a:solidFill>
                            <a:srgbClr val="444A54"/>
                          </a:solidFill>
                          <a:latin typeface="Aptos Light" panose="020B0004020202020204" pitchFamily="34" charset="0"/>
                          <a:ea typeface="+mn-ea"/>
                          <a:cs typeface="+mn-cs"/>
                        </a:rPr>
                        <a:t> · RLS (Art. 32)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500" kern="1200" dirty="0">
                          <a:solidFill>
                            <a:srgbClr val="444A54"/>
                          </a:solidFill>
                          <a:latin typeface="Aptos Light" panose="020B0004020202020204" pitchFamily="34" charset="0"/>
                          <a:ea typeface="+mn-ea"/>
                          <a:cs typeface="+mn-cs"/>
                        </a:rPr>
                        <a:t>Row-Level Security </a:t>
                      </a:r>
                      <a:r>
                        <a:rPr sz="1500" kern="1200" dirty="0" err="1">
                          <a:solidFill>
                            <a:srgbClr val="444A54"/>
                          </a:solidFill>
                          <a:latin typeface="Aptos Light" panose="020B0004020202020204" pitchFamily="34" charset="0"/>
                          <a:ea typeface="+mn-ea"/>
                          <a:cs typeface="+mn-cs"/>
                        </a:rPr>
                        <a:t>en</a:t>
                      </a:r>
                      <a:r>
                        <a:rPr sz="1500" kern="1200" dirty="0">
                          <a:solidFill>
                            <a:srgbClr val="444A54"/>
                          </a:solidFill>
                          <a:latin typeface="Aptos Light" panose="020B0004020202020204" pitchFamily="34" charset="0"/>
                          <a:ea typeface="+mn-ea"/>
                          <a:cs typeface="+mn-cs"/>
                        </a:rPr>
                        <a:t> Postgres: </a:t>
                      </a:r>
                      <a:r>
                        <a:rPr sz="1500" kern="1200" dirty="0" err="1">
                          <a:solidFill>
                            <a:srgbClr val="444A54"/>
                          </a:solidFill>
                          <a:latin typeface="Aptos Light" panose="020B0004020202020204" pitchFamily="34" charset="0"/>
                          <a:ea typeface="+mn-ea"/>
                          <a:cs typeface="+mn-cs"/>
                        </a:rPr>
                        <a:t>cada</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usuario</a:t>
                      </a:r>
                      <a:r>
                        <a:rPr sz="1500" kern="1200" dirty="0">
                          <a:solidFill>
                            <a:srgbClr val="444A54"/>
                          </a:solidFill>
                          <a:latin typeface="Aptos Light" panose="020B0004020202020204" pitchFamily="34" charset="0"/>
                          <a:ea typeface="+mn-ea"/>
                          <a:cs typeface="+mn-cs"/>
                        </a:rPr>
                        <a:t> solo </a:t>
                      </a:r>
                      <a:r>
                        <a:rPr sz="1500" kern="1200" dirty="0" err="1">
                          <a:solidFill>
                            <a:srgbClr val="444A54"/>
                          </a:solidFill>
                          <a:latin typeface="Aptos Light" panose="020B0004020202020204" pitchFamily="34" charset="0"/>
                          <a:ea typeface="+mn-ea"/>
                          <a:cs typeface="+mn-cs"/>
                        </a:rPr>
                        <a:t>ve</a:t>
                      </a:r>
                      <a:r>
                        <a:rPr sz="1500" kern="1200" dirty="0">
                          <a:solidFill>
                            <a:srgbClr val="444A54"/>
                          </a:solidFill>
                          <a:latin typeface="Aptos Light" panose="020B0004020202020204" pitchFamily="34" charset="0"/>
                          <a:ea typeface="+mn-ea"/>
                          <a:cs typeface="+mn-cs"/>
                        </a:rPr>
                        <a:t> sus </a:t>
                      </a:r>
                      <a:r>
                        <a:rPr sz="1500" kern="1200" dirty="0" err="1">
                          <a:solidFill>
                            <a:srgbClr val="444A54"/>
                          </a:solidFill>
                          <a:latin typeface="Aptos Light" panose="020B0004020202020204" pitchFamily="34" charset="0"/>
                          <a:ea typeface="+mn-ea"/>
                          <a:cs typeface="+mn-cs"/>
                        </a:rPr>
                        <a:t>filas</a:t>
                      </a:r>
                      <a:r>
                        <a:rPr sz="1500" kern="1200" dirty="0">
                          <a:solidFill>
                            <a:srgbClr val="444A54"/>
                          </a:solidFill>
                          <a:latin typeface="Aptos Light" panose="020B0004020202020204" pitchFamily="34" charset="0"/>
                          <a:ea typeface="+mn-ea"/>
                          <a:cs typeface="+mn-cs"/>
                        </a:rPr>
                        <a:t> (no solo </a:t>
                      </a:r>
                      <a:r>
                        <a:rPr sz="1500" kern="1200" dirty="0" err="1">
                          <a:solidFill>
                            <a:srgbClr val="444A54"/>
                          </a:solidFill>
                          <a:latin typeface="Aptos Light" panose="020B0004020202020204" pitchFamily="34" charset="0"/>
                          <a:ea typeface="+mn-ea"/>
                          <a:cs typeface="+mn-cs"/>
                        </a:rPr>
                        <a:t>en</a:t>
                      </a:r>
                      <a:r>
                        <a:rPr sz="1500" kern="1200" dirty="0">
                          <a:solidFill>
                            <a:srgbClr val="444A54"/>
                          </a:solidFill>
                          <a:latin typeface="Aptos Light" panose="020B0004020202020204" pitchFamily="34" charset="0"/>
                          <a:ea typeface="+mn-ea"/>
                          <a:cs typeface="+mn-cs"/>
                        </a:rPr>
                        <a:t> la API).</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5760">
                <a:tc>
                  <a:txBody>
                    <a:bodyPr/>
                    <a:lstStyle/>
                    <a:p>
                      <a:pPr marL="0" algn="ctr" defTabSz="457200" rtl="0" eaLnBrk="1" latinLnBrk="0" hangingPunct="1"/>
                      <a:r>
                        <a:rPr sz="1500" kern="1200" dirty="0">
                          <a:solidFill>
                            <a:srgbClr val="444A54"/>
                          </a:solidFill>
                          <a:latin typeface="Aptos Light" panose="020B0004020202020204" pitchFamily="34" charset="0"/>
                          <a:ea typeface="+mn-ea"/>
                          <a:cs typeface="+mn-cs"/>
                        </a:rPr>
                        <a:t>Registro de </a:t>
                      </a:r>
                      <a:r>
                        <a:rPr sz="1500" kern="1200" dirty="0" err="1">
                          <a:solidFill>
                            <a:srgbClr val="444A54"/>
                          </a:solidFill>
                          <a:latin typeface="Aptos Light" panose="020B0004020202020204" pitchFamily="34" charset="0"/>
                          <a:ea typeface="+mn-ea"/>
                          <a:cs typeface="+mn-cs"/>
                        </a:rPr>
                        <a:t>auditoría</a:t>
                      </a:r>
                      <a:r>
                        <a:rPr sz="1500" kern="1200" dirty="0">
                          <a:solidFill>
                            <a:srgbClr val="444A54"/>
                          </a:solidFill>
                          <a:latin typeface="Aptos Light" panose="020B0004020202020204" pitchFamily="34" charset="0"/>
                          <a:ea typeface="+mn-ea"/>
                          <a:cs typeface="+mn-cs"/>
                        </a:rPr>
                        <a:t> (Art. 5.2)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500" kern="1200" dirty="0" err="1">
                          <a:solidFill>
                            <a:srgbClr val="444A54"/>
                          </a:solidFill>
                          <a:latin typeface="Aptos Light" panose="020B0004020202020204" pitchFamily="34" charset="0"/>
                          <a:ea typeface="+mn-ea"/>
                          <a:cs typeface="+mn-cs"/>
                        </a:rPr>
                        <a:t>AuditMiddleware</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registra</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quién</a:t>
                      </a:r>
                      <a:r>
                        <a:rPr sz="1500" kern="1200" dirty="0">
                          <a:solidFill>
                            <a:srgbClr val="444A54"/>
                          </a:solidFill>
                          <a:latin typeface="Aptos Light" panose="020B0004020202020204" pitchFamily="34" charset="0"/>
                          <a:ea typeface="+mn-ea"/>
                          <a:cs typeface="+mn-cs"/>
                        </a:rPr>
                        <a:t>/</a:t>
                      </a:r>
                      <a:r>
                        <a:rPr sz="1500" kern="1200" dirty="0" err="1">
                          <a:solidFill>
                            <a:srgbClr val="444A54"/>
                          </a:solidFill>
                          <a:latin typeface="Aptos Light" panose="020B0004020202020204" pitchFamily="34" charset="0"/>
                          <a:ea typeface="+mn-ea"/>
                          <a:cs typeface="+mn-cs"/>
                        </a:rPr>
                        <a:t>qué</a:t>
                      </a:r>
                      <a:r>
                        <a:rPr sz="1500" kern="1200" dirty="0">
                          <a:solidFill>
                            <a:srgbClr val="444A54"/>
                          </a:solidFill>
                          <a:latin typeface="Aptos Light" panose="020B0004020202020204" pitchFamily="34" charset="0"/>
                          <a:ea typeface="+mn-ea"/>
                          <a:cs typeface="+mn-cs"/>
                        </a:rPr>
                        <a:t>/</a:t>
                      </a:r>
                      <a:r>
                        <a:rPr sz="1500" kern="1200" dirty="0" err="1">
                          <a:solidFill>
                            <a:srgbClr val="444A54"/>
                          </a:solidFill>
                          <a:latin typeface="Aptos Light" panose="020B0004020202020204" pitchFamily="34" charset="0"/>
                          <a:ea typeface="+mn-ea"/>
                          <a:cs typeface="+mn-cs"/>
                        </a:rPr>
                        <a:t>cuándo</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en</a:t>
                      </a:r>
                      <a:r>
                        <a:rPr sz="1500" kern="1200" dirty="0">
                          <a:solidFill>
                            <a:srgbClr val="444A54"/>
                          </a:solidFill>
                          <a:latin typeface="Aptos Light" panose="020B0004020202020204" pitchFamily="34" charset="0"/>
                          <a:ea typeface="+mn-ea"/>
                          <a:cs typeface="+mn-cs"/>
                        </a:rPr>
                        <a:t> </a:t>
                      </a:r>
                      <a:r>
                        <a:rPr sz="1500" kern="1200" dirty="0" err="1">
                          <a:solidFill>
                            <a:srgbClr val="444A54"/>
                          </a:solidFill>
                          <a:latin typeface="Aptos Light" panose="020B0004020202020204" pitchFamily="34" charset="0"/>
                          <a:ea typeface="+mn-ea"/>
                          <a:cs typeface="+mn-cs"/>
                        </a:rPr>
                        <a:t>audit.event_log</a:t>
                      </a:r>
                      <a:r>
                        <a:rPr lang="es-ES" sz="1500" kern="1200" dirty="0">
                          <a:solidFill>
                            <a:srgbClr val="444A54"/>
                          </a:solidFill>
                          <a:latin typeface="Aptos Light" panose="020B0004020202020204" pitchFamily="34" charset="0"/>
                          <a:ea typeface="+mn-ea"/>
                          <a:cs typeface="+mn-cs"/>
                        </a:rPr>
                        <a:t>,</a:t>
                      </a:r>
                      <a:r>
                        <a:rPr sz="1500" kern="1200" dirty="0">
                          <a:solidFill>
                            <a:srgbClr val="444A54"/>
                          </a:solidFill>
                          <a:latin typeface="Aptos Light" panose="020B0004020202020204" pitchFamily="34" charset="0"/>
                          <a:ea typeface="+mn-ea"/>
                          <a:cs typeface="+mn-cs"/>
                        </a:rPr>
                        <a:t> solo el admin lo lee.</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65760">
                <a:tc>
                  <a:txBody>
                    <a:bodyPr/>
                    <a:lstStyle/>
                    <a:p>
                      <a:pPr marL="0" algn="ctr" defTabSz="457200" rtl="0" eaLnBrk="1" latinLnBrk="0" hangingPunct="1"/>
                      <a:r>
                        <a:rPr sz="1500" kern="1200">
                          <a:solidFill>
                            <a:srgbClr val="444A54"/>
                          </a:solidFill>
                          <a:latin typeface="Aptos Light" panose="020B0004020202020204" pitchFamily="34" charset="0"/>
                          <a:ea typeface="+mn-ea"/>
                          <a:cs typeface="+mn-cs"/>
                        </a:rPr>
                        <a:t>Hosting solo en Europa (Art. 44-46)</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500" kern="1200" dirty="0" err="1">
                          <a:solidFill>
                            <a:srgbClr val="444A54"/>
                          </a:solidFill>
                          <a:latin typeface="Aptos Light" panose="020B0004020202020204" pitchFamily="34" charset="0"/>
                          <a:ea typeface="+mn-ea"/>
                          <a:cs typeface="+mn-cs"/>
                        </a:rPr>
                        <a:t>Despliegue</a:t>
                      </a:r>
                      <a:r>
                        <a:rPr sz="1500" kern="1200" dirty="0">
                          <a:solidFill>
                            <a:srgbClr val="444A54"/>
                          </a:solidFill>
                          <a:latin typeface="Aptos Light" panose="020B0004020202020204" pitchFamily="34" charset="0"/>
                          <a:ea typeface="+mn-ea"/>
                          <a:cs typeface="+mn-cs"/>
                        </a:rPr>
                        <a:t> cloud </a:t>
                      </a:r>
                      <a:r>
                        <a:rPr sz="1500" kern="1200" dirty="0" err="1">
                          <a:solidFill>
                            <a:srgbClr val="444A54"/>
                          </a:solidFill>
                          <a:latin typeface="Aptos Light" panose="020B0004020202020204" pitchFamily="34" charset="0"/>
                          <a:ea typeface="+mn-ea"/>
                          <a:cs typeface="+mn-cs"/>
                        </a:rPr>
                        <a:t>restringido</a:t>
                      </a:r>
                      <a:r>
                        <a:rPr sz="1500" kern="1200" dirty="0">
                          <a:solidFill>
                            <a:srgbClr val="444A54"/>
                          </a:solidFill>
                          <a:latin typeface="Aptos Light" panose="020B0004020202020204" pitchFamily="34" charset="0"/>
                          <a:ea typeface="+mn-ea"/>
                          <a:cs typeface="+mn-cs"/>
                        </a:rPr>
                        <a:t> a </a:t>
                      </a:r>
                      <a:r>
                        <a:rPr sz="1500" kern="1200" dirty="0" err="1">
                          <a:solidFill>
                            <a:srgbClr val="444A54"/>
                          </a:solidFill>
                          <a:latin typeface="Aptos Light" panose="020B0004020202020204" pitchFamily="34" charset="0"/>
                          <a:ea typeface="+mn-ea"/>
                          <a:cs typeface="+mn-cs"/>
                        </a:rPr>
                        <a:t>proveedores</a:t>
                      </a:r>
                      <a:r>
                        <a:rPr sz="1500" kern="1200" dirty="0">
                          <a:solidFill>
                            <a:srgbClr val="444A54"/>
                          </a:solidFill>
                          <a:latin typeface="Aptos Light" panose="020B0004020202020204" pitchFamily="34" charset="0"/>
                          <a:ea typeface="+mn-ea"/>
                          <a:cs typeface="+mn-cs"/>
                        </a:rPr>
                        <a:t> y regiones </a:t>
                      </a:r>
                      <a:r>
                        <a:rPr sz="1500" kern="1200" dirty="0" err="1">
                          <a:solidFill>
                            <a:srgbClr val="444A54"/>
                          </a:solidFill>
                          <a:latin typeface="Aptos Light" panose="020B0004020202020204" pitchFamily="34" charset="0"/>
                          <a:ea typeface="+mn-ea"/>
                          <a:cs typeface="+mn-cs"/>
                        </a:rPr>
                        <a:t>europeas</a:t>
                      </a:r>
                      <a:r>
                        <a:rPr sz="1500" kern="1200" dirty="0">
                          <a:solidFill>
                            <a:srgbClr val="444A54"/>
                          </a:solidFill>
                          <a:latin typeface="Aptos Light" panose="020B0004020202020204" pitchFamily="34" charset="0"/>
                          <a:ea typeface="+mn-ea"/>
                          <a:cs typeface="+mn-cs"/>
                        </a:rPr>
                        <a:t> (EEE).</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56032"/>
            <a:ext cx="548640" cy="54864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5</a:t>
            </a:r>
          </a:p>
        </p:txBody>
      </p:sp>
      <p:sp>
        <p:nvSpPr>
          <p:cNvPr id="4" name="TextBox 3"/>
          <p:cNvSpPr txBox="1"/>
          <p:nvPr/>
        </p:nvSpPr>
        <p:spPr>
          <a:xfrm>
            <a:off x="1188720" y="314462"/>
            <a:ext cx="10515600" cy="523220"/>
          </a:xfrm>
          <a:prstGeom prst="rect">
            <a:avLst/>
          </a:prstGeom>
          <a:noFill/>
        </p:spPr>
        <p:txBody>
          <a:bodyPr wrap="square" anchor="ctr">
            <a:spAutoFit/>
          </a:bodyPr>
          <a:lstStyle/>
          <a:p>
            <a:pPr algn="l">
              <a:spcAft>
                <a:spcPts val="600"/>
              </a:spcAft>
            </a:pPr>
            <a:r>
              <a:rPr sz="2800" b="1" dirty="0" err="1">
                <a:solidFill>
                  <a:srgbClr val="FFFFFF"/>
                </a:solidFill>
                <a:latin typeface="Aptos Light" panose="020B0004020202020204" pitchFamily="34" charset="0"/>
              </a:rPr>
              <a:t>Despliegue</a:t>
            </a:r>
            <a:endParaRPr sz="2800" b="1" dirty="0">
              <a:solidFill>
                <a:srgbClr val="FFFFFF"/>
              </a:solidFill>
              <a:latin typeface="Aptos Light" panose="020B00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837407077"/>
              </p:ext>
            </p:extLst>
          </p:nvPr>
        </p:nvGraphicFramePr>
        <p:xfrm>
          <a:off x="457200" y="1170428"/>
          <a:ext cx="5577840" cy="12801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365760">
                <a:tc>
                  <a:txBody>
                    <a:bodyPr/>
                    <a:lstStyle/>
                    <a:p>
                      <a:pPr marL="0" algn="ctr" defTabSz="457200" rtl="0" eaLnBrk="1" latinLnBrk="0" hangingPunct="1"/>
                      <a:r>
                        <a:rPr sz="1600" b="1" kern="1200" dirty="0" err="1">
                          <a:solidFill>
                            <a:srgbClr val="FFFFFF"/>
                          </a:solidFill>
                          <a:latin typeface="Aptos Light" panose="020B0004020202020204" pitchFamily="34" charset="0"/>
                          <a:ea typeface="+mn-ea"/>
                          <a:cs typeface="+mn-cs"/>
                        </a:rPr>
                        <a:t>Entorno</a:t>
                      </a:r>
                      <a:endParaRPr sz="1600" b="1" kern="1200" dirty="0">
                        <a:solidFill>
                          <a:srgbClr val="FFFFFF"/>
                        </a:solidFill>
                        <a:latin typeface="Aptos Light" panose="020B0004020202020204" pitchFamily="34" charset="0"/>
                        <a:ea typeface="+mn-ea"/>
                        <a:cs typeface="+mn-cs"/>
                      </a:endParaRP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457200" rtl="0" eaLnBrk="1" latinLnBrk="0" hangingPunct="1"/>
                      <a:r>
                        <a:rPr sz="1600" b="1" kern="1200" dirty="0" err="1">
                          <a:solidFill>
                            <a:srgbClr val="FFFFFF"/>
                          </a:solidFill>
                          <a:latin typeface="Aptos Light" panose="020B0004020202020204" pitchFamily="34" charset="0"/>
                          <a:ea typeface="+mn-ea"/>
                          <a:cs typeface="+mn-cs"/>
                        </a:rPr>
                        <a:t>Herramienta</a:t>
                      </a:r>
                      <a:endParaRPr sz="1600" b="1" kern="1200" dirty="0">
                        <a:solidFill>
                          <a:srgbClr val="FFFFFF"/>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65760">
                <a:tc>
                  <a:txBody>
                    <a:bodyPr/>
                    <a:lstStyle/>
                    <a:p>
                      <a:pPr algn="ctr"/>
                      <a:r>
                        <a:rPr sz="1500" kern="1200">
                          <a:solidFill>
                            <a:srgbClr val="444A54"/>
                          </a:solidFill>
                          <a:latin typeface="Aptos Light" panose="020B0004020202020204" pitchFamily="34" charset="0"/>
                          <a:ea typeface="+mn-ea"/>
                          <a:cs typeface="+mn-cs"/>
                        </a:rPr>
                        <a:t>Local</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sz="1500" kern="1200" dirty="0">
                          <a:solidFill>
                            <a:srgbClr val="444A54"/>
                          </a:solidFill>
                          <a:latin typeface="Aptos Light" panose="020B0004020202020204" pitchFamily="34" charset="0"/>
                          <a:ea typeface="+mn-ea"/>
                          <a:cs typeface="+mn-cs"/>
                        </a:rPr>
                        <a:t>Docker (</a:t>
                      </a:r>
                      <a:r>
                        <a:rPr sz="1500" kern="1200" dirty="0" err="1">
                          <a:solidFill>
                            <a:srgbClr val="444A54"/>
                          </a:solidFill>
                          <a:latin typeface="Aptos Light" panose="020B0004020202020204" pitchFamily="34" charset="0"/>
                          <a:ea typeface="+mn-ea"/>
                          <a:cs typeface="+mn-cs"/>
                        </a:rPr>
                        <a:t>contenedores</a:t>
                      </a:r>
                      <a:r>
                        <a:rPr sz="1500" kern="1200" dirty="0">
                          <a:solidFill>
                            <a:srgbClr val="444A54"/>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65760">
                <a:tc>
                  <a:txBody>
                    <a:bodyPr/>
                    <a:lstStyle/>
                    <a:p>
                      <a:pPr algn="ctr"/>
                      <a:r>
                        <a:rPr sz="1500" kern="1200">
                          <a:solidFill>
                            <a:srgbClr val="444A54"/>
                          </a:solidFill>
                          <a:latin typeface="Aptos Light" panose="020B0004020202020204" pitchFamily="34" charset="0"/>
                          <a:ea typeface="+mn-ea"/>
                          <a:cs typeface="+mn-cs"/>
                        </a:rPr>
                        <a:t>Cloud</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sz="1500" kern="1200" dirty="0">
                          <a:solidFill>
                            <a:srgbClr val="444A54"/>
                          </a:solidFill>
                          <a:latin typeface="Aptos Light" panose="020B0004020202020204" pitchFamily="34" charset="0"/>
                          <a:ea typeface="+mn-ea"/>
                          <a:cs typeface="+mn-cs"/>
                        </a:rPr>
                        <a:t>Terraform (</a:t>
                      </a:r>
                      <a:r>
                        <a:rPr sz="1500" kern="1200" dirty="0" err="1">
                          <a:solidFill>
                            <a:srgbClr val="444A54"/>
                          </a:solidFill>
                          <a:latin typeface="Aptos Light" panose="020B0004020202020204" pitchFamily="34" charset="0"/>
                          <a:ea typeface="+mn-ea"/>
                          <a:cs typeface="+mn-cs"/>
                        </a:rPr>
                        <a:t>IaC</a:t>
                      </a:r>
                      <a:r>
                        <a:rPr sz="1500" kern="1200" dirty="0">
                          <a:solidFill>
                            <a:srgbClr val="444A54"/>
                          </a:solidFill>
                          <a:latin typeface="Aptos Light" panose="020B0004020202020204" pitchFamily="34" charset="0"/>
                          <a:ea typeface="+mn-ea"/>
                          <a:cs typeface="+mn-cs"/>
                        </a:rPr>
                        <a:t>, </a:t>
                      </a:r>
                      <a:r>
                        <a:rPr lang="es-ES" sz="1500" kern="1200" dirty="0">
                          <a:solidFill>
                            <a:srgbClr val="444A54"/>
                          </a:solidFill>
                          <a:latin typeface="Aptos Light" panose="020B0004020202020204" pitchFamily="34" charset="0"/>
                          <a:ea typeface="+mn-ea"/>
                          <a:cs typeface="+mn-cs"/>
                        </a:rPr>
                        <a:t>Hetzner Núremberg, sólo Europa por GDPR</a:t>
                      </a:r>
                      <a:r>
                        <a:rPr sz="1500" kern="1200" dirty="0">
                          <a:solidFill>
                            <a:srgbClr val="444A54"/>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pic>
        <p:nvPicPr>
          <p:cNvPr id="9" name="Imagen 8">
            <a:extLst>
              <a:ext uri="{FF2B5EF4-FFF2-40B4-BE49-F238E27FC236}">
                <a16:creationId xmlns:a16="http://schemas.microsoft.com/office/drawing/2014/main" id="{765D2E68-75C2-ECDB-806B-AD3FBACB6656}"/>
              </a:ext>
            </a:extLst>
          </p:cNvPr>
          <p:cNvPicPr>
            <a:picLocks noChangeAspect="1"/>
          </p:cNvPicPr>
          <p:nvPr/>
        </p:nvPicPr>
        <p:blipFill>
          <a:blip r:embed="rId3"/>
          <a:stretch>
            <a:fillRect/>
          </a:stretch>
        </p:blipFill>
        <p:spPr>
          <a:xfrm>
            <a:off x="7082734" y="1170428"/>
            <a:ext cx="3716811" cy="3060533"/>
          </a:xfrm>
          <a:prstGeom prst="rect">
            <a:avLst/>
          </a:prstGeom>
        </p:spPr>
      </p:pic>
      <p:graphicFrame>
        <p:nvGraphicFramePr>
          <p:cNvPr id="12" name="Table 5">
            <a:extLst>
              <a:ext uri="{FF2B5EF4-FFF2-40B4-BE49-F238E27FC236}">
                <a16:creationId xmlns:a16="http://schemas.microsoft.com/office/drawing/2014/main" id="{E4880AD3-C5F5-5AAB-AB06-7FF93ADE3871}"/>
              </a:ext>
            </a:extLst>
          </p:cNvPr>
          <p:cNvGraphicFramePr>
            <a:graphicFrameLocks noGrp="1"/>
          </p:cNvGraphicFramePr>
          <p:nvPr>
            <p:extLst>
              <p:ext uri="{D42A27DB-BD31-4B8C-83A1-F6EECF244321}">
                <p14:modId xmlns:p14="http://schemas.microsoft.com/office/powerpoint/2010/main" val="1197153778"/>
              </p:ext>
            </p:extLst>
          </p:nvPr>
        </p:nvGraphicFramePr>
        <p:xfrm>
          <a:off x="446777" y="4427624"/>
          <a:ext cx="11247120" cy="2178446"/>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282733">
                <a:tc>
                  <a:txBody>
                    <a:bodyPr/>
                    <a:lstStyle/>
                    <a:p>
                      <a:pPr marL="0" algn="ctr" defTabSz="457200" rtl="0" eaLnBrk="1" latinLnBrk="0" hangingPunct="1"/>
                      <a:r>
                        <a:rPr lang="es-ES" sz="1600" b="1" kern="1200" dirty="0">
                          <a:solidFill>
                            <a:srgbClr val="FFFFFF"/>
                          </a:solidFill>
                          <a:latin typeface="Aptos Light" panose="020B0004020202020204" pitchFamily="34" charset="0"/>
                          <a:ea typeface="+mn-ea"/>
                          <a:cs typeface="+mn-cs"/>
                        </a:rPr>
                        <a:t>Control</a:t>
                      </a:r>
                      <a:endParaRPr sz="1600" b="1" kern="1200" dirty="0">
                        <a:solidFill>
                          <a:srgbClr val="FFFFFF"/>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2"/>
                    </a:solidFill>
                  </a:tcPr>
                </a:tc>
                <a:tc>
                  <a:txBody>
                    <a:bodyPr/>
                    <a:lstStyle/>
                    <a:p>
                      <a:pPr marL="0" algn="ctr" defTabSz="457200" rtl="0" eaLnBrk="1" latinLnBrk="0" hangingPunct="1"/>
                      <a:r>
                        <a:rPr lang="es-ES" sz="1600" b="1" kern="1200" dirty="0">
                          <a:solidFill>
                            <a:srgbClr val="FFFFFF"/>
                          </a:solidFill>
                          <a:latin typeface="Aptos Light" panose="020B0004020202020204" pitchFamily="34" charset="0"/>
                          <a:ea typeface="+mn-ea"/>
                          <a:cs typeface="+mn-cs"/>
                        </a:rPr>
                        <a:t>¿</a:t>
                      </a:r>
                      <a:r>
                        <a:rPr sz="1600" b="1" kern="1200" dirty="0" err="1">
                          <a:solidFill>
                            <a:srgbClr val="FFFFFF"/>
                          </a:solidFill>
                          <a:latin typeface="Aptos Light" panose="020B0004020202020204" pitchFamily="34" charset="0"/>
                          <a:ea typeface="+mn-ea"/>
                          <a:cs typeface="+mn-cs"/>
                        </a:rPr>
                        <a:t>Cómo</a:t>
                      </a:r>
                      <a:r>
                        <a:rPr sz="1600" b="1" kern="1200" dirty="0">
                          <a:solidFill>
                            <a:srgbClr val="FFFFFF"/>
                          </a:solidFill>
                          <a:latin typeface="Aptos Light" panose="020B0004020202020204" pitchFamily="34" charset="0"/>
                          <a:ea typeface="+mn-ea"/>
                          <a:cs typeface="+mn-cs"/>
                        </a:rPr>
                        <a:t> se ha </a:t>
                      </a:r>
                      <a:r>
                        <a:rPr sz="1600" b="1" kern="1200" dirty="0" err="1">
                          <a:solidFill>
                            <a:srgbClr val="FFFFFF"/>
                          </a:solidFill>
                          <a:latin typeface="Aptos Light" panose="020B0004020202020204" pitchFamily="34" charset="0"/>
                          <a:ea typeface="+mn-ea"/>
                          <a:cs typeface="+mn-cs"/>
                        </a:rPr>
                        <a:t>implementado</a:t>
                      </a:r>
                      <a:r>
                        <a:rPr lang="es-ES" sz="1600" b="1" kern="1200" dirty="0">
                          <a:solidFill>
                            <a:srgbClr val="FFFFFF"/>
                          </a:solidFill>
                          <a:latin typeface="Aptos Light" panose="020B0004020202020204" pitchFamily="34" charset="0"/>
                          <a:ea typeface="+mn-ea"/>
                          <a:cs typeface="+mn-cs"/>
                        </a:rPr>
                        <a:t>?</a:t>
                      </a:r>
                      <a:endParaRPr sz="1600" b="1" kern="1200" dirty="0">
                        <a:solidFill>
                          <a:srgbClr val="FFFFFF"/>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62654">
                <a:tc>
                  <a:txBody>
                    <a:bodyPr/>
                    <a:lstStyle/>
                    <a:p>
                      <a:pPr marL="0" algn="ctr" defTabSz="457200" rtl="0" eaLnBrk="1" latinLnBrk="0" hangingPunct="1"/>
                      <a:r>
                        <a:rPr lang="es-ES" sz="1500" kern="1200" dirty="0">
                          <a:solidFill>
                            <a:srgbClr val="444A54"/>
                          </a:solidFill>
                          <a:latin typeface="Aptos Light" panose="020B0004020202020204" pitchFamily="34" charset="0"/>
                          <a:ea typeface="+mn-ea"/>
                          <a:cs typeface="+mn-cs"/>
                        </a:rPr>
                        <a:t>Defensa en profundidad</a:t>
                      </a:r>
                      <a:endParaRPr sz="1500" kern="1200" dirty="0">
                        <a:solidFill>
                          <a:srgbClr val="444A54"/>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500" kern="1200" dirty="0">
                          <a:solidFill>
                            <a:srgbClr val="444A54"/>
                          </a:solidFill>
                          <a:latin typeface="Aptos Light" panose="020B0004020202020204" pitchFamily="34" charset="0"/>
                          <a:ea typeface="+mn-ea"/>
                          <a:cs typeface="+mn-cs"/>
                        </a:rPr>
                        <a:t>Sin IP pública y además firewall: 8000/8080/9000 sólo desde 10.0.1.10/32. </a:t>
                      </a:r>
                    </a:p>
                    <a:p>
                      <a:pPr marL="0" algn="just" defTabSz="457200" rtl="0" eaLnBrk="1" latinLnBrk="0" hangingPunct="1"/>
                      <a:r>
                        <a:rPr lang="es-ES" sz="1500" kern="1200" dirty="0">
                          <a:solidFill>
                            <a:srgbClr val="444A54"/>
                          </a:solidFill>
                          <a:latin typeface="Aptos Light" panose="020B0004020202020204" pitchFamily="34" charset="0"/>
                          <a:ea typeface="+mn-ea"/>
                          <a:cs typeface="+mn-cs"/>
                        </a:rPr>
                        <a:t>Las dos capas deben fallar a la vez.</a:t>
                      </a:r>
                      <a:endParaRPr sz="1500" kern="1200" dirty="0">
                        <a:solidFill>
                          <a:srgbClr val="444A54"/>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62654">
                <a:tc>
                  <a:txBody>
                    <a:bodyPr/>
                    <a:lstStyle/>
                    <a:p>
                      <a:pPr marL="0" algn="ctr" defTabSz="457200" rtl="0" eaLnBrk="1" latinLnBrk="0" hangingPunct="1"/>
                      <a:r>
                        <a:rPr lang="es-ES" sz="1500" kern="1200" dirty="0">
                          <a:solidFill>
                            <a:srgbClr val="444A54"/>
                          </a:solidFill>
                          <a:latin typeface="Aptos Light" panose="020B0004020202020204" pitchFamily="34" charset="0"/>
                          <a:ea typeface="+mn-ea"/>
                          <a:cs typeface="+mn-cs"/>
                        </a:rPr>
                        <a:t>Secretos</a:t>
                      </a:r>
                      <a:endParaRPr sz="1500" kern="1200" dirty="0">
                        <a:solidFill>
                          <a:srgbClr val="444A54"/>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500" kern="1200" dirty="0">
                          <a:solidFill>
                            <a:srgbClr val="444A54"/>
                          </a:solidFill>
                          <a:latin typeface="Aptos Light" panose="020B0004020202020204" pitchFamily="34" charset="0"/>
                          <a:ea typeface="+mn-ea"/>
                          <a:cs typeface="+mn-cs"/>
                        </a:rPr>
                        <a:t>19 credenciales (incl. </a:t>
                      </a:r>
                      <a:r>
                        <a:rPr lang="es-ES" sz="1500" kern="1200" dirty="0" err="1">
                          <a:solidFill>
                            <a:srgbClr val="444A54"/>
                          </a:solidFill>
                          <a:latin typeface="Aptos Light" panose="020B0004020202020204" pitchFamily="34" charset="0"/>
                          <a:ea typeface="+mn-ea"/>
                          <a:cs typeface="+mn-cs"/>
                        </a:rPr>
                        <a:t>passphrase</a:t>
                      </a:r>
                      <a:r>
                        <a:rPr lang="es-ES" sz="1500" kern="1200" dirty="0">
                          <a:solidFill>
                            <a:srgbClr val="444A54"/>
                          </a:solidFill>
                          <a:latin typeface="Aptos Light" panose="020B0004020202020204" pitchFamily="34" charset="0"/>
                          <a:ea typeface="+mn-ea"/>
                          <a:cs typeface="+mn-cs"/>
                        </a:rPr>
                        <a:t> LUKS) cifradas con SOPS/</a:t>
                      </a:r>
                      <a:r>
                        <a:rPr lang="es-ES" sz="1500" kern="1200" dirty="0" err="1">
                          <a:solidFill>
                            <a:srgbClr val="444A54"/>
                          </a:solidFill>
                          <a:latin typeface="Aptos Light" panose="020B0004020202020204" pitchFamily="34" charset="0"/>
                          <a:ea typeface="+mn-ea"/>
                          <a:cs typeface="+mn-cs"/>
                        </a:rPr>
                        <a:t>age</a:t>
                      </a:r>
                      <a:r>
                        <a:rPr lang="es-ES" sz="1500" kern="1200" dirty="0">
                          <a:solidFill>
                            <a:srgbClr val="444A54"/>
                          </a:solidFill>
                          <a:latin typeface="Aptos Light" panose="020B0004020202020204" pitchFamily="34" charset="0"/>
                          <a:ea typeface="+mn-ea"/>
                          <a:cs typeface="+mn-cs"/>
                        </a:rPr>
                        <a:t>. Se descifran en RAM, nunca a disco.</a:t>
                      </a:r>
                      <a:endParaRPr sz="1500" kern="1200" dirty="0">
                        <a:solidFill>
                          <a:srgbClr val="444A54"/>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45886">
                <a:tc>
                  <a:txBody>
                    <a:bodyPr/>
                    <a:lstStyle/>
                    <a:p>
                      <a:pPr marL="0" algn="ctr" defTabSz="457200" rtl="0" eaLnBrk="1" latinLnBrk="0" hangingPunct="1"/>
                      <a:r>
                        <a:rPr lang="es-ES" sz="1500" kern="1200" dirty="0">
                          <a:solidFill>
                            <a:srgbClr val="444A54"/>
                          </a:solidFill>
                          <a:latin typeface="Aptos Light" panose="020B0004020202020204" pitchFamily="34" charset="0"/>
                          <a:ea typeface="+mn-ea"/>
                          <a:cs typeface="+mn-cs"/>
                        </a:rPr>
                        <a:t>Tres capas </a:t>
                      </a:r>
                      <a:r>
                        <a:rPr lang="es-ES" sz="1500" kern="1200" dirty="0" err="1">
                          <a:solidFill>
                            <a:srgbClr val="444A54"/>
                          </a:solidFill>
                          <a:latin typeface="Aptos Light" panose="020B0004020202020204" pitchFamily="34" charset="0"/>
                          <a:ea typeface="+mn-ea"/>
                          <a:cs typeface="+mn-cs"/>
                        </a:rPr>
                        <a:t>Terraform</a:t>
                      </a:r>
                      <a:endParaRPr sz="1500" kern="1200" dirty="0">
                        <a:solidFill>
                          <a:srgbClr val="444A54"/>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500" kern="1200" dirty="0" err="1">
                          <a:solidFill>
                            <a:srgbClr val="444A54"/>
                          </a:solidFill>
                          <a:latin typeface="Aptos Light" panose="020B0004020202020204" pitchFamily="34" charset="0"/>
                          <a:ea typeface="+mn-ea"/>
                          <a:cs typeface="+mn-cs"/>
                        </a:rPr>
                        <a:t>persistent</a:t>
                      </a:r>
                      <a:r>
                        <a:rPr lang="es-ES" sz="1500" kern="1200" dirty="0">
                          <a:solidFill>
                            <a:srgbClr val="444A54"/>
                          </a:solidFill>
                          <a:latin typeface="Aptos Light" panose="020B0004020202020204" pitchFamily="34" charset="0"/>
                          <a:ea typeface="+mn-ea"/>
                          <a:cs typeface="+mn-cs"/>
                        </a:rPr>
                        <a:t> (datos, IP) · </a:t>
                      </a:r>
                      <a:r>
                        <a:rPr lang="es-ES" sz="1500" kern="1200" dirty="0" err="1">
                          <a:solidFill>
                            <a:srgbClr val="444A54"/>
                          </a:solidFill>
                          <a:latin typeface="Aptos Light" panose="020B0004020202020204" pitchFamily="34" charset="0"/>
                          <a:ea typeface="+mn-ea"/>
                          <a:cs typeface="+mn-cs"/>
                        </a:rPr>
                        <a:t>edge</a:t>
                      </a:r>
                      <a:r>
                        <a:rPr lang="es-ES" sz="1500" kern="1200" dirty="0">
                          <a:solidFill>
                            <a:srgbClr val="444A54"/>
                          </a:solidFill>
                          <a:latin typeface="Aptos Light" panose="020B0004020202020204" pitchFamily="34" charset="0"/>
                          <a:ea typeface="+mn-ea"/>
                          <a:cs typeface="+mn-cs"/>
                        </a:rPr>
                        <a:t> (siempre activa) · </a:t>
                      </a:r>
                      <a:r>
                        <a:rPr lang="es-ES" sz="1500" kern="1200" dirty="0" err="1">
                          <a:solidFill>
                            <a:srgbClr val="444A54"/>
                          </a:solidFill>
                          <a:latin typeface="Aptos Light" panose="020B0004020202020204" pitchFamily="34" charset="0"/>
                          <a:ea typeface="+mn-ea"/>
                          <a:cs typeface="+mn-cs"/>
                        </a:rPr>
                        <a:t>stack</a:t>
                      </a:r>
                      <a:r>
                        <a:rPr lang="es-ES" sz="1500" kern="1200" dirty="0">
                          <a:solidFill>
                            <a:srgbClr val="444A54"/>
                          </a:solidFill>
                          <a:latin typeface="Aptos Light" panose="020B0004020202020204" pitchFamily="34" charset="0"/>
                          <a:ea typeface="+mn-ea"/>
                          <a:cs typeface="+mn-cs"/>
                        </a:rPr>
                        <a:t> (efímera). Destruir la aplicación sin perder los datos.</a:t>
                      </a:r>
                      <a:endParaRPr sz="1500" kern="1200" dirty="0">
                        <a:solidFill>
                          <a:srgbClr val="444A54"/>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56032"/>
            <a:ext cx="548640" cy="54864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6</a:t>
            </a:r>
          </a:p>
        </p:txBody>
      </p:sp>
      <p:sp>
        <p:nvSpPr>
          <p:cNvPr id="4" name="TextBox 3"/>
          <p:cNvSpPr txBox="1"/>
          <p:nvPr/>
        </p:nvSpPr>
        <p:spPr>
          <a:xfrm>
            <a:off x="1188720" y="314462"/>
            <a:ext cx="10515600" cy="523220"/>
          </a:xfrm>
          <a:prstGeom prst="rect">
            <a:avLst/>
          </a:prstGeom>
          <a:noFill/>
        </p:spPr>
        <p:txBody>
          <a:bodyPr wrap="square" anchor="ctr">
            <a:spAutoFit/>
          </a:bodyPr>
          <a:lstStyle/>
          <a:p>
            <a:pPr algn="l">
              <a:spcAft>
                <a:spcPts val="600"/>
              </a:spcAft>
            </a:pPr>
            <a:r>
              <a:rPr lang="es-ES" sz="2800" b="1" dirty="0">
                <a:solidFill>
                  <a:srgbClr val="FFFFFF"/>
                </a:solidFill>
                <a:latin typeface="Aptos Light" panose="020B0004020202020204" pitchFamily="34" charset="0"/>
              </a:rPr>
              <a:t>¿</a:t>
            </a:r>
            <a:r>
              <a:rPr sz="2800" b="1" dirty="0" err="1">
                <a:solidFill>
                  <a:srgbClr val="FFFFFF"/>
                </a:solidFill>
                <a:latin typeface="Aptos Light" panose="020B0004020202020204" pitchFamily="34" charset="0"/>
              </a:rPr>
              <a:t>Cómo</a:t>
            </a:r>
            <a:r>
              <a:rPr sz="2800" b="1" dirty="0">
                <a:solidFill>
                  <a:srgbClr val="FFFFFF"/>
                </a:solidFill>
                <a:latin typeface="Aptos Light" panose="020B0004020202020204" pitchFamily="34" charset="0"/>
              </a:rPr>
              <a:t> se ha </a:t>
            </a:r>
            <a:r>
              <a:rPr sz="2800" b="1" dirty="0" err="1">
                <a:solidFill>
                  <a:srgbClr val="FFFFFF"/>
                </a:solidFill>
                <a:latin typeface="Aptos Light" panose="020B0004020202020204" pitchFamily="34" charset="0"/>
              </a:rPr>
              <a:t>implementado</a:t>
            </a:r>
            <a:r>
              <a:rPr lang="es-ES" sz="2800" b="1" dirty="0">
                <a:solidFill>
                  <a:srgbClr val="FFFFFF"/>
                </a:solidFill>
                <a:latin typeface="Aptos Light" panose="020B0004020202020204" pitchFamily="34" charset="0"/>
              </a:rPr>
              <a:t>?</a:t>
            </a:r>
            <a:endParaRPr sz="2800" b="1" dirty="0">
              <a:solidFill>
                <a:srgbClr val="FFFFFF"/>
              </a:solidFill>
              <a:latin typeface="Aptos Light" panose="020B0004020202020204" pitchFamily="34" charset="0"/>
            </a:endParaRPr>
          </a:p>
        </p:txBody>
      </p:sp>
      <p:sp>
        <p:nvSpPr>
          <p:cNvPr id="5" name="TextBox 4"/>
          <p:cNvSpPr txBox="1"/>
          <p:nvPr/>
        </p:nvSpPr>
        <p:spPr>
          <a:xfrm>
            <a:off x="457200" y="1234440"/>
            <a:ext cx="11247120" cy="338554"/>
          </a:xfrm>
          <a:prstGeom prst="rect">
            <a:avLst/>
          </a:prstGeom>
          <a:noFill/>
        </p:spPr>
        <p:txBody>
          <a:bodyPr wrap="square" anchor="t">
            <a:spAutoFit/>
          </a:bodyPr>
          <a:lstStyle/>
          <a:p>
            <a:pPr algn="just">
              <a:spcAft>
                <a:spcPts val="600"/>
              </a:spcAft>
            </a:pPr>
            <a:r>
              <a:rPr sz="1600" dirty="0">
                <a:solidFill>
                  <a:srgbClr val="444A54"/>
                </a:solidFill>
                <a:latin typeface="Aptos Light"/>
              </a:rPr>
              <a:t>SDD (</a:t>
            </a:r>
            <a:r>
              <a:rPr sz="1600" i="1" dirty="0">
                <a:solidFill>
                  <a:srgbClr val="444A54"/>
                </a:solidFill>
                <a:latin typeface="Aptos Light"/>
              </a:rPr>
              <a:t>Spec-Driven Development</a:t>
            </a:r>
            <a:r>
              <a:rPr sz="1600" dirty="0">
                <a:solidFill>
                  <a:srgbClr val="444A54"/>
                </a:solidFill>
                <a:latin typeface="Aptos Light"/>
              </a:rPr>
              <a:t>): primero la </a:t>
            </a:r>
            <a:r>
              <a:rPr sz="1600" dirty="0" err="1">
                <a:solidFill>
                  <a:srgbClr val="444A54"/>
                </a:solidFill>
                <a:latin typeface="Aptos Light"/>
              </a:rPr>
              <a:t>especificación</a:t>
            </a:r>
            <a:r>
              <a:rPr sz="1600" dirty="0">
                <a:solidFill>
                  <a:srgbClr val="444A54"/>
                </a:solidFill>
                <a:latin typeface="Aptos Light"/>
              </a:rPr>
              <a:t>, </a:t>
            </a:r>
            <a:r>
              <a:rPr sz="1600" dirty="0" err="1">
                <a:solidFill>
                  <a:srgbClr val="444A54"/>
                </a:solidFill>
                <a:latin typeface="Aptos Light"/>
              </a:rPr>
              <a:t>después</a:t>
            </a:r>
            <a:r>
              <a:rPr sz="1600" dirty="0">
                <a:solidFill>
                  <a:srgbClr val="444A54"/>
                </a:solidFill>
                <a:latin typeface="Aptos Light"/>
              </a:rPr>
              <a:t> el </a:t>
            </a:r>
            <a:r>
              <a:rPr sz="1600" dirty="0" err="1">
                <a:solidFill>
                  <a:srgbClr val="444A54"/>
                </a:solidFill>
                <a:latin typeface="Aptos Light"/>
              </a:rPr>
              <a:t>código</a:t>
            </a:r>
            <a:r>
              <a:rPr sz="1600" dirty="0">
                <a:solidFill>
                  <a:srgbClr val="444A54"/>
                </a:solidFill>
                <a:latin typeface="Aptos Light"/>
              </a:rPr>
              <a:t>. La </a:t>
            </a:r>
            <a:r>
              <a:rPr lang="es-ES" sz="1600" dirty="0">
                <a:solidFill>
                  <a:srgbClr val="444A54"/>
                </a:solidFill>
                <a:latin typeface="Aptos Light"/>
              </a:rPr>
              <a:t>e</a:t>
            </a:r>
            <a:r>
              <a:rPr sz="1600" dirty="0">
                <a:solidFill>
                  <a:srgbClr val="444A54"/>
                </a:solidFill>
                <a:latin typeface="Aptos Light"/>
              </a:rPr>
              <a:t>spec</a:t>
            </a:r>
            <a:r>
              <a:rPr lang="es-ES" sz="1600" dirty="0" err="1">
                <a:solidFill>
                  <a:srgbClr val="444A54"/>
                </a:solidFill>
                <a:latin typeface="Aptos Light"/>
              </a:rPr>
              <a:t>ificación</a:t>
            </a:r>
            <a:r>
              <a:rPr sz="1600" dirty="0">
                <a:solidFill>
                  <a:srgbClr val="444A54"/>
                </a:solidFill>
                <a:latin typeface="Aptos Light"/>
              </a:rPr>
              <a:t> </a:t>
            </a:r>
            <a:r>
              <a:rPr sz="1600" dirty="0" err="1">
                <a:solidFill>
                  <a:srgbClr val="444A54"/>
                </a:solidFill>
                <a:latin typeface="Aptos Light"/>
              </a:rPr>
              <a:t>evolucionó</a:t>
            </a:r>
            <a:r>
              <a:rPr sz="1600" dirty="0">
                <a:solidFill>
                  <a:srgbClr val="444A54"/>
                </a:solidFill>
                <a:latin typeface="Aptos Light"/>
              </a:rPr>
              <a:t> </a:t>
            </a:r>
            <a:r>
              <a:rPr sz="1600" dirty="0" err="1">
                <a:solidFill>
                  <a:srgbClr val="444A54"/>
                </a:solidFill>
                <a:latin typeface="Aptos Light"/>
              </a:rPr>
              <a:t>en</a:t>
            </a:r>
            <a:r>
              <a:rPr sz="1600" dirty="0">
                <a:solidFill>
                  <a:srgbClr val="444A54"/>
                </a:solidFill>
                <a:latin typeface="Aptos Light"/>
              </a:rPr>
              <a:t> </a:t>
            </a:r>
            <a:r>
              <a:rPr sz="1600" b="1" dirty="0">
                <a:solidFill>
                  <a:srgbClr val="444A54"/>
                </a:solidFill>
                <a:latin typeface="Aptos Light"/>
              </a:rPr>
              <a:t>dos </a:t>
            </a:r>
            <a:r>
              <a:rPr sz="1600" b="1" dirty="0" err="1">
                <a:solidFill>
                  <a:srgbClr val="444A54"/>
                </a:solidFill>
                <a:latin typeface="Aptos Light"/>
              </a:rPr>
              <a:t>fases</a:t>
            </a:r>
            <a:r>
              <a:rPr sz="1600" dirty="0">
                <a:solidFill>
                  <a:srgbClr val="444A54"/>
                </a:solidFill>
                <a:latin typeface="Aptos Light"/>
              </a:rPr>
              <a:t>:</a:t>
            </a:r>
          </a:p>
        </p:txBody>
      </p:sp>
      <p:sp>
        <p:nvSpPr>
          <p:cNvPr id="6" name="TextBox 5"/>
          <p:cNvSpPr txBox="1"/>
          <p:nvPr/>
        </p:nvSpPr>
        <p:spPr>
          <a:xfrm>
            <a:off x="640080" y="1664090"/>
            <a:ext cx="10972800" cy="1205458"/>
          </a:xfrm>
          <a:prstGeom prst="rect">
            <a:avLst/>
          </a:prstGeom>
          <a:noFill/>
        </p:spPr>
        <p:txBody>
          <a:bodyPr wrap="square">
            <a:spAutoFit/>
          </a:bodyPr>
          <a:lstStyle/>
          <a:p>
            <a:pPr marL="285750" indent="-285750" algn="just">
              <a:spcAft>
                <a:spcPts val="500"/>
              </a:spcAft>
              <a:buFont typeface="Arial" panose="020B0604020202020204" pitchFamily="34" charset="0"/>
              <a:buChar char="•"/>
            </a:pPr>
            <a:r>
              <a:rPr sz="1600" b="1" dirty="0" err="1">
                <a:solidFill>
                  <a:srgbClr val="444A54"/>
                </a:solidFill>
                <a:latin typeface="Aptos Light"/>
              </a:rPr>
              <a:t>Especificación</a:t>
            </a:r>
            <a:r>
              <a:rPr sz="1600" b="1" dirty="0">
                <a:solidFill>
                  <a:srgbClr val="444A54"/>
                </a:solidFill>
                <a:latin typeface="Aptos Light"/>
              </a:rPr>
              <a:t> </a:t>
            </a:r>
            <a:r>
              <a:rPr sz="1600" b="1" dirty="0" err="1">
                <a:solidFill>
                  <a:srgbClr val="444A54"/>
                </a:solidFill>
                <a:latin typeface="Aptos Light"/>
              </a:rPr>
              <a:t>inicial</a:t>
            </a:r>
            <a:r>
              <a:rPr lang="es-ES" sz="1600" dirty="0">
                <a:solidFill>
                  <a:srgbClr val="444A54"/>
                </a:solidFill>
                <a:latin typeface="Aptos Light"/>
              </a:rPr>
              <a:t>: </a:t>
            </a:r>
            <a:r>
              <a:rPr sz="1600" dirty="0" err="1">
                <a:solidFill>
                  <a:srgbClr val="444A54"/>
                </a:solidFill>
                <a:latin typeface="Aptos Light"/>
              </a:rPr>
              <a:t>documento</a:t>
            </a:r>
            <a:r>
              <a:rPr sz="1600" dirty="0">
                <a:solidFill>
                  <a:srgbClr val="444A54"/>
                </a:solidFill>
                <a:latin typeface="Aptos Light"/>
              </a:rPr>
              <a:t> madre SDD v1.9 (</a:t>
            </a:r>
            <a:r>
              <a:rPr sz="1600" dirty="0" err="1">
                <a:solidFill>
                  <a:srgbClr val="444A54"/>
                </a:solidFill>
                <a:latin typeface="Aptos Light"/>
              </a:rPr>
              <a:t>alcance</a:t>
            </a:r>
            <a:r>
              <a:rPr sz="1600" dirty="0">
                <a:solidFill>
                  <a:srgbClr val="444A54"/>
                </a:solidFill>
                <a:latin typeface="Aptos Light"/>
              </a:rPr>
              <a:t> </a:t>
            </a:r>
            <a:r>
              <a:rPr lang="es-ES" sz="1600" dirty="0">
                <a:solidFill>
                  <a:srgbClr val="444A54"/>
                </a:solidFill>
                <a:latin typeface="Aptos Light"/>
              </a:rPr>
              <a:t>y</a:t>
            </a:r>
            <a:r>
              <a:rPr sz="1600" dirty="0">
                <a:solidFill>
                  <a:srgbClr val="444A54"/>
                </a:solidFill>
                <a:latin typeface="Aptos Light"/>
              </a:rPr>
              <a:t> </a:t>
            </a:r>
            <a:r>
              <a:rPr sz="1600" dirty="0" err="1">
                <a:solidFill>
                  <a:srgbClr val="444A54"/>
                </a:solidFill>
                <a:latin typeface="Aptos Light"/>
              </a:rPr>
              <a:t>casos</a:t>
            </a:r>
            <a:r>
              <a:rPr sz="1600" dirty="0">
                <a:solidFill>
                  <a:srgbClr val="444A54"/>
                </a:solidFill>
                <a:latin typeface="Aptos Light"/>
              </a:rPr>
              <a:t> de </a:t>
            </a:r>
            <a:r>
              <a:rPr sz="1600" dirty="0" err="1">
                <a:solidFill>
                  <a:srgbClr val="444A54"/>
                </a:solidFill>
                <a:latin typeface="Aptos Light"/>
              </a:rPr>
              <a:t>uso</a:t>
            </a:r>
            <a:r>
              <a:rPr sz="1600" dirty="0">
                <a:solidFill>
                  <a:srgbClr val="444A54"/>
                </a:solidFill>
                <a:latin typeface="Aptos Light"/>
              </a:rPr>
              <a:t>).</a:t>
            </a:r>
            <a:endParaRPr lang="es-ES" sz="1600" dirty="0">
              <a:solidFill>
                <a:srgbClr val="444A54"/>
              </a:solidFill>
              <a:latin typeface="Aptos Light"/>
            </a:endParaRPr>
          </a:p>
          <a:p>
            <a:pPr marL="285750" indent="-285750" algn="just">
              <a:spcAft>
                <a:spcPts val="500"/>
              </a:spcAft>
              <a:buFont typeface="Arial" panose="020B0604020202020204" pitchFamily="34" charset="0"/>
              <a:buChar char="•"/>
            </a:pPr>
            <a:r>
              <a:rPr sz="1600" b="1" dirty="0" err="1">
                <a:solidFill>
                  <a:srgbClr val="444A54"/>
                </a:solidFill>
                <a:latin typeface="Aptos Light"/>
              </a:rPr>
              <a:t>Iteración</a:t>
            </a:r>
            <a:r>
              <a:rPr sz="1600" b="1" dirty="0">
                <a:solidFill>
                  <a:srgbClr val="444A54"/>
                </a:solidFill>
                <a:latin typeface="Aptos Light"/>
              </a:rPr>
              <a:t> </a:t>
            </a:r>
            <a:r>
              <a:rPr sz="1600" b="1" dirty="0" err="1">
                <a:solidFill>
                  <a:srgbClr val="444A54"/>
                </a:solidFill>
                <a:latin typeface="Aptos Light"/>
              </a:rPr>
              <a:t>por</a:t>
            </a:r>
            <a:r>
              <a:rPr sz="1600" b="1" dirty="0">
                <a:solidFill>
                  <a:srgbClr val="444A54"/>
                </a:solidFill>
                <a:latin typeface="Aptos Light"/>
              </a:rPr>
              <a:t> </a:t>
            </a:r>
            <a:r>
              <a:rPr sz="1600" b="1" dirty="0" err="1">
                <a:solidFill>
                  <a:srgbClr val="444A54"/>
                </a:solidFill>
                <a:latin typeface="Aptos Light"/>
              </a:rPr>
              <a:t>verticales</a:t>
            </a:r>
            <a:r>
              <a:rPr lang="es-ES" sz="1600" dirty="0">
                <a:solidFill>
                  <a:srgbClr val="444A54"/>
                </a:solidFill>
                <a:latin typeface="Aptos Light"/>
              </a:rPr>
              <a:t>: implementación de </a:t>
            </a:r>
            <a:r>
              <a:rPr sz="1600" dirty="0" err="1">
                <a:solidFill>
                  <a:srgbClr val="444A54"/>
                </a:solidFill>
                <a:latin typeface="Aptos Light"/>
              </a:rPr>
              <a:t>cada</a:t>
            </a:r>
            <a:r>
              <a:rPr sz="1600" dirty="0">
                <a:solidFill>
                  <a:srgbClr val="444A54"/>
                </a:solidFill>
                <a:latin typeface="Aptos Light"/>
              </a:rPr>
              <a:t> </a:t>
            </a:r>
            <a:r>
              <a:rPr sz="1600" dirty="0" err="1">
                <a:solidFill>
                  <a:srgbClr val="444A54"/>
                </a:solidFill>
                <a:latin typeface="Aptos Light"/>
              </a:rPr>
              <a:t>caso</a:t>
            </a:r>
            <a:r>
              <a:rPr sz="1600" dirty="0">
                <a:solidFill>
                  <a:srgbClr val="444A54"/>
                </a:solidFill>
                <a:latin typeface="Aptos Light"/>
              </a:rPr>
              <a:t> de </a:t>
            </a:r>
            <a:r>
              <a:rPr sz="1600" dirty="0" err="1">
                <a:solidFill>
                  <a:srgbClr val="444A54"/>
                </a:solidFill>
                <a:latin typeface="Aptos Light"/>
              </a:rPr>
              <a:t>uso</a:t>
            </a:r>
            <a:r>
              <a:rPr sz="1600" dirty="0">
                <a:solidFill>
                  <a:srgbClr val="444A54"/>
                </a:solidFill>
                <a:latin typeface="Aptos Light"/>
              </a:rPr>
              <a:t> (UC-1…15) </a:t>
            </a:r>
            <a:r>
              <a:rPr sz="1600" dirty="0" err="1">
                <a:solidFill>
                  <a:srgbClr val="444A54"/>
                </a:solidFill>
                <a:latin typeface="Aptos Light"/>
              </a:rPr>
              <a:t>como</a:t>
            </a:r>
            <a:r>
              <a:rPr sz="1600" dirty="0">
                <a:solidFill>
                  <a:srgbClr val="444A54"/>
                </a:solidFill>
                <a:latin typeface="Aptos Light"/>
              </a:rPr>
              <a:t> vertical </a:t>
            </a:r>
            <a:r>
              <a:rPr sz="1600" i="1" dirty="0">
                <a:solidFill>
                  <a:srgbClr val="444A54"/>
                </a:solidFill>
                <a:latin typeface="Aptos Light"/>
              </a:rPr>
              <a:t>slice</a:t>
            </a:r>
            <a:r>
              <a:rPr sz="1600" dirty="0">
                <a:solidFill>
                  <a:srgbClr val="444A54"/>
                </a:solidFill>
                <a:latin typeface="Aptos Light"/>
              </a:rPr>
              <a:t> </a:t>
            </a:r>
            <a:r>
              <a:rPr sz="1600" dirty="0" err="1">
                <a:solidFill>
                  <a:srgbClr val="444A54"/>
                </a:solidFill>
                <a:latin typeface="Aptos Light"/>
              </a:rPr>
              <a:t>vía</a:t>
            </a:r>
            <a:r>
              <a:rPr sz="1600" dirty="0">
                <a:solidFill>
                  <a:srgbClr val="444A54"/>
                </a:solidFill>
                <a:latin typeface="Aptos Light"/>
              </a:rPr>
              <a:t> </a:t>
            </a:r>
            <a:r>
              <a:rPr sz="1600" dirty="0" err="1">
                <a:solidFill>
                  <a:srgbClr val="444A54"/>
                </a:solidFill>
                <a:latin typeface="Aptos Light"/>
              </a:rPr>
              <a:t>OpenSpec</a:t>
            </a:r>
            <a:r>
              <a:rPr sz="1600" dirty="0">
                <a:solidFill>
                  <a:srgbClr val="444A54"/>
                </a:solidFill>
                <a:latin typeface="Aptos Light"/>
              </a:rPr>
              <a:t> </a:t>
            </a:r>
            <a:r>
              <a:rPr lang="es-ES" sz="1600" dirty="0">
                <a:solidFill>
                  <a:srgbClr val="444A54"/>
                </a:solidFill>
                <a:latin typeface="Aptos Light"/>
              </a:rPr>
              <a:t>y </a:t>
            </a:r>
            <a:r>
              <a:rPr sz="1600" i="1" dirty="0">
                <a:solidFill>
                  <a:srgbClr val="444A54"/>
                </a:solidFill>
                <a:latin typeface="Aptos Light"/>
              </a:rPr>
              <a:t>skills</a:t>
            </a:r>
            <a:r>
              <a:rPr sz="1600" dirty="0">
                <a:solidFill>
                  <a:srgbClr val="444A54"/>
                </a:solidFill>
                <a:latin typeface="Aptos Light"/>
              </a:rPr>
              <a:t> SDD de </a:t>
            </a:r>
            <a:r>
              <a:rPr sz="1600" dirty="0" err="1">
                <a:solidFill>
                  <a:srgbClr val="444A54"/>
                </a:solidFill>
                <a:latin typeface="Aptos Light"/>
              </a:rPr>
              <a:t>GentlemanProgramming</a:t>
            </a:r>
            <a:r>
              <a:rPr sz="1600" dirty="0">
                <a:solidFill>
                  <a:srgbClr val="444A54"/>
                </a:solidFill>
                <a:latin typeface="Aptos Light"/>
              </a:rPr>
              <a:t>.</a:t>
            </a:r>
            <a:endParaRPr lang="es-ES" sz="1600" dirty="0">
              <a:solidFill>
                <a:srgbClr val="444A54"/>
              </a:solidFill>
              <a:latin typeface="Aptos Light"/>
            </a:endParaRPr>
          </a:p>
          <a:p>
            <a:pPr marL="285750" indent="-285750" algn="just">
              <a:spcAft>
                <a:spcPts val="500"/>
              </a:spcAft>
              <a:buFont typeface="Arial" panose="020B0604020202020204" pitchFamily="34" charset="0"/>
              <a:buChar char="•"/>
            </a:pPr>
            <a:r>
              <a:rPr lang="es-ES" sz="1600" dirty="0">
                <a:solidFill>
                  <a:srgbClr val="444A54"/>
                </a:solidFill>
                <a:latin typeface="Aptos Light"/>
              </a:rPr>
              <a:t>Auditoria: se han realizado 2 auditorias de código cubriendo OWASP-10 y aspectos de arquitectura</a:t>
            </a:r>
            <a:endParaRPr sz="1600" dirty="0">
              <a:solidFill>
                <a:srgbClr val="444A54"/>
              </a:solidFill>
              <a:latin typeface="Aptos Light"/>
            </a:endParaRPr>
          </a:p>
        </p:txBody>
      </p:sp>
      <p:graphicFrame>
        <p:nvGraphicFramePr>
          <p:cNvPr id="7" name="Table 6"/>
          <p:cNvGraphicFramePr>
            <a:graphicFrameLocks noGrp="1"/>
          </p:cNvGraphicFramePr>
          <p:nvPr>
            <p:extLst>
              <p:ext uri="{D42A27DB-BD31-4B8C-83A1-F6EECF244321}">
                <p14:modId xmlns:p14="http://schemas.microsoft.com/office/powerpoint/2010/main" val="2722376543"/>
              </p:ext>
            </p:extLst>
          </p:nvPr>
        </p:nvGraphicFramePr>
        <p:xfrm>
          <a:off x="502920" y="2999350"/>
          <a:ext cx="11247120" cy="2560320"/>
        </p:xfrm>
        <a:graphic>
          <a:graphicData uri="http://schemas.openxmlformats.org/drawingml/2006/table">
            <a:tbl>
              <a:tblPr firstRow="1" bandRow="1">
                <a:tableStyleId>{5C22544A-7EE6-4342-B048-85BDC9FD1C3A}</a:tableStyleId>
              </a:tblPr>
              <a:tblGrid>
                <a:gridCol w="71323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65760">
                <a:tc>
                  <a:txBody>
                    <a:bodyPr/>
                    <a:lstStyle/>
                    <a:p>
                      <a:pPr marL="0" algn="ctr" defTabSz="457200" rtl="0" eaLnBrk="1" latinLnBrk="0" hangingPunct="1"/>
                      <a:r>
                        <a:rPr sz="1600" b="1" kern="1200" dirty="0" err="1">
                          <a:solidFill>
                            <a:srgbClr val="FFFFFF"/>
                          </a:solidFill>
                          <a:latin typeface="Aptos Light" panose="020B0004020202020204" pitchFamily="34" charset="0"/>
                          <a:ea typeface="+mn-ea"/>
                          <a:cs typeface="+mn-cs"/>
                        </a:rPr>
                        <a:t>Aspecto</a:t>
                      </a:r>
                      <a:endParaRPr sz="1600" b="1" kern="1200" dirty="0">
                        <a:solidFill>
                          <a:srgbClr val="FFFFFF"/>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2"/>
                    </a:solidFill>
                  </a:tcPr>
                </a:tc>
                <a:tc>
                  <a:txBody>
                    <a:bodyPr/>
                    <a:lstStyle/>
                    <a:p>
                      <a:pPr marL="0" algn="ctr" defTabSz="457200" rtl="0" eaLnBrk="1" latinLnBrk="0" hangingPunct="1"/>
                      <a:r>
                        <a:rPr lang="es-ES" sz="1600" b="1" kern="1200" dirty="0">
                          <a:solidFill>
                            <a:srgbClr val="FFFFFF"/>
                          </a:solidFill>
                          <a:latin typeface="Aptos Light" panose="020B0004020202020204" pitchFamily="34" charset="0"/>
                          <a:ea typeface="+mn-ea"/>
                          <a:cs typeface="+mn-cs"/>
                        </a:rPr>
                        <a:t>¿</a:t>
                      </a:r>
                      <a:r>
                        <a:rPr sz="1600" b="1" kern="1200" dirty="0" err="1">
                          <a:solidFill>
                            <a:srgbClr val="FFFFFF"/>
                          </a:solidFill>
                          <a:latin typeface="Aptos Light" panose="020B0004020202020204" pitchFamily="34" charset="0"/>
                          <a:ea typeface="+mn-ea"/>
                          <a:cs typeface="+mn-cs"/>
                        </a:rPr>
                        <a:t>Dónde</a:t>
                      </a:r>
                      <a:r>
                        <a:rPr sz="1600" b="1" kern="1200" dirty="0">
                          <a:solidFill>
                            <a:srgbClr val="FFFFFF"/>
                          </a:solidFill>
                          <a:latin typeface="Aptos Light" panose="020B0004020202020204" pitchFamily="34" charset="0"/>
                          <a:ea typeface="+mn-ea"/>
                          <a:cs typeface="+mn-cs"/>
                        </a:rPr>
                        <a:t> se documenta</a:t>
                      </a:r>
                      <a:r>
                        <a:rPr lang="es-ES" sz="1600" b="1" kern="1200" dirty="0">
                          <a:solidFill>
                            <a:srgbClr val="FFFFFF"/>
                          </a:solidFill>
                          <a:latin typeface="Aptos Light" panose="020B0004020202020204" pitchFamily="34" charset="0"/>
                          <a:ea typeface="+mn-ea"/>
                          <a:cs typeface="+mn-cs"/>
                        </a:rPr>
                        <a:t>?</a:t>
                      </a:r>
                      <a:endParaRPr sz="1600" b="1" kern="1200" dirty="0">
                        <a:solidFill>
                          <a:srgbClr val="FFFFFF"/>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algn="ctr" defTabSz="457200" rtl="0" eaLnBrk="1" latinLnBrk="0" hangingPunct="1"/>
                      <a:r>
                        <a:rPr sz="1600" b="0" kern="1200" dirty="0" err="1">
                          <a:solidFill>
                            <a:schemeClr val="tx1"/>
                          </a:solidFill>
                          <a:latin typeface="Aptos Light" panose="020B0004020202020204" pitchFamily="34" charset="0"/>
                          <a:ea typeface="+mn-ea"/>
                          <a:cs typeface="+mn-cs"/>
                        </a:rPr>
                        <a:t>Especificación</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inicial</a:t>
                      </a:r>
                      <a:r>
                        <a:rPr sz="1600" b="0" kern="1200" dirty="0">
                          <a:solidFill>
                            <a:schemeClr val="tx1"/>
                          </a:solidFill>
                          <a:latin typeface="Aptos Light" panose="020B0004020202020204" pitchFamily="34" charset="0"/>
                          <a:ea typeface="+mn-ea"/>
                          <a:cs typeface="+mn-cs"/>
                        </a:rPr>
                        <a:t> (SDD v1.9)</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doc/sdd/FTM_SDD_1_9.md</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algn="ctr" defTabSz="457200" rtl="0" eaLnBrk="1" latinLnBrk="0" hangingPunct="1"/>
                      <a:r>
                        <a:rPr sz="1600" b="0" kern="1200" dirty="0" err="1">
                          <a:solidFill>
                            <a:schemeClr val="tx1"/>
                          </a:solidFill>
                          <a:latin typeface="Aptos Light" panose="020B0004020202020204" pitchFamily="34" charset="0"/>
                          <a:ea typeface="+mn-ea"/>
                          <a:cs typeface="+mn-cs"/>
                        </a:rPr>
                        <a:t>Especificación</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iterada</a:t>
                      </a:r>
                      <a:r>
                        <a:rPr sz="1600" b="0" kern="1200" dirty="0">
                          <a:solidFill>
                            <a:schemeClr val="tx1"/>
                          </a:solidFill>
                          <a:latin typeface="Aptos Light" panose="020B0004020202020204" pitchFamily="34" charset="0"/>
                          <a:ea typeface="+mn-ea"/>
                          <a:cs typeface="+mn-cs"/>
                        </a:rPr>
                        <a:t> (specs · design · tasks)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dirty="0" err="1">
                          <a:solidFill>
                            <a:schemeClr val="tx1"/>
                          </a:solidFill>
                          <a:latin typeface="Aptos Light" panose="020B0004020202020204" pitchFamily="34" charset="0"/>
                          <a:ea typeface="+mn-ea"/>
                          <a:cs typeface="+mn-cs"/>
                        </a:rPr>
                        <a:t>openspec</a:t>
                      </a:r>
                      <a:r>
                        <a:rPr sz="1600" b="0" kern="1200" dirty="0">
                          <a:solidFill>
                            <a:schemeClr val="tx1"/>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5760">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Decisiones de arquitectura (ADR)</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doc/architecture</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Modelo de datos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doc/bbdd</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5760">
                <a:tc>
                  <a:txBody>
                    <a:bodyPr/>
                    <a:lstStyle/>
                    <a:p>
                      <a:pPr marL="0" algn="ctr" defTabSz="457200" rtl="0" eaLnBrk="1" latinLnBrk="0" hangingPunct="1"/>
                      <a:r>
                        <a:rPr sz="1600" b="0" kern="1200" dirty="0">
                          <a:solidFill>
                            <a:schemeClr val="tx1"/>
                          </a:solidFill>
                          <a:latin typeface="Aptos Light" panose="020B0004020202020204" pitchFamily="34" charset="0"/>
                          <a:ea typeface="+mn-ea"/>
                          <a:cs typeface="+mn-cs"/>
                        </a:rPr>
                        <a:t>UI (v0) · Skills IA </a:t>
                      </a:r>
                      <a:r>
                        <a:rPr lang="es-ES" sz="1600" b="0" kern="1200" dirty="0" err="1">
                          <a:solidFill>
                            <a:schemeClr val="tx1"/>
                          </a:solidFill>
                          <a:latin typeface="Aptos Light" panose="020B0004020202020204" pitchFamily="34" charset="0"/>
                          <a:ea typeface="+mn-ea"/>
                          <a:cs typeface="+mn-cs"/>
                        </a:rPr>
                        <a:t>GentlemanProgramming</a:t>
                      </a:r>
                      <a:r>
                        <a:rPr lang="es-ES" sz="1600" b="0" kern="1200" dirty="0">
                          <a:solidFill>
                            <a:schemeClr val="tx1"/>
                          </a:solidFill>
                          <a:latin typeface="Aptos Light" panose="020B0004020202020204" pitchFamily="34" charset="0"/>
                          <a:ea typeface="+mn-ea"/>
                          <a:cs typeface="+mn-cs"/>
                        </a:rPr>
                        <a:t> </a:t>
                      </a:r>
                      <a:r>
                        <a:rPr sz="1600" b="0" kern="1200" dirty="0">
                          <a:solidFill>
                            <a:schemeClr val="tx1"/>
                          </a:solidFill>
                          <a:latin typeface="Aptos Light" panose="020B0004020202020204" pitchFamily="34" charset="0"/>
                          <a:ea typeface="+mn-ea"/>
                          <a:cs typeface="+mn-cs"/>
                        </a:rPr>
                        <a:t>(GPT + Claude)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0" kern="1200" dirty="0" err="1">
                          <a:solidFill>
                            <a:schemeClr val="tx1"/>
                          </a:solidFill>
                          <a:latin typeface="Aptos Light" panose="020B0004020202020204" pitchFamily="34" charset="0"/>
                          <a:ea typeface="+mn-ea"/>
                          <a:cs typeface="+mn-cs"/>
                        </a:rPr>
                        <a:t>openspec</a:t>
                      </a:r>
                      <a:r>
                        <a:rPr lang="es-ES" sz="1600" b="0" kern="1200" dirty="0">
                          <a:solidFill>
                            <a:schemeClr val="tx1"/>
                          </a:solidFill>
                          <a:latin typeface="Aptos Light" panose="020B0004020202020204" pitchFamily="34" charset="0"/>
                          <a:ea typeface="+mn-ea"/>
                          <a:cs typeface="+mn-cs"/>
                        </a:rPr>
                        <a:t>/</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65760">
                <a:tc>
                  <a:txBody>
                    <a:bodyPr/>
                    <a:lstStyle/>
                    <a:p>
                      <a:pPr marL="0" algn="ctr" defTabSz="457200" rtl="0" eaLnBrk="1" latinLnBrk="0" hangingPunct="1"/>
                      <a:r>
                        <a:rPr lang="es-ES" sz="1600" b="0" kern="1200" dirty="0">
                          <a:solidFill>
                            <a:schemeClr val="tx1"/>
                          </a:solidFill>
                          <a:latin typeface="Aptos Light" panose="020B0004020202020204" pitchFamily="34" charset="0"/>
                          <a:ea typeface="+mn-ea"/>
                          <a:cs typeface="+mn-cs"/>
                        </a:rPr>
                        <a:t>Auditoria de seguridad y código (GTP y Claude)</a:t>
                      </a:r>
                      <a:endParaRPr sz="1600" b="0" kern="1200" dirty="0">
                        <a:solidFill>
                          <a:schemeClr val="tx1"/>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1600" b="0" kern="1200" dirty="0" err="1">
                          <a:solidFill>
                            <a:schemeClr val="tx1"/>
                          </a:solidFill>
                          <a:latin typeface="Aptos Light" panose="020B0004020202020204" pitchFamily="34" charset="0"/>
                          <a:ea typeface="+mn-ea"/>
                          <a:cs typeface="+mn-cs"/>
                        </a:rPr>
                        <a:t>doc</a:t>
                      </a:r>
                      <a:r>
                        <a:rPr lang="es-ES" sz="1600" b="0" kern="1200" dirty="0">
                          <a:solidFill>
                            <a:schemeClr val="tx1"/>
                          </a:solidFill>
                          <a:latin typeface="Aptos Light" panose="020B0004020202020204" pitchFamily="34" charset="0"/>
                          <a:ea typeface="+mn-ea"/>
                          <a:cs typeface="+mn-cs"/>
                        </a:rPr>
                        <a:t>/</a:t>
                      </a:r>
                      <a:r>
                        <a:rPr lang="es-ES" sz="1600" b="0" kern="1200" dirty="0" err="1">
                          <a:solidFill>
                            <a:schemeClr val="tx1"/>
                          </a:solidFill>
                          <a:latin typeface="Aptos Light" panose="020B0004020202020204" pitchFamily="34" charset="0"/>
                          <a:ea typeface="+mn-ea"/>
                          <a:cs typeface="+mn-cs"/>
                        </a:rPr>
                        <a:t>audit</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60963163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5786A-33BB-0A16-4D5B-637B7F833C8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8BC45EE-DC32-CD92-2934-D4C598CE2CA1}"/>
              </a:ext>
            </a:extLst>
          </p:cNvPr>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3FB923D2-F2A0-CBE2-9F25-201C79A89BFE}"/>
              </a:ext>
            </a:extLst>
          </p:cNvPr>
          <p:cNvSpPr/>
          <p:nvPr/>
        </p:nvSpPr>
        <p:spPr>
          <a:xfrm>
            <a:off x="457200" y="256032"/>
            <a:ext cx="548640" cy="54864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6</a:t>
            </a:r>
          </a:p>
        </p:txBody>
      </p:sp>
      <p:sp>
        <p:nvSpPr>
          <p:cNvPr id="4" name="TextBox 3">
            <a:extLst>
              <a:ext uri="{FF2B5EF4-FFF2-40B4-BE49-F238E27FC236}">
                <a16:creationId xmlns:a16="http://schemas.microsoft.com/office/drawing/2014/main" id="{F771DFE0-D203-945A-0525-B9F6DC5F0793}"/>
              </a:ext>
            </a:extLst>
          </p:cNvPr>
          <p:cNvSpPr txBox="1"/>
          <p:nvPr/>
        </p:nvSpPr>
        <p:spPr>
          <a:xfrm>
            <a:off x="1188720" y="314462"/>
            <a:ext cx="10515600" cy="523220"/>
          </a:xfrm>
          <a:prstGeom prst="rect">
            <a:avLst/>
          </a:prstGeom>
          <a:noFill/>
        </p:spPr>
        <p:txBody>
          <a:bodyPr wrap="square" anchor="ctr">
            <a:spAutoFit/>
          </a:bodyPr>
          <a:lstStyle/>
          <a:p>
            <a:pPr algn="l">
              <a:spcAft>
                <a:spcPts val="600"/>
              </a:spcAft>
            </a:pPr>
            <a:r>
              <a:rPr lang="es-ES" sz="2800" b="1" dirty="0">
                <a:solidFill>
                  <a:srgbClr val="FFFFFF"/>
                </a:solidFill>
                <a:latin typeface="Aptos Light" panose="020B0004020202020204" pitchFamily="34" charset="0"/>
              </a:rPr>
              <a:t>Verificación de seguridad (OWASP Top 10)</a:t>
            </a:r>
          </a:p>
        </p:txBody>
      </p:sp>
      <p:sp>
        <p:nvSpPr>
          <p:cNvPr id="5" name="TextBox 4">
            <a:extLst>
              <a:ext uri="{FF2B5EF4-FFF2-40B4-BE49-F238E27FC236}">
                <a16:creationId xmlns:a16="http://schemas.microsoft.com/office/drawing/2014/main" id="{AD8E9602-E339-AD24-19A5-B3F67316CB74}"/>
              </a:ext>
            </a:extLst>
          </p:cNvPr>
          <p:cNvSpPr txBox="1"/>
          <p:nvPr/>
        </p:nvSpPr>
        <p:spPr>
          <a:xfrm>
            <a:off x="457200" y="1169126"/>
            <a:ext cx="11247120" cy="907941"/>
          </a:xfrm>
          <a:prstGeom prst="rect">
            <a:avLst/>
          </a:prstGeom>
          <a:noFill/>
        </p:spPr>
        <p:txBody>
          <a:bodyPr wrap="square" anchor="t">
            <a:spAutoFit/>
          </a:bodyPr>
          <a:lstStyle/>
          <a:p>
            <a:pPr algn="just">
              <a:spcAft>
                <a:spcPts val="600"/>
              </a:spcAft>
            </a:pPr>
            <a:r>
              <a:rPr lang="es-ES" sz="1600" dirty="0">
                <a:solidFill>
                  <a:srgbClr val="444A54"/>
                </a:solidFill>
                <a:latin typeface="Aptos Light"/>
              </a:rPr>
              <a:t>El sistema se auditó 2 veces: primera auditoria OWASP, Arquitectura y RGPD y segunda OWASP Top 10 en web, API, </a:t>
            </a:r>
            <a:r>
              <a:rPr lang="es-ES" sz="1600" dirty="0" err="1">
                <a:solidFill>
                  <a:srgbClr val="444A54"/>
                </a:solidFill>
                <a:latin typeface="Aptos Light"/>
              </a:rPr>
              <a:t>Terraform</a:t>
            </a:r>
            <a:r>
              <a:rPr lang="es-ES" sz="1600" dirty="0">
                <a:solidFill>
                  <a:srgbClr val="444A54"/>
                </a:solidFill>
                <a:latin typeface="Aptos Light"/>
              </a:rPr>
              <a:t> y despliegue. Ejemplos de hallazgos:</a:t>
            </a:r>
          </a:p>
          <a:p>
            <a:pPr algn="just">
              <a:spcAft>
                <a:spcPts val="600"/>
              </a:spcAft>
            </a:pPr>
            <a:endParaRPr lang="es-ES" sz="1600" dirty="0">
              <a:solidFill>
                <a:srgbClr val="444A54"/>
              </a:solidFill>
              <a:latin typeface="Aptos Light"/>
            </a:endParaRPr>
          </a:p>
        </p:txBody>
      </p:sp>
      <p:graphicFrame>
        <p:nvGraphicFramePr>
          <p:cNvPr id="7" name="Table 6">
            <a:extLst>
              <a:ext uri="{FF2B5EF4-FFF2-40B4-BE49-F238E27FC236}">
                <a16:creationId xmlns:a16="http://schemas.microsoft.com/office/drawing/2014/main" id="{5299D866-23CC-D2CF-A76B-44555BFD80C5}"/>
              </a:ext>
            </a:extLst>
          </p:cNvPr>
          <p:cNvGraphicFramePr>
            <a:graphicFrameLocks noGrp="1"/>
          </p:cNvGraphicFramePr>
          <p:nvPr>
            <p:extLst>
              <p:ext uri="{D42A27DB-BD31-4B8C-83A1-F6EECF244321}">
                <p14:modId xmlns:p14="http://schemas.microsoft.com/office/powerpoint/2010/main" val="484402620"/>
              </p:ext>
            </p:extLst>
          </p:nvPr>
        </p:nvGraphicFramePr>
        <p:xfrm>
          <a:off x="502920" y="1796143"/>
          <a:ext cx="11247120" cy="4328160"/>
        </p:xfrm>
        <a:graphic>
          <a:graphicData uri="http://schemas.openxmlformats.org/drawingml/2006/table">
            <a:tbl>
              <a:tblPr firstRow="1" bandRow="1">
                <a:tableStyleId>{5C22544A-7EE6-4342-B048-85BDC9FD1C3A}</a:tableStyleId>
              </a:tblPr>
              <a:tblGrid>
                <a:gridCol w="2176008">
                  <a:extLst>
                    <a:ext uri="{9D8B030D-6E8A-4147-A177-3AD203B41FA5}">
                      <a16:colId xmlns:a16="http://schemas.microsoft.com/office/drawing/2014/main" val="20000"/>
                    </a:ext>
                  </a:extLst>
                </a:gridCol>
                <a:gridCol w="4535556">
                  <a:extLst>
                    <a:ext uri="{9D8B030D-6E8A-4147-A177-3AD203B41FA5}">
                      <a16:colId xmlns:a16="http://schemas.microsoft.com/office/drawing/2014/main" val="20001"/>
                    </a:ext>
                  </a:extLst>
                </a:gridCol>
                <a:gridCol w="4535556">
                  <a:extLst>
                    <a:ext uri="{9D8B030D-6E8A-4147-A177-3AD203B41FA5}">
                      <a16:colId xmlns:a16="http://schemas.microsoft.com/office/drawing/2014/main" val="1344364247"/>
                    </a:ext>
                  </a:extLst>
                </a:gridCol>
              </a:tblGrid>
              <a:tr h="365760">
                <a:tc>
                  <a:txBody>
                    <a:bodyPr/>
                    <a:lstStyle/>
                    <a:p>
                      <a:pPr marL="0" algn="ctr" defTabSz="457200" rtl="0" eaLnBrk="1" latinLnBrk="0" hangingPunct="1"/>
                      <a:r>
                        <a:rPr lang="es-ES" sz="1600" b="1" kern="1200" dirty="0">
                          <a:solidFill>
                            <a:srgbClr val="FFFFFF"/>
                          </a:solidFill>
                          <a:latin typeface="Aptos Light" panose="020B0004020202020204" pitchFamily="34" charset="0"/>
                          <a:ea typeface="+mn-ea"/>
                          <a:cs typeface="+mn-cs"/>
                        </a:rPr>
                        <a:t>Hallazgo (OWASP)</a:t>
                      </a:r>
                      <a:endParaRPr sz="1600" b="1" kern="1200" dirty="0">
                        <a:solidFill>
                          <a:srgbClr val="FFFFFF"/>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2"/>
                    </a:solidFill>
                  </a:tcPr>
                </a:tc>
                <a:tc>
                  <a:txBody>
                    <a:bodyPr/>
                    <a:lstStyle/>
                    <a:p>
                      <a:pPr marL="0" algn="ctr" defTabSz="457200" rtl="0" eaLnBrk="1" latinLnBrk="0" hangingPunct="1"/>
                      <a:r>
                        <a:rPr lang="es-ES" sz="1600" b="1" kern="1200" dirty="0">
                          <a:solidFill>
                            <a:srgbClr val="FFFFFF"/>
                          </a:solidFill>
                          <a:latin typeface="Aptos Light" panose="020B0004020202020204" pitchFamily="34" charset="0"/>
                          <a:ea typeface="+mn-ea"/>
                          <a:cs typeface="+mn-cs"/>
                        </a:rPr>
                        <a:t>Detectado</a:t>
                      </a:r>
                      <a:endParaRPr sz="1600" b="1" kern="1200" dirty="0">
                        <a:solidFill>
                          <a:srgbClr val="FFFFFF"/>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2"/>
                    </a:solidFill>
                  </a:tcPr>
                </a:tc>
                <a:tc>
                  <a:txBody>
                    <a:bodyPr/>
                    <a:lstStyle/>
                    <a:p>
                      <a:pPr marL="0" algn="ctr" defTabSz="457200" rtl="0" eaLnBrk="1" latinLnBrk="0" hangingPunct="1"/>
                      <a:r>
                        <a:rPr lang="es-ES" sz="1600" b="1" kern="1200" dirty="0">
                          <a:solidFill>
                            <a:srgbClr val="FFFFFF"/>
                          </a:solidFill>
                          <a:latin typeface="Aptos Light" panose="020B0004020202020204" pitchFamily="34" charset="0"/>
                          <a:ea typeface="+mn-ea"/>
                          <a:cs typeface="+mn-cs"/>
                        </a:rPr>
                        <a:t>Cerrado</a:t>
                      </a:r>
                      <a:endParaRPr sz="1600" b="1" kern="1200" dirty="0">
                        <a:solidFill>
                          <a:srgbClr val="FFFFFF"/>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745">
                <a:tc>
                  <a:txBody>
                    <a:bodyPr/>
                    <a:lstStyle/>
                    <a:p>
                      <a:pPr marL="0" algn="l" defTabSz="457200" rtl="0" eaLnBrk="1" latinLnBrk="0" hangingPunct="1"/>
                      <a:r>
                        <a:rPr lang="es-ES" sz="1600" b="1" kern="1200" dirty="0">
                          <a:solidFill>
                            <a:schemeClr val="tx1"/>
                          </a:solidFill>
                          <a:latin typeface="Aptos Light" panose="020B0004020202020204" pitchFamily="34" charset="0"/>
                          <a:ea typeface="+mn-ea"/>
                          <a:cs typeface="+mn-cs"/>
                        </a:rPr>
                        <a:t>A01</a:t>
                      </a:r>
                      <a:r>
                        <a:rPr lang="es-ES" sz="1600" b="0" kern="1200" dirty="0">
                          <a:solidFill>
                            <a:schemeClr val="tx1"/>
                          </a:solidFill>
                          <a:latin typeface="Aptos Light" panose="020B0004020202020204" pitchFamily="34" charset="0"/>
                          <a:ea typeface="+mn-ea"/>
                          <a:cs typeface="+mn-cs"/>
                        </a:rPr>
                        <a:t> Control de acceso</a:t>
                      </a:r>
                      <a:endParaRPr sz="1600" b="0" kern="1200" dirty="0">
                        <a:solidFill>
                          <a:schemeClr val="tx1"/>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600" b="1" kern="1200" dirty="0">
                          <a:solidFill>
                            <a:schemeClr val="tx1"/>
                          </a:solidFill>
                          <a:latin typeface="Aptos Light" panose="020B0004020202020204" pitchFamily="34" charset="0"/>
                          <a:ea typeface="+mn-ea"/>
                          <a:cs typeface="+mn-cs"/>
                        </a:rPr>
                        <a:t>BOLA explotado en </a:t>
                      </a:r>
                      <a:r>
                        <a:rPr lang="es-ES" sz="1600" b="1" kern="1200" dirty="0" err="1">
                          <a:solidFill>
                            <a:schemeClr val="tx1"/>
                          </a:solidFill>
                          <a:latin typeface="Aptos Light" panose="020B0004020202020204" pitchFamily="34" charset="0"/>
                          <a:ea typeface="+mn-ea"/>
                          <a:cs typeface="+mn-cs"/>
                        </a:rPr>
                        <a:t>Postgres</a:t>
                      </a:r>
                      <a:r>
                        <a:rPr lang="es-ES" sz="1600" b="1" kern="1200" dirty="0">
                          <a:solidFill>
                            <a:schemeClr val="tx1"/>
                          </a:solidFill>
                          <a:latin typeface="Aptos Light" panose="020B0004020202020204" pitchFamily="34" charset="0"/>
                          <a:ea typeface="+mn-ea"/>
                          <a:cs typeface="+mn-cs"/>
                        </a:rPr>
                        <a:t> real</a:t>
                      </a:r>
                      <a:r>
                        <a:rPr lang="es-ES" sz="1600" b="0" kern="1200" dirty="0">
                          <a:solidFill>
                            <a:schemeClr val="tx1"/>
                          </a:solidFill>
                          <a:latin typeface="Aptos Light" panose="020B0004020202020204" pitchFamily="34" charset="0"/>
                          <a:ea typeface="+mn-ea"/>
                          <a:cs typeface="+mn-cs"/>
                        </a:rPr>
                        <a:t>: un médico ajeno leyó (200) y modificó (204) informes y grabaciones de voz de pacientes de otro médico.</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600" b="0" kern="1200" dirty="0">
                          <a:solidFill>
                            <a:schemeClr val="tx1"/>
                          </a:solidFill>
                          <a:latin typeface="Aptos Light" panose="020B0004020202020204" pitchFamily="34" charset="0"/>
                          <a:ea typeface="+mn-ea"/>
                          <a:cs typeface="+mn-cs"/>
                        </a:rPr>
                        <a:t>Verificación de propiedad por objeto </a:t>
                      </a:r>
                      <a:r>
                        <a:rPr lang="es-ES" sz="1600" b="1" kern="1200" dirty="0">
                          <a:solidFill>
                            <a:schemeClr val="tx1"/>
                          </a:solidFill>
                          <a:latin typeface="Aptos Light" panose="020B0004020202020204" pitchFamily="34" charset="0"/>
                          <a:ea typeface="+mn-ea"/>
                          <a:cs typeface="+mn-cs"/>
                        </a:rPr>
                        <a:t>+ 224 líneas de test de aislamiento.</a:t>
                      </a:r>
                      <a:r>
                        <a:rPr lang="es-ES" sz="1600" b="0" kern="1200" dirty="0">
                          <a:solidFill>
                            <a:schemeClr val="tx1"/>
                          </a:solidFill>
                          <a:latin typeface="Aptos Light" panose="020B0004020202020204" pitchFamily="34" charset="0"/>
                          <a:ea typeface="+mn-ea"/>
                          <a:cs typeface="+mn-cs"/>
                        </a:rPr>
                        <a:t> Hallado en segunda auditoria (revisión)</a:t>
                      </a:r>
                      <a:endParaRPr sz="1600" b="1"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algn="l" defTabSz="457200" rtl="0" eaLnBrk="1" latinLnBrk="0" hangingPunct="1"/>
                      <a:r>
                        <a:rPr lang="es-ES" sz="1600" b="1" kern="1200" dirty="0">
                          <a:solidFill>
                            <a:schemeClr val="tx1"/>
                          </a:solidFill>
                          <a:latin typeface="Aptos Light" panose="020B0004020202020204" pitchFamily="34" charset="0"/>
                          <a:ea typeface="+mn-ea"/>
                          <a:cs typeface="+mn-cs"/>
                        </a:rPr>
                        <a:t>A03</a:t>
                      </a:r>
                      <a:r>
                        <a:rPr lang="es-ES" sz="1600" b="0" kern="1200" dirty="0">
                          <a:solidFill>
                            <a:schemeClr val="tx1"/>
                          </a:solidFill>
                          <a:latin typeface="Aptos Light" panose="020B0004020202020204" pitchFamily="34" charset="0"/>
                          <a:ea typeface="+mn-ea"/>
                          <a:cs typeface="+mn-cs"/>
                        </a:rPr>
                        <a:t> Dependencias</a:t>
                      </a:r>
                      <a:endParaRPr sz="1600" b="0" kern="1200" dirty="0">
                        <a:solidFill>
                          <a:schemeClr val="tx1"/>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600" b="0" kern="1200" dirty="0">
                          <a:solidFill>
                            <a:schemeClr val="tx1"/>
                          </a:solidFill>
                          <a:latin typeface="Aptos Light" panose="020B0004020202020204" pitchFamily="34" charset="0"/>
                          <a:ea typeface="+mn-ea"/>
                          <a:cs typeface="+mn-cs"/>
                        </a:rPr>
                        <a:t>Sin escaneo de vulnerabilidades; dependencias sin fijar.</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600" b="0" kern="1200" dirty="0">
                          <a:solidFill>
                            <a:schemeClr val="tx1"/>
                          </a:solidFill>
                          <a:latin typeface="Aptos Light" panose="020B0004020202020204" pitchFamily="34" charset="0"/>
                          <a:ea typeface="+mn-ea"/>
                          <a:cs typeface="+mn-cs"/>
                        </a:rPr>
                        <a:t>SCA en CI → </a:t>
                      </a:r>
                      <a:r>
                        <a:rPr lang="es-ES" sz="1600" b="1" kern="1200" dirty="0">
                          <a:solidFill>
                            <a:schemeClr val="tx1"/>
                          </a:solidFill>
                          <a:latin typeface="Aptos Light" panose="020B0004020202020204" pitchFamily="34" charset="0"/>
                          <a:ea typeface="+mn-ea"/>
                          <a:cs typeface="+mn-cs"/>
                        </a:rPr>
                        <a:t>4 </a:t>
                      </a:r>
                      <a:r>
                        <a:rPr lang="es-ES" sz="1600" b="1" kern="1200" dirty="0" err="1">
                          <a:solidFill>
                            <a:schemeClr val="tx1"/>
                          </a:solidFill>
                          <a:latin typeface="Aptos Light" panose="020B0004020202020204" pitchFamily="34" charset="0"/>
                          <a:ea typeface="+mn-ea"/>
                          <a:cs typeface="+mn-cs"/>
                        </a:rPr>
                        <a:t>CVEs</a:t>
                      </a:r>
                      <a:r>
                        <a:rPr lang="es-ES" sz="1600" b="1" kern="1200" dirty="0">
                          <a:solidFill>
                            <a:schemeClr val="tx1"/>
                          </a:solidFill>
                          <a:latin typeface="Aptos Light" panose="020B0004020202020204" pitchFamily="34" charset="0"/>
                          <a:ea typeface="+mn-ea"/>
                          <a:cs typeface="+mn-cs"/>
                        </a:rPr>
                        <a:t> reales</a:t>
                      </a:r>
                      <a:r>
                        <a:rPr lang="es-ES" sz="1600" b="0" kern="1200" dirty="0">
                          <a:solidFill>
                            <a:schemeClr val="tx1"/>
                          </a:solidFill>
                          <a:latin typeface="Aptos Light" panose="020B0004020202020204" pitchFamily="34" charset="0"/>
                          <a:ea typeface="+mn-ea"/>
                          <a:cs typeface="+mn-cs"/>
                        </a:rPr>
                        <a:t>: 2 cerrados, 1 actualizado, 1 sin </a:t>
                      </a:r>
                      <a:r>
                        <a:rPr lang="es-ES" sz="1600" b="0" kern="1200" dirty="0" err="1">
                          <a:solidFill>
                            <a:schemeClr val="tx1"/>
                          </a:solidFill>
                          <a:latin typeface="Aptos Light" panose="020B0004020202020204" pitchFamily="34" charset="0"/>
                          <a:ea typeface="+mn-ea"/>
                          <a:cs typeface="+mn-cs"/>
                        </a:rPr>
                        <a:t>fix</a:t>
                      </a:r>
                      <a:r>
                        <a:rPr lang="es-ES" sz="1600" b="0" kern="1200" dirty="0">
                          <a:solidFill>
                            <a:schemeClr val="tx1"/>
                          </a:solidFill>
                          <a:latin typeface="Aptos Light" panose="020B0004020202020204" pitchFamily="34" charset="0"/>
                          <a:ea typeface="+mn-ea"/>
                          <a:cs typeface="+mn-cs"/>
                        </a:rPr>
                        <a:t> documentado y aceptado.</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72972931"/>
                  </a:ext>
                </a:extLst>
              </a:tr>
              <a:tr h="365760">
                <a:tc>
                  <a:txBody>
                    <a:bodyPr/>
                    <a:lstStyle/>
                    <a:p>
                      <a:pPr marL="0" algn="l" defTabSz="457200" rtl="0" eaLnBrk="1" latinLnBrk="0" hangingPunct="1"/>
                      <a:r>
                        <a:rPr lang="es-ES" sz="1600" b="1" kern="1200" dirty="0">
                          <a:solidFill>
                            <a:schemeClr val="tx1"/>
                          </a:solidFill>
                          <a:latin typeface="Aptos Light" panose="020B0004020202020204" pitchFamily="34" charset="0"/>
                          <a:ea typeface="+mn-ea"/>
                          <a:cs typeface="+mn-cs"/>
                        </a:rPr>
                        <a:t>A04</a:t>
                      </a:r>
                      <a:r>
                        <a:rPr lang="es-ES" sz="1600" b="0" kern="1200" dirty="0">
                          <a:solidFill>
                            <a:schemeClr val="tx1"/>
                          </a:solidFill>
                          <a:latin typeface="Aptos Light" panose="020B0004020202020204" pitchFamily="34" charset="0"/>
                          <a:ea typeface="+mn-ea"/>
                          <a:cs typeface="+mn-cs"/>
                        </a:rPr>
                        <a:t> Frontera IA</a:t>
                      </a:r>
                      <a:endParaRPr sz="1600" b="0" kern="1200" dirty="0">
                        <a:solidFill>
                          <a:schemeClr val="tx1"/>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600" b="0" kern="1200" dirty="0">
                          <a:solidFill>
                            <a:schemeClr val="tx1"/>
                          </a:solidFill>
                          <a:latin typeface="Aptos Light" panose="020B0004020202020204" pitchFamily="34" charset="0"/>
                          <a:ea typeface="+mn-ea"/>
                          <a:cs typeface="+mn-cs"/>
                        </a:rPr>
                        <a:t>El aislamiento </a:t>
                      </a:r>
                      <a:r>
                        <a:rPr lang="es-ES" sz="1600" b="0" kern="1200" dirty="0" err="1">
                          <a:solidFill>
                            <a:schemeClr val="tx1"/>
                          </a:solidFill>
                          <a:latin typeface="Aptos Light" panose="020B0004020202020204" pitchFamily="34" charset="0"/>
                          <a:ea typeface="+mn-ea"/>
                          <a:cs typeface="+mn-cs"/>
                        </a:rPr>
                        <a:t>identidad↔métricas</a:t>
                      </a:r>
                      <a:r>
                        <a:rPr lang="es-ES" sz="1600" b="0" kern="1200" dirty="0">
                          <a:solidFill>
                            <a:schemeClr val="tx1"/>
                          </a:solidFill>
                          <a:latin typeface="Aptos Light" panose="020B0004020202020204" pitchFamily="34" charset="0"/>
                          <a:ea typeface="+mn-ea"/>
                          <a:cs typeface="+mn-cs"/>
                        </a:rPr>
                        <a:t> dependía de la disciplina del código.</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600" b="0" kern="1200" dirty="0">
                          <a:solidFill>
                            <a:schemeClr val="tx1"/>
                          </a:solidFill>
                          <a:latin typeface="Aptos Light" panose="020B0004020202020204" pitchFamily="34" charset="0"/>
                          <a:ea typeface="+mn-ea"/>
                          <a:cs typeface="+mn-cs"/>
                        </a:rPr>
                        <a:t>Rol </a:t>
                      </a:r>
                      <a:r>
                        <a:rPr lang="es-ES" sz="1600" b="0" kern="1200" dirty="0" err="1">
                          <a:solidFill>
                            <a:schemeClr val="tx1"/>
                          </a:solidFill>
                          <a:latin typeface="Aptos Light" panose="020B0004020202020204" pitchFamily="34" charset="0"/>
                          <a:ea typeface="+mn-ea"/>
                          <a:cs typeface="+mn-cs"/>
                        </a:rPr>
                        <a:t>ftm_ai</a:t>
                      </a:r>
                      <a:r>
                        <a:rPr lang="es-ES" sz="1600" b="0" kern="1200" dirty="0">
                          <a:solidFill>
                            <a:schemeClr val="tx1"/>
                          </a:solidFill>
                          <a:latin typeface="Aptos Light" panose="020B0004020202020204" pitchFamily="34" charset="0"/>
                          <a:ea typeface="+mn-ea"/>
                          <a:cs typeface="+mn-cs"/>
                        </a:rPr>
                        <a:t> con RLS: sólo ve métricas </a:t>
                      </a:r>
                      <a:r>
                        <a:rPr lang="es-ES" sz="1600" b="0" kern="1200" dirty="0" err="1">
                          <a:solidFill>
                            <a:schemeClr val="tx1"/>
                          </a:solidFill>
                          <a:latin typeface="Aptos Light" panose="020B0004020202020204" pitchFamily="34" charset="0"/>
                          <a:ea typeface="+mn-ea"/>
                          <a:cs typeface="+mn-cs"/>
                        </a:rPr>
                        <a:t>seudonimizadas</a:t>
                      </a:r>
                      <a:r>
                        <a:rPr lang="es-ES" sz="1600" b="0" kern="1200" dirty="0">
                          <a:solidFill>
                            <a:schemeClr val="tx1"/>
                          </a:solidFill>
                          <a:latin typeface="Aptos Light" panose="020B0004020202020204" pitchFamily="34" charset="0"/>
                          <a:ea typeface="+mn-ea"/>
                          <a:cs typeface="+mn-cs"/>
                        </a:rPr>
                        <a:t>. </a:t>
                      </a:r>
                      <a:r>
                        <a:rPr lang="es-ES" sz="1600" b="1" kern="1200" dirty="0">
                          <a:solidFill>
                            <a:schemeClr val="tx1"/>
                          </a:solidFill>
                          <a:latin typeface="Aptos Light" panose="020B0004020202020204" pitchFamily="34" charset="0"/>
                          <a:ea typeface="+mn-ea"/>
                          <a:cs typeface="+mn-cs"/>
                        </a:rPr>
                        <a:t>La BD lo impide, no el código.</a:t>
                      </a:r>
                      <a:endParaRPr sz="1600" b="1"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5760">
                <a:tc>
                  <a:txBody>
                    <a:bodyPr/>
                    <a:lstStyle/>
                    <a:p>
                      <a:pPr marL="0" algn="l" defTabSz="457200" rtl="0" eaLnBrk="1" latinLnBrk="0" hangingPunct="1"/>
                      <a:r>
                        <a:rPr lang="es-ES" sz="1600" b="1" kern="1200" dirty="0">
                          <a:solidFill>
                            <a:schemeClr val="tx1"/>
                          </a:solidFill>
                          <a:latin typeface="Aptos Light" panose="020B0004020202020204" pitchFamily="34" charset="0"/>
                          <a:ea typeface="+mn-ea"/>
                          <a:cs typeface="+mn-cs"/>
                        </a:rPr>
                        <a:t>A09</a:t>
                      </a:r>
                      <a:r>
                        <a:rPr lang="es-ES" sz="1600" b="0" kern="1200" dirty="0">
                          <a:solidFill>
                            <a:schemeClr val="tx1"/>
                          </a:solidFill>
                          <a:latin typeface="Aptos Light" panose="020B0004020202020204" pitchFamily="34" charset="0"/>
                          <a:ea typeface="+mn-ea"/>
                          <a:cs typeface="+mn-cs"/>
                        </a:rPr>
                        <a:t> Auditoría</a:t>
                      </a:r>
                      <a:endParaRPr sz="1600" b="0" kern="1200" dirty="0">
                        <a:solidFill>
                          <a:schemeClr val="tx1"/>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600" b="0" kern="1200" dirty="0">
                          <a:solidFill>
                            <a:schemeClr val="tx1"/>
                          </a:solidFill>
                          <a:latin typeface="Aptos Light" panose="020B0004020202020204" pitchFamily="34" charset="0"/>
                          <a:ea typeface="+mn-ea"/>
                          <a:cs typeface="+mn-cs"/>
                        </a:rPr>
                        <a:t>Sólo se registraban escrituras: una lectura indebida no dejaba rastro.</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600" b="0" kern="1200" dirty="0">
                          <a:solidFill>
                            <a:schemeClr val="tx1"/>
                          </a:solidFill>
                          <a:latin typeface="Aptos Light" panose="020B0004020202020204" pitchFamily="34" charset="0"/>
                          <a:ea typeface="+mn-ea"/>
                          <a:cs typeface="+mn-cs"/>
                        </a:rPr>
                        <a:t>Auditoría de lecturas + accesos </a:t>
                      </a:r>
                      <a:r>
                        <a:rPr lang="es-ES" sz="1600" b="1" kern="1200" dirty="0">
                          <a:solidFill>
                            <a:schemeClr val="tx1"/>
                          </a:solidFill>
                          <a:latin typeface="Aptos Light" panose="020B0004020202020204" pitchFamily="34" charset="0"/>
                          <a:ea typeface="+mn-ea"/>
                          <a:cs typeface="+mn-cs"/>
                        </a:rPr>
                        <a:t>denegados</a:t>
                      </a:r>
                      <a:r>
                        <a:rPr lang="es-ES" sz="1600" b="0" kern="1200" dirty="0">
                          <a:solidFill>
                            <a:schemeClr val="tx1"/>
                          </a:solidFill>
                          <a:latin typeface="Aptos Light" panose="020B0004020202020204" pitchFamily="34" charset="0"/>
                          <a:ea typeface="+mn-ea"/>
                          <a:cs typeface="+mn-cs"/>
                        </a:rPr>
                        <a:t> (detecta sondeo).</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marL="0" algn="l" defTabSz="457200" rtl="0" eaLnBrk="1" latinLnBrk="0" hangingPunct="1"/>
                      <a:r>
                        <a:rPr lang="es-ES" sz="1600" b="1" kern="1200" dirty="0">
                          <a:solidFill>
                            <a:schemeClr val="tx1"/>
                          </a:solidFill>
                          <a:latin typeface="Aptos Light" panose="020B0004020202020204" pitchFamily="34" charset="0"/>
                          <a:ea typeface="+mn-ea"/>
                          <a:cs typeface="+mn-cs"/>
                        </a:rPr>
                        <a:t>A05</a:t>
                      </a:r>
                      <a:r>
                        <a:rPr lang="es-ES" sz="1600" b="0" kern="1200" dirty="0">
                          <a:solidFill>
                            <a:schemeClr val="tx1"/>
                          </a:solidFill>
                          <a:latin typeface="Aptos Light" panose="020B0004020202020204" pitchFamily="34" charset="0"/>
                          <a:ea typeface="+mn-ea"/>
                          <a:cs typeface="+mn-cs"/>
                        </a:rPr>
                        <a:t> Configuración</a:t>
                      </a:r>
                      <a:endParaRPr sz="1600" b="0" kern="1200" dirty="0">
                        <a:solidFill>
                          <a:schemeClr val="tx1"/>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600" b="0" kern="1200" dirty="0">
                          <a:solidFill>
                            <a:schemeClr val="tx1"/>
                          </a:solidFill>
                          <a:latin typeface="Aptos Light" panose="020B0004020202020204" pitchFamily="34" charset="0"/>
                          <a:ea typeface="+mn-ea"/>
                          <a:cs typeface="+mn-cs"/>
                        </a:rPr>
                        <a:t>/</a:t>
                      </a:r>
                      <a:r>
                        <a:rPr lang="es-ES" sz="1600" b="0" kern="1200" dirty="0" err="1">
                          <a:solidFill>
                            <a:schemeClr val="tx1"/>
                          </a:solidFill>
                          <a:latin typeface="Aptos Light" panose="020B0004020202020204" pitchFamily="34" charset="0"/>
                          <a:ea typeface="+mn-ea"/>
                          <a:cs typeface="+mn-cs"/>
                        </a:rPr>
                        <a:t>docs</a:t>
                      </a:r>
                      <a:r>
                        <a:rPr lang="es-ES" sz="1600" b="0" kern="1200" dirty="0">
                          <a:solidFill>
                            <a:schemeClr val="tx1"/>
                          </a:solidFill>
                          <a:latin typeface="Aptos Light" panose="020B0004020202020204" pitchFamily="34" charset="0"/>
                          <a:ea typeface="+mn-ea"/>
                          <a:cs typeface="+mn-cs"/>
                        </a:rPr>
                        <a:t> y /</a:t>
                      </a:r>
                      <a:r>
                        <a:rPr lang="es-ES" sz="1600" b="0" kern="1200" dirty="0" err="1">
                          <a:solidFill>
                            <a:schemeClr val="tx1"/>
                          </a:solidFill>
                          <a:latin typeface="Aptos Light" panose="020B0004020202020204" pitchFamily="34" charset="0"/>
                          <a:ea typeface="+mn-ea"/>
                          <a:cs typeface="+mn-cs"/>
                        </a:rPr>
                        <a:t>openapi.json</a:t>
                      </a:r>
                      <a:r>
                        <a:rPr lang="es-ES" sz="1600" b="0" kern="1200" dirty="0">
                          <a:solidFill>
                            <a:schemeClr val="tx1"/>
                          </a:solidFill>
                          <a:latin typeface="Aptos Light" panose="020B0004020202020204" pitchFamily="34" charset="0"/>
                          <a:ea typeface="+mn-ea"/>
                          <a:cs typeface="+mn-cs"/>
                        </a:rPr>
                        <a:t> abiertos en producción. Consola de </a:t>
                      </a:r>
                      <a:r>
                        <a:rPr lang="es-ES" sz="1600" b="0" kern="1200" dirty="0" err="1">
                          <a:solidFill>
                            <a:schemeClr val="tx1"/>
                          </a:solidFill>
                          <a:latin typeface="Aptos Light" panose="020B0004020202020204" pitchFamily="34" charset="0"/>
                          <a:ea typeface="+mn-ea"/>
                          <a:cs typeface="+mn-cs"/>
                        </a:rPr>
                        <a:t>Keycloak</a:t>
                      </a:r>
                      <a:r>
                        <a:rPr lang="es-ES" sz="1600" b="0" kern="1200" dirty="0">
                          <a:solidFill>
                            <a:schemeClr val="tx1"/>
                          </a:solidFill>
                          <a:latin typeface="Aptos Light" panose="020B0004020202020204" pitchFamily="34" charset="0"/>
                          <a:ea typeface="+mn-ea"/>
                          <a:cs typeface="+mn-cs"/>
                        </a:rPr>
                        <a:t> accesible desde internet.</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600" b="0" kern="1200" dirty="0">
                          <a:solidFill>
                            <a:schemeClr val="tx1"/>
                          </a:solidFill>
                          <a:latin typeface="Aptos Light" panose="020B0004020202020204" pitchFamily="34" charset="0"/>
                          <a:ea typeface="+mn-ea"/>
                          <a:cs typeface="+mn-cs"/>
                        </a:rPr>
                        <a:t>Desactivados en </a:t>
                      </a:r>
                      <a:r>
                        <a:rPr lang="es-ES" sz="1600" b="0" kern="1200" dirty="0" err="1">
                          <a:solidFill>
                            <a:schemeClr val="tx1"/>
                          </a:solidFill>
                          <a:latin typeface="Aptos Light" panose="020B0004020202020204" pitchFamily="34" charset="0"/>
                          <a:ea typeface="+mn-ea"/>
                          <a:cs typeface="+mn-cs"/>
                        </a:rPr>
                        <a:t>prod</a:t>
                      </a:r>
                      <a:r>
                        <a:rPr lang="es-ES" sz="1600" b="0" kern="1200" dirty="0">
                          <a:solidFill>
                            <a:schemeClr val="tx1"/>
                          </a:solidFill>
                          <a:latin typeface="Aptos Light" panose="020B0004020202020204" pitchFamily="34" charset="0"/>
                          <a:ea typeface="+mn-ea"/>
                          <a:cs typeface="+mn-cs"/>
                        </a:rPr>
                        <a:t>. Consola retirada del proxy público; </a:t>
                      </a:r>
                      <a:r>
                        <a:rPr lang="es-ES" sz="1600" b="0" kern="1200" dirty="0" err="1">
                          <a:solidFill>
                            <a:schemeClr val="tx1"/>
                          </a:solidFill>
                          <a:latin typeface="Aptos Light" panose="020B0004020202020204" pitchFamily="34" charset="0"/>
                          <a:ea typeface="+mn-ea"/>
                          <a:cs typeface="+mn-cs"/>
                        </a:rPr>
                        <a:t>admin</a:t>
                      </a:r>
                      <a:r>
                        <a:rPr lang="es-ES" sz="1600" b="0" kern="1200" dirty="0">
                          <a:solidFill>
                            <a:schemeClr val="tx1"/>
                          </a:solidFill>
                          <a:latin typeface="Aptos Light" panose="020B0004020202020204" pitchFamily="34" charset="0"/>
                          <a:ea typeface="+mn-ea"/>
                          <a:cs typeface="+mn-cs"/>
                        </a:rPr>
                        <a:t> sólo por red privada.</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5760">
                <a:tc>
                  <a:txBody>
                    <a:bodyPr/>
                    <a:lstStyle/>
                    <a:p>
                      <a:pPr marL="0" algn="l" defTabSz="457200" rtl="0" eaLnBrk="1" latinLnBrk="0" hangingPunct="1"/>
                      <a:r>
                        <a:rPr lang="es-ES" sz="1600" b="1" kern="1200" dirty="0">
                          <a:solidFill>
                            <a:schemeClr val="tx1"/>
                          </a:solidFill>
                          <a:latin typeface="Aptos Light" panose="020B0004020202020204" pitchFamily="34" charset="0"/>
                          <a:ea typeface="+mn-ea"/>
                          <a:cs typeface="+mn-cs"/>
                        </a:rPr>
                        <a:t>A07</a:t>
                      </a:r>
                      <a:r>
                        <a:rPr lang="es-ES" sz="1600" b="0" kern="1200" dirty="0">
                          <a:solidFill>
                            <a:schemeClr val="tx1"/>
                          </a:solidFill>
                          <a:latin typeface="Aptos Light" panose="020B0004020202020204" pitchFamily="34" charset="0"/>
                          <a:ea typeface="+mn-ea"/>
                          <a:cs typeface="+mn-cs"/>
                        </a:rPr>
                        <a:t> Autenticación</a:t>
                      </a:r>
                      <a:endParaRPr sz="1600" b="0" kern="1200" dirty="0">
                        <a:solidFill>
                          <a:schemeClr val="tx1"/>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600" b="0" kern="1200" dirty="0">
                          <a:solidFill>
                            <a:schemeClr val="tx1"/>
                          </a:solidFill>
                          <a:latin typeface="Aptos Light" panose="020B0004020202020204" pitchFamily="34" charset="0"/>
                          <a:ea typeface="+mn-ea"/>
                          <a:cs typeface="+mn-cs"/>
                        </a:rPr>
                        <a:t>El </a:t>
                      </a:r>
                      <a:r>
                        <a:rPr lang="es-ES" sz="1600" b="0" kern="1200" dirty="0" err="1">
                          <a:solidFill>
                            <a:schemeClr val="tx1"/>
                          </a:solidFill>
                          <a:latin typeface="Aptos Light" panose="020B0004020202020204" pitchFamily="34" charset="0"/>
                          <a:ea typeface="+mn-ea"/>
                          <a:cs typeface="+mn-cs"/>
                        </a:rPr>
                        <a:t>aud</a:t>
                      </a:r>
                      <a:r>
                        <a:rPr lang="es-ES" sz="1600" b="0" kern="1200" dirty="0">
                          <a:solidFill>
                            <a:schemeClr val="tx1"/>
                          </a:solidFill>
                          <a:latin typeface="Aptos Light" panose="020B0004020202020204" pitchFamily="34" charset="0"/>
                          <a:ea typeface="+mn-ea"/>
                          <a:cs typeface="+mn-cs"/>
                        </a:rPr>
                        <a:t> del token no se validaba: cualquier token del </a:t>
                      </a:r>
                      <a:r>
                        <a:rPr lang="es-ES" sz="1600" b="0" kern="1200" dirty="0" err="1">
                          <a:solidFill>
                            <a:schemeClr val="tx1"/>
                          </a:solidFill>
                          <a:latin typeface="Aptos Light" panose="020B0004020202020204" pitchFamily="34" charset="0"/>
                          <a:ea typeface="+mn-ea"/>
                          <a:cs typeface="+mn-cs"/>
                        </a:rPr>
                        <a:t>realm</a:t>
                      </a:r>
                      <a:r>
                        <a:rPr lang="es-ES" sz="1600" b="0" kern="1200" dirty="0">
                          <a:solidFill>
                            <a:schemeClr val="tx1"/>
                          </a:solidFill>
                          <a:latin typeface="Aptos Light" panose="020B0004020202020204" pitchFamily="34" charset="0"/>
                          <a:ea typeface="+mn-ea"/>
                          <a:cs typeface="+mn-cs"/>
                        </a:rPr>
                        <a:t> entraba a la API clínica. Algoritmo tomado del propio token.</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just" defTabSz="457200" rtl="0" eaLnBrk="1" latinLnBrk="0" hangingPunct="1"/>
                      <a:r>
                        <a:rPr lang="es-ES" sz="1600" b="0" kern="1200" dirty="0" err="1">
                          <a:solidFill>
                            <a:schemeClr val="tx1"/>
                          </a:solidFill>
                          <a:latin typeface="Aptos Light" panose="020B0004020202020204" pitchFamily="34" charset="0"/>
                          <a:ea typeface="+mn-ea"/>
                          <a:cs typeface="+mn-cs"/>
                        </a:rPr>
                        <a:t>Audience</a:t>
                      </a:r>
                      <a:r>
                        <a:rPr lang="es-ES" sz="1600" b="0" kern="1200" dirty="0">
                          <a:solidFill>
                            <a:schemeClr val="tx1"/>
                          </a:solidFill>
                          <a:latin typeface="Aptos Light" panose="020B0004020202020204" pitchFamily="34" charset="0"/>
                          <a:ea typeface="+mn-ea"/>
                          <a:cs typeface="+mn-cs"/>
                        </a:rPr>
                        <a:t> </a:t>
                      </a:r>
                      <a:r>
                        <a:rPr lang="es-ES" sz="1600" b="0" kern="1200" dirty="0" err="1">
                          <a:solidFill>
                            <a:schemeClr val="tx1"/>
                          </a:solidFill>
                          <a:latin typeface="Aptos Light" panose="020B0004020202020204" pitchFamily="34" charset="0"/>
                          <a:ea typeface="+mn-ea"/>
                          <a:cs typeface="+mn-cs"/>
                        </a:rPr>
                        <a:t>mapper</a:t>
                      </a:r>
                      <a:r>
                        <a:rPr lang="es-ES" sz="1600" b="0" kern="1200" dirty="0">
                          <a:solidFill>
                            <a:schemeClr val="tx1"/>
                          </a:solidFill>
                          <a:latin typeface="Aptos Light" panose="020B0004020202020204" pitchFamily="34" charset="0"/>
                          <a:ea typeface="+mn-ea"/>
                          <a:cs typeface="+mn-cs"/>
                        </a:rPr>
                        <a:t> en </a:t>
                      </a:r>
                      <a:r>
                        <a:rPr lang="es-ES" sz="1600" b="0" kern="1200" dirty="0" err="1">
                          <a:solidFill>
                            <a:schemeClr val="tx1"/>
                          </a:solidFill>
                          <a:latin typeface="Aptos Light" panose="020B0004020202020204" pitchFamily="34" charset="0"/>
                          <a:ea typeface="+mn-ea"/>
                          <a:cs typeface="+mn-cs"/>
                        </a:rPr>
                        <a:t>Keycloak</a:t>
                      </a:r>
                      <a:r>
                        <a:rPr lang="es-ES" sz="1600" b="0" kern="1200" dirty="0">
                          <a:solidFill>
                            <a:schemeClr val="tx1"/>
                          </a:solidFill>
                          <a:latin typeface="Aptos Light" panose="020B0004020202020204" pitchFamily="34" charset="0"/>
                          <a:ea typeface="+mn-ea"/>
                          <a:cs typeface="+mn-cs"/>
                        </a:rPr>
                        <a:t> + </a:t>
                      </a:r>
                      <a:r>
                        <a:rPr lang="es-ES" sz="1600" b="0" kern="1200" dirty="0" err="1">
                          <a:solidFill>
                            <a:schemeClr val="tx1"/>
                          </a:solidFill>
                          <a:latin typeface="Aptos Light" panose="020B0004020202020204" pitchFamily="34" charset="0"/>
                          <a:ea typeface="+mn-ea"/>
                          <a:cs typeface="+mn-cs"/>
                        </a:rPr>
                        <a:t>verify_aud</a:t>
                      </a:r>
                      <a:r>
                        <a:rPr lang="es-ES" sz="1600" b="0" kern="1200" dirty="0">
                          <a:solidFill>
                            <a:schemeClr val="tx1"/>
                          </a:solidFill>
                          <a:latin typeface="Aptos Light" panose="020B0004020202020204" pitchFamily="34" charset="0"/>
                          <a:ea typeface="+mn-ea"/>
                          <a:cs typeface="+mn-cs"/>
                        </a:rPr>
                        <a:t>. RS256 fijo. </a:t>
                      </a:r>
                      <a:r>
                        <a:rPr lang="es-ES" sz="1600" b="0" kern="1200" dirty="0" err="1">
                          <a:solidFill>
                            <a:schemeClr val="tx1"/>
                          </a:solidFill>
                          <a:latin typeface="Aptos Light" panose="020B0004020202020204" pitchFamily="34" charset="0"/>
                          <a:ea typeface="+mn-ea"/>
                          <a:cs typeface="+mn-cs"/>
                        </a:rPr>
                        <a:t>Re-verificado</a:t>
                      </a:r>
                      <a:r>
                        <a:rPr lang="es-ES" sz="1600" b="0" kern="1200" dirty="0">
                          <a:solidFill>
                            <a:schemeClr val="tx1"/>
                          </a:solidFill>
                          <a:latin typeface="Aptos Light" panose="020B0004020202020204" pitchFamily="34" charset="0"/>
                          <a:ea typeface="+mn-ea"/>
                          <a:cs typeface="+mn-cs"/>
                        </a:rPr>
                        <a:t> con token real.</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024428"/>
                  </a:ext>
                </a:extLst>
              </a:tr>
            </a:tbl>
          </a:graphicData>
        </a:graphic>
      </p:graphicFrame>
      <p:sp>
        <p:nvSpPr>
          <p:cNvPr id="11" name="CuadroTexto 10">
            <a:extLst>
              <a:ext uri="{FF2B5EF4-FFF2-40B4-BE49-F238E27FC236}">
                <a16:creationId xmlns:a16="http://schemas.microsoft.com/office/drawing/2014/main" id="{88F3F46B-0C3E-71B7-AA82-646E35C1B908}"/>
              </a:ext>
            </a:extLst>
          </p:cNvPr>
          <p:cNvSpPr txBox="1"/>
          <p:nvPr/>
        </p:nvSpPr>
        <p:spPr>
          <a:xfrm>
            <a:off x="875619" y="6206704"/>
            <a:ext cx="11403466" cy="584775"/>
          </a:xfrm>
          <a:prstGeom prst="rect">
            <a:avLst/>
          </a:prstGeom>
          <a:noFill/>
        </p:spPr>
        <p:txBody>
          <a:bodyPr wrap="square">
            <a:spAutoFit/>
          </a:bodyPr>
          <a:lstStyle/>
          <a:p>
            <a:r>
              <a:rPr lang="es-ES" sz="1600" dirty="0">
                <a:solidFill>
                  <a:srgbClr val="444A54"/>
                </a:solidFill>
                <a:latin typeface="Aptos Light"/>
              </a:rPr>
              <a:t>Idea clave: un control que no se puede eludir aunque el código falle (RLS, roles de BD) es más fuerte que uno que depende de recordar aplicarlo. La frontera pasó del papel al motor de base de datos.</a:t>
            </a:r>
          </a:p>
        </p:txBody>
      </p:sp>
    </p:spTree>
    <p:extLst>
      <p:ext uri="{BB962C8B-B14F-4D97-AF65-F5344CB8AC3E}">
        <p14:creationId xmlns:p14="http://schemas.microsoft.com/office/powerpoint/2010/main" val="3438505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56032"/>
            <a:ext cx="548640" cy="54864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7</a:t>
            </a:r>
          </a:p>
        </p:txBody>
      </p:sp>
      <p:sp>
        <p:nvSpPr>
          <p:cNvPr id="4" name="TextBox 3"/>
          <p:cNvSpPr txBox="1"/>
          <p:nvPr/>
        </p:nvSpPr>
        <p:spPr>
          <a:xfrm>
            <a:off x="1188720" y="314462"/>
            <a:ext cx="10515600" cy="523220"/>
          </a:xfrm>
          <a:prstGeom prst="rect">
            <a:avLst/>
          </a:prstGeom>
          <a:noFill/>
        </p:spPr>
        <p:txBody>
          <a:bodyPr wrap="square" anchor="ctr">
            <a:spAutoFit/>
          </a:bodyPr>
          <a:lstStyle/>
          <a:p>
            <a:pPr algn="l">
              <a:spcAft>
                <a:spcPts val="600"/>
              </a:spcAft>
            </a:pPr>
            <a:r>
              <a:rPr sz="2800" b="1" dirty="0" err="1">
                <a:solidFill>
                  <a:srgbClr val="FFFFFF"/>
                </a:solidFill>
                <a:latin typeface="Aptos Light" panose="020B0004020202020204" pitchFamily="34" charset="0"/>
              </a:rPr>
              <a:t>Extensiones</a:t>
            </a:r>
            <a:r>
              <a:rPr sz="2800" b="1" dirty="0">
                <a:solidFill>
                  <a:srgbClr val="FFFFFF"/>
                </a:solidFill>
                <a:latin typeface="Aptos Light" panose="020B0004020202020204" pitchFamily="34" charset="0"/>
              </a:rPr>
              <a:t> del </a:t>
            </a:r>
            <a:r>
              <a:rPr sz="2800" b="1" dirty="0" err="1">
                <a:solidFill>
                  <a:srgbClr val="FFFFFF"/>
                </a:solidFill>
                <a:latin typeface="Aptos Light" panose="020B0004020202020204" pitchFamily="34" charset="0"/>
              </a:rPr>
              <a:t>caso</a:t>
            </a:r>
            <a:r>
              <a:rPr sz="2800" b="1" dirty="0">
                <a:solidFill>
                  <a:srgbClr val="FFFFFF"/>
                </a:solidFill>
                <a:latin typeface="Aptos Light" panose="020B0004020202020204" pitchFamily="34" charset="0"/>
              </a:rPr>
              <a:t> de </a:t>
            </a:r>
            <a:r>
              <a:rPr sz="2800" b="1" dirty="0" err="1">
                <a:solidFill>
                  <a:srgbClr val="FFFFFF"/>
                </a:solidFill>
                <a:latin typeface="Aptos Light" panose="020B0004020202020204" pitchFamily="34" charset="0"/>
              </a:rPr>
              <a:t>uso</a:t>
            </a:r>
            <a:endParaRPr sz="2800" b="1" dirty="0">
              <a:solidFill>
                <a:srgbClr val="FFFFFF"/>
              </a:solidFill>
              <a:latin typeface="Aptos Light" panose="020B0004020202020204" pitchFamily="34" charset="0"/>
            </a:endParaRPr>
          </a:p>
        </p:txBody>
      </p:sp>
      <p:sp>
        <p:nvSpPr>
          <p:cNvPr id="5" name="TextBox 4"/>
          <p:cNvSpPr txBox="1"/>
          <p:nvPr/>
        </p:nvSpPr>
        <p:spPr>
          <a:xfrm>
            <a:off x="548640" y="1325880"/>
            <a:ext cx="11064240" cy="661720"/>
          </a:xfrm>
          <a:prstGeom prst="rect">
            <a:avLst/>
          </a:prstGeom>
          <a:noFill/>
        </p:spPr>
        <p:txBody>
          <a:bodyPr wrap="square" anchor="t">
            <a:spAutoFit/>
          </a:bodyPr>
          <a:lstStyle/>
          <a:p>
            <a:pPr algn="just">
              <a:spcAft>
                <a:spcPts val="600"/>
              </a:spcAft>
            </a:pPr>
            <a:r>
              <a:rPr sz="1600" dirty="0">
                <a:solidFill>
                  <a:srgbClr val="444A54"/>
                </a:solidFill>
                <a:latin typeface="Aptos Light"/>
              </a:rPr>
              <a:t>El </a:t>
            </a:r>
            <a:r>
              <a:rPr sz="1600" dirty="0" err="1">
                <a:solidFill>
                  <a:srgbClr val="444A54"/>
                </a:solidFill>
                <a:latin typeface="Aptos Light"/>
              </a:rPr>
              <a:t>mismo</a:t>
            </a:r>
            <a:r>
              <a:rPr sz="1600" dirty="0">
                <a:solidFill>
                  <a:srgbClr val="444A54"/>
                </a:solidFill>
                <a:latin typeface="Aptos Light"/>
              </a:rPr>
              <a:t> </a:t>
            </a:r>
            <a:r>
              <a:rPr sz="1600" dirty="0" err="1">
                <a:solidFill>
                  <a:srgbClr val="444A54"/>
                </a:solidFill>
                <a:latin typeface="Aptos Light"/>
              </a:rPr>
              <a:t>patrón</a:t>
            </a:r>
            <a:r>
              <a:rPr sz="1600" dirty="0">
                <a:solidFill>
                  <a:srgbClr val="444A54"/>
                </a:solidFill>
                <a:latin typeface="Aptos Light"/>
              </a:rPr>
              <a:t> </a:t>
            </a:r>
            <a:r>
              <a:rPr sz="1600" dirty="0" err="1">
                <a:solidFill>
                  <a:srgbClr val="444A54"/>
                </a:solidFill>
                <a:latin typeface="Aptos Light"/>
              </a:rPr>
              <a:t>sirve</a:t>
            </a:r>
            <a:r>
              <a:rPr sz="1600" dirty="0">
                <a:solidFill>
                  <a:srgbClr val="444A54"/>
                </a:solidFill>
                <a:latin typeface="Aptos Light"/>
              </a:rPr>
              <a:t> para </a:t>
            </a:r>
            <a:r>
              <a:rPr sz="1600" dirty="0" err="1">
                <a:solidFill>
                  <a:srgbClr val="444A54"/>
                </a:solidFill>
                <a:latin typeface="Aptos Light"/>
              </a:rPr>
              <a:t>cualquier</a:t>
            </a:r>
            <a:r>
              <a:rPr sz="1600" dirty="0">
                <a:solidFill>
                  <a:srgbClr val="444A54"/>
                </a:solidFill>
                <a:latin typeface="Aptos Light"/>
              </a:rPr>
              <a:t> </a:t>
            </a:r>
            <a:r>
              <a:rPr sz="1600" dirty="0" err="1">
                <a:solidFill>
                  <a:srgbClr val="444A54"/>
                </a:solidFill>
                <a:latin typeface="Aptos Light"/>
              </a:rPr>
              <a:t>ámbito</a:t>
            </a:r>
            <a:r>
              <a:rPr sz="1600" dirty="0">
                <a:solidFill>
                  <a:srgbClr val="444A54"/>
                </a:solidFill>
                <a:latin typeface="Aptos Light"/>
              </a:rPr>
              <a:t> </a:t>
            </a:r>
            <a:r>
              <a:rPr sz="1600" dirty="0" err="1">
                <a:solidFill>
                  <a:srgbClr val="444A54"/>
                </a:solidFill>
                <a:latin typeface="Aptos Light"/>
              </a:rPr>
              <a:t>donde</a:t>
            </a:r>
            <a:r>
              <a:rPr sz="1600" dirty="0">
                <a:solidFill>
                  <a:srgbClr val="444A54"/>
                </a:solidFill>
                <a:latin typeface="Aptos Light"/>
              </a:rPr>
              <a:t> </a:t>
            </a:r>
            <a:r>
              <a:rPr sz="1600" dirty="0" err="1">
                <a:solidFill>
                  <a:srgbClr val="444A54"/>
                </a:solidFill>
                <a:latin typeface="Aptos Light"/>
              </a:rPr>
              <a:t>haya</a:t>
            </a:r>
            <a:r>
              <a:rPr sz="1600" dirty="0">
                <a:solidFill>
                  <a:srgbClr val="444A54"/>
                </a:solidFill>
                <a:latin typeface="Aptos Light"/>
              </a:rPr>
              <a:t> </a:t>
            </a:r>
            <a:r>
              <a:rPr sz="1600" dirty="0" err="1">
                <a:solidFill>
                  <a:srgbClr val="444A54"/>
                </a:solidFill>
                <a:latin typeface="Aptos Light"/>
              </a:rPr>
              <a:t>que</a:t>
            </a:r>
            <a:r>
              <a:rPr sz="1600" dirty="0">
                <a:solidFill>
                  <a:srgbClr val="444A54"/>
                </a:solidFill>
                <a:latin typeface="Aptos Light"/>
              </a:rPr>
              <a:t> </a:t>
            </a:r>
            <a:r>
              <a:rPr sz="1600" dirty="0" err="1">
                <a:solidFill>
                  <a:srgbClr val="444A54"/>
                </a:solidFill>
                <a:latin typeface="Aptos Light"/>
              </a:rPr>
              <a:t>analizar</a:t>
            </a:r>
            <a:r>
              <a:rPr sz="1600" dirty="0">
                <a:solidFill>
                  <a:srgbClr val="444A54"/>
                </a:solidFill>
                <a:latin typeface="Aptos Light"/>
              </a:rPr>
              <a:t> audio o </a:t>
            </a:r>
            <a:r>
              <a:rPr sz="1600" dirty="0" err="1">
                <a:solidFill>
                  <a:srgbClr val="444A54"/>
                </a:solidFill>
                <a:latin typeface="Aptos Light"/>
              </a:rPr>
              <a:t>vídeo</a:t>
            </a:r>
            <a:r>
              <a:rPr sz="1600" dirty="0">
                <a:solidFill>
                  <a:srgbClr val="444A54"/>
                </a:solidFill>
                <a:latin typeface="Aptos Light"/>
              </a:rPr>
              <a:t> y </a:t>
            </a:r>
            <a:r>
              <a:rPr sz="1600" dirty="0" err="1">
                <a:solidFill>
                  <a:srgbClr val="444A54"/>
                </a:solidFill>
                <a:latin typeface="Aptos Light"/>
              </a:rPr>
              <a:t>seguir</a:t>
            </a:r>
            <a:r>
              <a:rPr sz="1600" dirty="0">
                <a:solidFill>
                  <a:srgbClr val="444A54"/>
                </a:solidFill>
                <a:latin typeface="Aptos Light"/>
              </a:rPr>
              <a:t> un </a:t>
            </a:r>
            <a:r>
              <a:rPr sz="1600" dirty="0" err="1">
                <a:solidFill>
                  <a:srgbClr val="444A54"/>
                </a:solidFill>
                <a:latin typeface="Aptos Light"/>
              </a:rPr>
              <a:t>progreso</a:t>
            </a:r>
            <a:r>
              <a:rPr sz="1600" dirty="0">
                <a:solidFill>
                  <a:srgbClr val="444A54"/>
                </a:solidFill>
                <a:latin typeface="Aptos Light"/>
              </a:rPr>
              <a:t> </a:t>
            </a:r>
            <a:r>
              <a:rPr sz="1600" dirty="0" err="1">
                <a:solidFill>
                  <a:srgbClr val="444A54"/>
                </a:solidFill>
                <a:latin typeface="Aptos Light"/>
              </a:rPr>
              <a:t>en</a:t>
            </a:r>
            <a:r>
              <a:rPr sz="1600" dirty="0">
                <a:solidFill>
                  <a:srgbClr val="444A54"/>
                </a:solidFill>
                <a:latin typeface="Aptos Light"/>
              </a:rPr>
              <a:t> el </a:t>
            </a:r>
            <a:r>
              <a:rPr sz="1600" dirty="0" err="1">
                <a:solidFill>
                  <a:srgbClr val="444A54"/>
                </a:solidFill>
                <a:latin typeface="Aptos Light"/>
              </a:rPr>
              <a:t>tiempo</a:t>
            </a:r>
            <a:r>
              <a:rPr sz="1600" dirty="0">
                <a:solidFill>
                  <a:srgbClr val="444A54"/>
                </a:solidFill>
                <a:latin typeface="Aptos Light"/>
              </a:rPr>
              <a:t>.</a:t>
            </a:r>
            <a:endParaRPr lang="es-ES" sz="1600" dirty="0">
              <a:solidFill>
                <a:srgbClr val="444A54"/>
              </a:solidFill>
              <a:latin typeface="Aptos Light"/>
            </a:endParaRPr>
          </a:p>
          <a:p>
            <a:pPr algn="just">
              <a:spcAft>
                <a:spcPts val="600"/>
              </a:spcAft>
            </a:pPr>
            <a:r>
              <a:rPr sz="1600" dirty="0">
                <a:solidFill>
                  <a:srgbClr val="444A54"/>
                </a:solidFill>
                <a:latin typeface="Aptos Light"/>
              </a:rPr>
              <a:t> </a:t>
            </a:r>
            <a:r>
              <a:rPr sz="1600" dirty="0" err="1">
                <a:solidFill>
                  <a:srgbClr val="444A54"/>
                </a:solidFill>
                <a:latin typeface="Aptos Light"/>
              </a:rPr>
              <a:t>Aplica</a:t>
            </a:r>
            <a:r>
              <a:rPr sz="1600" dirty="0">
                <a:solidFill>
                  <a:srgbClr val="444A54"/>
                </a:solidFill>
                <a:latin typeface="Aptos Light"/>
              </a:rPr>
              <a:t> a fines </a:t>
            </a:r>
            <a:r>
              <a:rPr sz="1600" dirty="0" err="1">
                <a:solidFill>
                  <a:srgbClr val="444A54"/>
                </a:solidFill>
                <a:latin typeface="Aptos Light"/>
              </a:rPr>
              <a:t>pedagógicos</a:t>
            </a:r>
            <a:r>
              <a:rPr sz="1600" dirty="0">
                <a:solidFill>
                  <a:srgbClr val="444A54"/>
                </a:solidFill>
                <a:latin typeface="Aptos Light"/>
              </a:rPr>
              <a:t> o de </a:t>
            </a:r>
            <a:r>
              <a:rPr sz="1600" dirty="0" err="1">
                <a:solidFill>
                  <a:srgbClr val="444A54"/>
                </a:solidFill>
                <a:latin typeface="Aptos Light"/>
              </a:rPr>
              <a:t>estudio</a:t>
            </a:r>
            <a:r>
              <a:rPr lang="es-ES" sz="1600" dirty="0">
                <a:solidFill>
                  <a:srgbClr val="444A54"/>
                </a:solidFill>
                <a:latin typeface="Aptos Light"/>
              </a:rPr>
              <a:t>.</a:t>
            </a:r>
            <a:endParaRPr sz="1600" dirty="0">
              <a:solidFill>
                <a:srgbClr val="444A54"/>
              </a:solidFill>
              <a:latin typeface="Aptos Light"/>
            </a:endParaRPr>
          </a:p>
        </p:txBody>
      </p:sp>
      <p:graphicFrame>
        <p:nvGraphicFramePr>
          <p:cNvPr id="6" name="Table 5"/>
          <p:cNvGraphicFramePr>
            <a:graphicFrameLocks noGrp="1"/>
          </p:cNvGraphicFramePr>
          <p:nvPr>
            <p:extLst>
              <p:ext uri="{D42A27DB-BD31-4B8C-83A1-F6EECF244321}">
                <p14:modId xmlns:p14="http://schemas.microsoft.com/office/powerpoint/2010/main" val="4178896021"/>
              </p:ext>
            </p:extLst>
          </p:nvPr>
        </p:nvGraphicFramePr>
        <p:xfrm>
          <a:off x="640080" y="2261920"/>
          <a:ext cx="11064240" cy="2255520"/>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365760">
                <a:tc>
                  <a:txBody>
                    <a:bodyPr/>
                    <a:lstStyle/>
                    <a:p>
                      <a:pPr marL="0" algn="ctr" defTabSz="457200" rtl="0" eaLnBrk="1" latinLnBrk="0" hangingPunct="1"/>
                      <a:r>
                        <a:rPr sz="1600" b="1" kern="1200" dirty="0">
                          <a:solidFill>
                            <a:srgbClr val="FFFFFF"/>
                          </a:solidFill>
                          <a:latin typeface="Aptos Light" panose="020B0004020202020204" pitchFamily="34" charset="0"/>
                          <a:ea typeface="+mn-ea"/>
                          <a:cs typeface="+mn-cs"/>
                        </a:rPr>
                        <a:t>Dominio </a:t>
                      </a:r>
                      <a:r>
                        <a:rPr sz="1600" b="1" kern="1200" dirty="0" err="1">
                          <a:solidFill>
                            <a:srgbClr val="FFFFFF"/>
                          </a:solidFill>
                          <a:latin typeface="Aptos Light" panose="020B0004020202020204" pitchFamily="34" charset="0"/>
                          <a:ea typeface="+mn-ea"/>
                          <a:cs typeface="+mn-cs"/>
                        </a:rPr>
                        <a:t>pedagógico</a:t>
                      </a:r>
                      <a:r>
                        <a:rPr sz="1600" b="1" kern="1200" dirty="0">
                          <a:solidFill>
                            <a:srgbClr val="FFFFFF"/>
                          </a:solidFill>
                          <a:latin typeface="Aptos Light" panose="020B0004020202020204" pitchFamily="34" charset="0"/>
                          <a:ea typeface="+mn-ea"/>
                          <a:cs typeface="+mn-cs"/>
                        </a:rPr>
                        <a:t> / </a:t>
                      </a:r>
                      <a:r>
                        <a:rPr sz="1600" b="1" kern="1200" dirty="0" err="1">
                          <a:solidFill>
                            <a:srgbClr val="FFFFFF"/>
                          </a:solidFill>
                          <a:latin typeface="Aptos Light" panose="020B0004020202020204" pitchFamily="34" charset="0"/>
                          <a:ea typeface="+mn-ea"/>
                          <a:cs typeface="+mn-cs"/>
                        </a:rPr>
                        <a:t>estudio</a:t>
                      </a:r>
                      <a:endParaRPr sz="1600" b="1" kern="1200" dirty="0">
                        <a:solidFill>
                          <a:srgbClr val="FFFFFF"/>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2"/>
                    </a:solidFill>
                  </a:tcPr>
                </a:tc>
                <a:tc>
                  <a:txBody>
                    <a:bodyPr/>
                    <a:lstStyle/>
                    <a:p>
                      <a:pPr marL="0" algn="ctr" defTabSz="457200" rtl="0" eaLnBrk="1" latinLnBrk="0" hangingPunct="1"/>
                      <a:r>
                        <a:rPr lang="es-ES" sz="1600" b="1" kern="1200" dirty="0">
                          <a:solidFill>
                            <a:srgbClr val="FFFFFF"/>
                          </a:solidFill>
                          <a:latin typeface="Aptos Light" panose="020B0004020202020204" pitchFamily="34" charset="0"/>
                          <a:ea typeface="+mn-ea"/>
                          <a:cs typeface="+mn-cs"/>
                        </a:rPr>
                        <a:t>¿</a:t>
                      </a:r>
                      <a:r>
                        <a:rPr sz="1600" b="1" kern="1200" dirty="0" err="1">
                          <a:solidFill>
                            <a:srgbClr val="FFFFFF"/>
                          </a:solidFill>
                          <a:latin typeface="Aptos Light" panose="020B0004020202020204" pitchFamily="34" charset="0"/>
                          <a:ea typeface="+mn-ea"/>
                          <a:cs typeface="+mn-cs"/>
                        </a:rPr>
                        <a:t>Qué</a:t>
                      </a:r>
                      <a:r>
                        <a:rPr sz="1600" b="1" kern="1200" dirty="0">
                          <a:solidFill>
                            <a:srgbClr val="FFFFFF"/>
                          </a:solidFill>
                          <a:latin typeface="Aptos Light" panose="020B0004020202020204" pitchFamily="34" charset="0"/>
                          <a:ea typeface="+mn-ea"/>
                          <a:cs typeface="+mn-cs"/>
                        </a:rPr>
                        <a:t> se </a:t>
                      </a:r>
                      <a:r>
                        <a:rPr sz="1600" b="1" kern="1200" dirty="0" err="1">
                          <a:solidFill>
                            <a:srgbClr val="FFFFFF"/>
                          </a:solidFill>
                          <a:latin typeface="Aptos Light" panose="020B0004020202020204" pitchFamily="34" charset="0"/>
                          <a:ea typeface="+mn-ea"/>
                          <a:cs typeface="+mn-cs"/>
                        </a:rPr>
                        <a:t>sigue</a:t>
                      </a:r>
                      <a:r>
                        <a:rPr lang="es-ES" sz="1600" b="1" kern="1200" dirty="0">
                          <a:solidFill>
                            <a:srgbClr val="FFFFFF"/>
                          </a:solidFill>
                          <a:latin typeface="Aptos Light" panose="020B0004020202020204" pitchFamily="34" charset="0"/>
                          <a:ea typeface="+mn-ea"/>
                          <a:cs typeface="+mn-cs"/>
                        </a:rPr>
                        <a:t>?</a:t>
                      </a:r>
                      <a:endParaRPr sz="1600" b="1" kern="1200" dirty="0">
                        <a:solidFill>
                          <a:srgbClr val="FFFFFF"/>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algn="ctr"/>
                      <a:r>
                        <a:rPr sz="1600" b="0" kern="1200">
                          <a:solidFill>
                            <a:schemeClr val="tx1"/>
                          </a:solidFill>
                          <a:latin typeface="Aptos Light" panose="020B0004020202020204" pitchFamily="34" charset="0"/>
                          <a:ea typeface="+mn-ea"/>
                          <a:cs typeface="+mn-cs"/>
                        </a:rPr>
                        <a:t>Lectura</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600" b="0" kern="1200" dirty="0">
                          <a:solidFill>
                            <a:schemeClr val="tx1"/>
                          </a:solidFill>
                          <a:latin typeface="Aptos Light" panose="020B0004020202020204" pitchFamily="34" charset="0"/>
                          <a:ea typeface="+mn-ea"/>
                          <a:cs typeface="+mn-cs"/>
                        </a:rPr>
                        <a:t>Progreso </a:t>
                      </a:r>
                      <a:r>
                        <a:rPr lang="es-ES" sz="1600" b="0" kern="1200" dirty="0">
                          <a:solidFill>
                            <a:schemeClr val="tx1"/>
                          </a:solidFill>
                          <a:latin typeface="Aptos Light" panose="020B0004020202020204" pitchFamily="34" charset="0"/>
                          <a:ea typeface="+mn-ea"/>
                          <a:cs typeface="+mn-cs"/>
                        </a:rPr>
                        <a:t>técnicas </a:t>
                      </a:r>
                      <a:r>
                        <a:rPr sz="1600" b="0" kern="1200" dirty="0">
                          <a:solidFill>
                            <a:schemeClr val="tx1"/>
                          </a:solidFill>
                          <a:latin typeface="Aptos Light" panose="020B0004020202020204" pitchFamily="34" charset="0"/>
                          <a:ea typeface="+mn-ea"/>
                          <a:cs typeface="+mn-cs"/>
                        </a:rPr>
                        <a:t>de </a:t>
                      </a:r>
                      <a:r>
                        <a:rPr sz="1600" b="0" kern="1200" dirty="0" err="1">
                          <a:solidFill>
                            <a:schemeClr val="tx1"/>
                          </a:solidFill>
                          <a:latin typeface="Aptos Light" panose="020B0004020202020204" pitchFamily="34" charset="0"/>
                          <a:ea typeface="+mn-ea"/>
                          <a:cs typeface="+mn-cs"/>
                        </a:rPr>
                        <a:t>lectura</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en</a:t>
                      </a:r>
                      <a:r>
                        <a:rPr sz="1600" b="0" kern="1200" dirty="0">
                          <a:solidFill>
                            <a:schemeClr val="tx1"/>
                          </a:solidFill>
                          <a:latin typeface="Aptos Light" panose="020B0004020202020204" pitchFamily="34" charset="0"/>
                          <a:ea typeface="+mn-ea"/>
                          <a:cs typeface="+mn-cs"/>
                        </a:rPr>
                        <a:t> el </a:t>
                      </a:r>
                      <a:r>
                        <a:rPr sz="1600" b="0" kern="1200" dirty="0" err="1">
                          <a:solidFill>
                            <a:schemeClr val="tx1"/>
                          </a:solidFill>
                          <a:latin typeface="Aptos Light" panose="020B0004020202020204" pitchFamily="34" charset="0"/>
                          <a:ea typeface="+mn-ea"/>
                          <a:cs typeface="+mn-cs"/>
                        </a:rPr>
                        <a:t>tiempo</a:t>
                      </a:r>
                      <a:r>
                        <a:rPr sz="1600" b="0" kern="1200" dirty="0">
                          <a:solidFill>
                            <a:schemeClr val="tx1"/>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algn="ctr"/>
                      <a:r>
                        <a:rPr sz="1600" b="0" kern="1200">
                          <a:solidFill>
                            <a:schemeClr val="tx1"/>
                          </a:solidFill>
                          <a:latin typeface="Aptos Light" panose="020B0004020202020204" pitchFamily="34" charset="0"/>
                          <a:ea typeface="+mn-ea"/>
                          <a:cs typeface="+mn-cs"/>
                        </a:rPr>
                        <a:t>Escritura</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600" b="0" kern="1200" dirty="0">
                          <a:solidFill>
                            <a:schemeClr val="tx1"/>
                          </a:solidFill>
                          <a:latin typeface="Aptos Light" panose="020B0004020202020204" pitchFamily="34" charset="0"/>
                          <a:ea typeface="+mn-ea"/>
                          <a:cs typeface="+mn-cs"/>
                        </a:rPr>
                        <a:t>Progreso </a:t>
                      </a:r>
                      <a:r>
                        <a:rPr lang="es-ES" sz="1600" b="0" kern="1200" dirty="0">
                          <a:solidFill>
                            <a:schemeClr val="tx1"/>
                          </a:solidFill>
                          <a:latin typeface="Aptos Light" panose="020B0004020202020204" pitchFamily="34" charset="0"/>
                          <a:ea typeface="+mn-ea"/>
                          <a:cs typeface="+mn-cs"/>
                        </a:rPr>
                        <a:t>en técnicas </a:t>
                      </a:r>
                      <a:r>
                        <a:rPr sz="1600" b="0" kern="1200" dirty="0">
                          <a:solidFill>
                            <a:schemeClr val="tx1"/>
                          </a:solidFill>
                          <a:latin typeface="Aptos Light" panose="020B0004020202020204" pitchFamily="34" charset="0"/>
                          <a:ea typeface="+mn-ea"/>
                          <a:cs typeface="+mn-cs"/>
                        </a:rPr>
                        <a:t>de </a:t>
                      </a:r>
                      <a:r>
                        <a:rPr sz="1600" b="0" kern="1200" dirty="0" err="1">
                          <a:solidFill>
                            <a:schemeClr val="tx1"/>
                          </a:solidFill>
                          <a:latin typeface="Aptos Light" panose="020B0004020202020204" pitchFamily="34" charset="0"/>
                          <a:ea typeface="+mn-ea"/>
                          <a:cs typeface="+mn-cs"/>
                        </a:rPr>
                        <a:t>escritura</a:t>
                      </a:r>
                      <a:r>
                        <a:rPr lang="es-ES" sz="1600" b="0" kern="1200" dirty="0">
                          <a:solidFill>
                            <a:schemeClr val="tx1"/>
                          </a:solidFill>
                          <a:latin typeface="Aptos Light" panose="020B0004020202020204" pitchFamily="34" charset="0"/>
                          <a:ea typeface="+mn-ea"/>
                          <a:cs typeface="+mn-cs"/>
                        </a:rPr>
                        <a:t> y </a:t>
                      </a:r>
                      <a:r>
                        <a:rPr lang="es-ES" sz="1600" b="0" kern="1200" dirty="0" err="1">
                          <a:solidFill>
                            <a:schemeClr val="tx1"/>
                          </a:solidFill>
                          <a:latin typeface="Aptos Light" panose="020B0004020202020204" pitchFamily="34" charset="0"/>
                          <a:ea typeface="+mn-ea"/>
                          <a:cs typeface="+mn-cs"/>
                        </a:rPr>
                        <a:t>expresion</a:t>
                      </a:r>
                      <a:r>
                        <a:rPr sz="1600" b="0" kern="1200" dirty="0">
                          <a:solidFill>
                            <a:schemeClr val="tx1"/>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5760">
                <a:tc>
                  <a:txBody>
                    <a:bodyPr/>
                    <a:lstStyle/>
                    <a:p>
                      <a:pPr algn="ctr"/>
                      <a:r>
                        <a:rPr sz="1600" b="0" kern="1200">
                          <a:solidFill>
                            <a:schemeClr val="tx1"/>
                          </a:solidFill>
                          <a:latin typeface="Aptos Light" panose="020B0004020202020204" pitchFamily="34" charset="0"/>
                          <a:ea typeface="+mn-ea"/>
                          <a:cs typeface="+mn-cs"/>
                        </a:rPr>
                        <a:t>Exposición oral</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sz="1600" b="0" kern="1200" dirty="0" err="1">
                          <a:solidFill>
                            <a:schemeClr val="tx1"/>
                          </a:solidFill>
                          <a:latin typeface="Aptos Light" panose="020B0004020202020204" pitchFamily="34" charset="0"/>
                          <a:ea typeface="+mn-ea"/>
                          <a:cs typeface="+mn-cs"/>
                        </a:rPr>
                        <a:t>Evaluación</a:t>
                      </a:r>
                      <a:r>
                        <a:rPr sz="1600" b="0" kern="1200" dirty="0">
                          <a:solidFill>
                            <a:schemeClr val="tx1"/>
                          </a:solidFill>
                          <a:latin typeface="Aptos Light" panose="020B0004020202020204" pitchFamily="34" charset="0"/>
                          <a:ea typeface="+mn-ea"/>
                          <a:cs typeface="+mn-cs"/>
                        </a:rPr>
                        <a:t> de </a:t>
                      </a:r>
                      <a:r>
                        <a:rPr sz="1600" b="0" kern="1200" dirty="0" err="1">
                          <a:solidFill>
                            <a:schemeClr val="tx1"/>
                          </a:solidFill>
                          <a:latin typeface="Aptos Light" panose="020B0004020202020204" pitchFamily="34" charset="0"/>
                          <a:ea typeface="+mn-ea"/>
                          <a:cs typeface="+mn-cs"/>
                        </a:rPr>
                        <a:t>exposiciones</a:t>
                      </a:r>
                      <a:r>
                        <a:rPr lang="es-ES" sz="1600" b="0" kern="1200" dirty="0">
                          <a:solidFill>
                            <a:schemeClr val="tx1"/>
                          </a:solidFill>
                          <a:latin typeface="Aptos Light" panose="020B0004020202020204" pitchFamily="34" charset="0"/>
                          <a:ea typeface="+mn-ea"/>
                          <a:cs typeface="+mn-cs"/>
                        </a:rPr>
                        <a:t> </a:t>
                      </a:r>
                    </a:p>
                    <a:p>
                      <a:pPr algn="ctr"/>
                      <a:r>
                        <a:rPr lang="es-ES" sz="1600" b="0" kern="1200" dirty="0">
                          <a:solidFill>
                            <a:schemeClr val="tx1"/>
                          </a:solidFill>
                          <a:latin typeface="Aptos Light" panose="020B0004020202020204" pitchFamily="34" charset="0"/>
                          <a:ea typeface="+mn-ea"/>
                          <a:cs typeface="+mn-cs"/>
                        </a:rPr>
                        <a:t>(lenguaje corporal, no verbal…)</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algn="ctr"/>
                      <a:r>
                        <a:rPr sz="1600" b="0" kern="1200" dirty="0" err="1">
                          <a:solidFill>
                            <a:schemeClr val="tx1"/>
                          </a:solidFill>
                          <a:latin typeface="Aptos Light" panose="020B0004020202020204" pitchFamily="34" charset="0"/>
                          <a:ea typeface="+mn-ea"/>
                          <a:cs typeface="+mn-cs"/>
                        </a:rPr>
                        <a:t>Interpretación</a:t>
                      </a:r>
                      <a:r>
                        <a:rPr sz="1600" b="0" kern="1200" dirty="0">
                          <a:solidFill>
                            <a:schemeClr val="tx1"/>
                          </a:solidFill>
                          <a:latin typeface="Aptos Light" panose="020B0004020202020204" pitchFamily="34" charset="0"/>
                          <a:ea typeface="+mn-ea"/>
                          <a:cs typeface="+mn-cs"/>
                        </a:rPr>
                        <a:t> musical</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s-ES" sz="1600" b="0" kern="1200" dirty="0" err="1">
                          <a:solidFill>
                            <a:schemeClr val="tx1"/>
                          </a:solidFill>
                          <a:latin typeface="Aptos Light" panose="020B0004020202020204" pitchFamily="34" charset="0"/>
                          <a:ea typeface="+mn-ea"/>
                          <a:cs typeface="+mn-cs"/>
                        </a:rPr>
                        <a:t>Evaluacion</a:t>
                      </a:r>
                      <a:r>
                        <a:rPr lang="es-ES" sz="1600" b="0" kern="1200" dirty="0">
                          <a:solidFill>
                            <a:schemeClr val="tx1"/>
                          </a:solidFill>
                          <a:latin typeface="Aptos Light" panose="020B0004020202020204" pitchFamily="34" charset="0"/>
                          <a:ea typeface="+mn-ea"/>
                          <a:cs typeface="+mn-cs"/>
                        </a:rPr>
                        <a:t> de técnicas de interpretación. </a:t>
                      </a:r>
                    </a:p>
                    <a:p>
                      <a:pPr algn="ctr"/>
                      <a:r>
                        <a:rPr lang="es-ES" sz="1600" b="0" kern="1200" dirty="0">
                          <a:solidFill>
                            <a:schemeClr val="tx1"/>
                          </a:solidFill>
                          <a:latin typeface="Aptos Light" panose="020B0004020202020204" pitchFamily="34" charset="0"/>
                          <a:ea typeface="+mn-ea"/>
                          <a:cs typeface="+mn-cs"/>
                        </a:rPr>
                        <a:t>Corrección de ritmo, </a:t>
                      </a:r>
                      <a:r>
                        <a:rPr lang="es-ES" sz="1600" b="0" kern="1200" dirty="0" err="1">
                          <a:solidFill>
                            <a:schemeClr val="tx1"/>
                          </a:solidFill>
                          <a:latin typeface="Aptos Light" panose="020B0004020202020204" pitchFamily="34" charset="0"/>
                          <a:ea typeface="+mn-ea"/>
                          <a:cs typeface="+mn-cs"/>
                        </a:rPr>
                        <a:t>entoncacion</a:t>
                      </a:r>
                      <a:r>
                        <a:rPr lang="es-ES" sz="1600" b="0" kern="1200" dirty="0">
                          <a:solidFill>
                            <a:schemeClr val="tx1"/>
                          </a:solidFill>
                          <a:latin typeface="Aptos Light" panose="020B0004020202020204" pitchFamily="34" charset="0"/>
                          <a:ea typeface="+mn-ea"/>
                          <a:cs typeface="+mn-cs"/>
                        </a:rPr>
                        <a:t>…</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640080" y="4714738"/>
            <a:ext cx="11064240" cy="1828800"/>
          </a:xfrm>
          <a:prstGeom prst="roundRect">
            <a:avLst/>
          </a:prstGeom>
          <a:solidFill>
            <a:srgbClr val="FFF6E0"/>
          </a:solidFill>
          <a:ln w="15875">
            <a:solidFill>
              <a:srgbClr val="B57A00"/>
            </a:solid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endParaRPr lang="es-ES" sz="2400" b="1" dirty="0">
              <a:solidFill>
                <a:srgbClr val="B57A00"/>
              </a:solidFill>
              <a:latin typeface="Aptos"/>
            </a:endParaRPr>
          </a:p>
          <a:p>
            <a:pPr algn="ctr"/>
            <a:r>
              <a:rPr sz="2400" b="1" dirty="0">
                <a:solidFill>
                  <a:srgbClr val="B57A00"/>
                </a:solidFill>
                <a:latin typeface="Aptos"/>
              </a:rPr>
              <a:t>El </a:t>
            </a:r>
            <a:r>
              <a:rPr lang="es-ES" sz="2400" b="1" dirty="0">
                <a:solidFill>
                  <a:srgbClr val="B57A00"/>
                </a:solidFill>
                <a:latin typeface="Aptos"/>
              </a:rPr>
              <a:t>patrón</a:t>
            </a:r>
            <a:r>
              <a:rPr sz="2400" b="1" dirty="0">
                <a:solidFill>
                  <a:srgbClr val="B57A00"/>
                </a:solidFill>
                <a:latin typeface="Aptos"/>
              </a:rPr>
              <a:t> se </a:t>
            </a:r>
            <a:r>
              <a:rPr sz="2400" b="1" dirty="0" err="1">
                <a:solidFill>
                  <a:srgbClr val="B57A00"/>
                </a:solidFill>
                <a:latin typeface="Aptos"/>
              </a:rPr>
              <a:t>repite</a:t>
            </a:r>
            <a:endParaRPr lang="es-ES" sz="2400" b="1" dirty="0">
              <a:solidFill>
                <a:srgbClr val="B57A00"/>
              </a:solidFill>
              <a:latin typeface="Aptos"/>
            </a:endParaRPr>
          </a:p>
          <a:p>
            <a:pPr algn="ctr"/>
            <a:endParaRPr sz="2400" b="1" dirty="0">
              <a:solidFill>
                <a:srgbClr val="B57A00"/>
              </a:solidFill>
              <a:latin typeface="Aptos"/>
            </a:endParaRPr>
          </a:p>
          <a:p>
            <a:pPr algn="ctr"/>
            <a:r>
              <a:rPr lang="es-ES" dirty="0">
                <a:solidFill>
                  <a:srgbClr val="444A54"/>
                </a:solidFill>
                <a:latin typeface="Aptos Light" panose="020B0004020202020204" pitchFamily="34" charset="0"/>
              </a:rPr>
              <a:t>G</a:t>
            </a:r>
            <a:r>
              <a:rPr dirty="0" err="1">
                <a:solidFill>
                  <a:srgbClr val="444A54"/>
                </a:solidFill>
                <a:latin typeface="Aptos Light" panose="020B0004020202020204" pitchFamily="34" charset="0"/>
              </a:rPr>
              <a:t>rabar</a:t>
            </a:r>
            <a:r>
              <a:rPr dirty="0">
                <a:solidFill>
                  <a:srgbClr val="444A54"/>
                </a:solidFill>
                <a:latin typeface="Aptos Light" panose="020B0004020202020204" pitchFamily="34" charset="0"/>
              </a:rPr>
              <a:t> → </a:t>
            </a:r>
            <a:r>
              <a:rPr lang="es-ES" dirty="0">
                <a:solidFill>
                  <a:srgbClr val="444A54"/>
                </a:solidFill>
                <a:latin typeface="Aptos Light" panose="020B0004020202020204" pitchFamily="34" charset="0"/>
              </a:rPr>
              <a:t>Extraer</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métricas</a:t>
            </a:r>
            <a:r>
              <a:rPr dirty="0">
                <a:solidFill>
                  <a:srgbClr val="444A54"/>
                </a:solidFill>
                <a:latin typeface="Aptos Light" panose="020B0004020202020204" pitchFamily="34" charset="0"/>
              </a:rPr>
              <a:t> → </a:t>
            </a:r>
            <a:r>
              <a:rPr lang="es-ES" dirty="0">
                <a:solidFill>
                  <a:srgbClr val="444A54"/>
                </a:solidFill>
                <a:latin typeface="Aptos Light" panose="020B0004020202020204" pitchFamily="34" charset="0"/>
              </a:rPr>
              <a:t>C</a:t>
            </a:r>
            <a:r>
              <a:rPr dirty="0" err="1">
                <a:solidFill>
                  <a:srgbClr val="444A54"/>
                </a:solidFill>
                <a:latin typeface="Aptos Light" panose="020B0004020202020204" pitchFamily="34" charset="0"/>
              </a:rPr>
              <a:t>omparar</a:t>
            </a:r>
            <a:r>
              <a:rPr dirty="0">
                <a:solidFill>
                  <a:srgbClr val="444A54"/>
                </a:solidFill>
                <a:latin typeface="Aptos Light" panose="020B0004020202020204" pitchFamily="34" charset="0"/>
              </a:rPr>
              <a:t> con </a:t>
            </a:r>
            <a:r>
              <a:rPr dirty="0" err="1">
                <a:solidFill>
                  <a:srgbClr val="444A54"/>
                </a:solidFill>
                <a:latin typeface="Aptos Light" panose="020B0004020202020204" pitchFamily="34" charset="0"/>
              </a:rPr>
              <a:t>una</a:t>
            </a:r>
            <a:r>
              <a:rPr dirty="0">
                <a:solidFill>
                  <a:srgbClr val="444A54"/>
                </a:solidFill>
                <a:latin typeface="Aptos Light" panose="020B0004020202020204" pitchFamily="34" charset="0"/>
              </a:rPr>
              <a:t> </a:t>
            </a:r>
            <a:r>
              <a:rPr lang="es-ES" dirty="0">
                <a:solidFill>
                  <a:srgbClr val="444A54"/>
                </a:solidFill>
                <a:latin typeface="Aptos Light" panose="020B0004020202020204" pitchFamily="34" charset="0"/>
              </a:rPr>
              <a:t>pauta</a:t>
            </a:r>
            <a:r>
              <a:rPr dirty="0">
                <a:solidFill>
                  <a:srgbClr val="444A54"/>
                </a:solidFill>
                <a:latin typeface="Aptos Light" panose="020B0004020202020204" pitchFamily="34" charset="0"/>
              </a:rPr>
              <a:t> → </a:t>
            </a:r>
            <a:r>
              <a:rPr lang="es-ES" dirty="0">
                <a:solidFill>
                  <a:srgbClr val="444A54"/>
                </a:solidFill>
                <a:latin typeface="Aptos Light" panose="020B0004020202020204" pitchFamily="34" charset="0"/>
              </a:rPr>
              <a:t>V</a:t>
            </a:r>
            <a:r>
              <a:rPr dirty="0" err="1">
                <a:solidFill>
                  <a:srgbClr val="444A54"/>
                </a:solidFill>
                <a:latin typeface="Aptos Light" panose="020B0004020202020204" pitchFamily="34" charset="0"/>
              </a:rPr>
              <a:t>isualizar</a:t>
            </a:r>
            <a:r>
              <a:rPr dirty="0">
                <a:solidFill>
                  <a:srgbClr val="444A54"/>
                </a:solidFill>
                <a:latin typeface="Aptos Light" panose="020B0004020202020204" pitchFamily="34" charset="0"/>
              </a:rPr>
              <a:t> el </a:t>
            </a:r>
            <a:r>
              <a:rPr dirty="0" err="1">
                <a:solidFill>
                  <a:srgbClr val="444A54"/>
                </a:solidFill>
                <a:latin typeface="Aptos Light" panose="020B0004020202020204" pitchFamily="34" charset="0"/>
              </a:rPr>
              <a:t>progreso</a:t>
            </a:r>
            <a:r>
              <a:rPr dirty="0">
                <a:solidFill>
                  <a:srgbClr val="444A54"/>
                </a:solidFill>
                <a:latin typeface="Aptos Light" panose="020B0004020202020204" pitchFamily="34" charset="0"/>
              </a:rPr>
              <a:t>.</a:t>
            </a:r>
            <a:endParaRPr lang="es-ES" dirty="0">
              <a:solidFill>
                <a:srgbClr val="444A54"/>
              </a:solidFill>
              <a:latin typeface="Aptos Light" panose="020B0004020202020204" pitchFamily="34" charset="0"/>
            </a:endParaRPr>
          </a:p>
          <a:p>
            <a:pPr algn="ctr"/>
            <a:endParaRPr lang="es-ES" dirty="0">
              <a:solidFill>
                <a:srgbClr val="444A54"/>
              </a:solidFill>
              <a:latin typeface="Aptos Light" panose="020B0004020202020204" pitchFamily="34" charset="0"/>
            </a:endParaRPr>
          </a:p>
          <a:p>
            <a:pPr algn="ctr"/>
            <a:r>
              <a:rPr dirty="0">
                <a:solidFill>
                  <a:srgbClr val="444A54"/>
                </a:solidFill>
                <a:latin typeface="Aptos Light" panose="020B0004020202020204" pitchFamily="34" charset="0"/>
              </a:rPr>
              <a:t>Cambia el </a:t>
            </a:r>
            <a:r>
              <a:rPr dirty="0" err="1">
                <a:solidFill>
                  <a:srgbClr val="444A54"/>
                </a:solidFill>
                <a:latin typeface="Aptos Light" panose="020B0004020202020204" pitchFamily="34" charset="0"/>
              </a:rPr>
              <a:t>dominio</a:t>
            </a:r>
            <a:r>
              <a:rPr dirty="0">
                <a:solidFill>
                  <a:srgbClr val="444A54"/>
                </a:solidFill>
                <a:latin typeface="Aptos Light" panose="020B0004020202020204" pitchFamily="34" charset="0"/>
              </a:rPr>
              <a:t>, no la </a:t>
            </a:r>
            <a:r>
              <a:rPr dirty="0" err="1">
                <a:solidFill>
                  <a:srgbClr val="444A54"/>
                </a:solidFill>
                <a:latin typeface="Aptos Light" panose="020B0004020202020204" pitchFamily="34" charset="0"/>
              </a:rPr>
              <a:t>arquitectura</a:t>
            </a:r>
            <a:r>
              <a:rPr dirty="0">
                <a:solidFill>
                  <a:srgbClr val="444A54"/>
                </a:solidFill>
                <a:latin typeface="Aptos Light" panose="020B0004020202020204" pitchFamily="34" charset="0"/>
              </a:rPr>
              <a:t>.</a:t>
            </a:r>
            <a:endParaRPr lang="es-ES" dirty="0">
              <a:solidFill>
                <a:srgbClr val="444A54"/>
              </a:solidFill>
              <a:latin typeface="Aptos Light" panose="020B0004020202020204" pitchFamily="34" charset="0"/>
            </a:endParaRPr>
          </a:p>
          <a:p>
            <a:pPr algn="ctr"/>
            <a:endParaRPr sz="1600" dirty="0">
              <a:solidFill>
                <a:srgbClr val="444A54"/>
              </a:solidFill>
              <a:latin typeface="Aptos Light" panose="020B00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56032"/>
            <a:ext cx="548640" cy="54864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A</a:t>
            </a:r>
          </a:p>
        </p:txBody>
      </p:sp>
      <p:sp>
        <p:nvSpPr>
          <p:cNvPr id="4" name="TextBox 3"/>
          <p:cNvSpPr txBox="1"/>
          <p:nvPr/>
        </p:nvSpPr>
        <p:spPr>
          <a:xfrm>
            <a:off x="1188720" y="314462"/>
            <a:ext cx="10515600" cy="523220"/>
          </a:xfrm>
          <a:prstGeom prst="rect">
            <a:avLst/>
          </a:prstGeom>
          <a:noFill/>
        </p:spPr>
        <p:txBody>
          <a:bodyPr wrap="square" anchor="ctr">
            <a:spAutoFit/>
          </a:bodyPr>
          <a:lstStyle/>
          <a:p>
            <a:pPr algn="l">
              <a:spcAft>
                <a:spcPts val="600"/>
              </a:spcAft>
            </a:pPr>
            <a:r>
              <a:rPr sz="2800" b="1" dirty="0">
                <a:solidFill>
                  <a:srgbClr val="FFFFFF"/>
                </a:solidFill>
                <a:latin typeface="Aptos Light" panose="020B0004020202020204" pitchFamily="34" charset="0"/>
              </a:rPr>
              <a:t>Anexo</a:t>
            </a:r>
          </a:p>
        </p:txBody>
      </p:sp>
      <p:sp>
        <p:nvSpPr>
          <p:cNvPr id="5" name="TextBox 4"/>
          <p:cNvSpPr txBox="1"/>
          <p:nvPr/>
        </p:nvSpPr>
        <p:spPr>
          <a:xfrm>
            <a:off x="457200" y="1188720"/>
            <a:ext cx="11247120" cy="661720"/>
          </a:xfrm>
          <a:prstGeom prst="rect">
            <a:avLst/>
          </a:prstGeom>
          <a:noFill/>
        </p:spPr>
        <p:txBody>
          <a:bodyPr wrap="square" anchor="t">
            <a:spAutoFit/>
          </a:bodyPr>
          <a:lstStyle/>
          <a:p>
            <a:pPr algn="just">
              <a:spcAft>
                <a:spcPts val="600"/>
              </a:spcAft>
            </a:pPr>
            <a:r>
              <a:rPr sz="1600" dirty="0" err="1">
                <a:solidFill>
                  <a:srgbClr val="444A54"/>
                </a:solidFill>
                <a:latin typeface="Aptos Light"/>
              </a:rPr>
              <a:t>Mejoras</a:t>
            </a:r>
            <a:r>
              <a:rPr sz="1600" dirty="0">
                <a:solidFill>
                  <a:srgbClr val="444A54"/>
                </a:solidFill>
                <a:latin typeface="Aptos Light"/>
              </a:rPr>
              <a:t> </a:t>
            </a:r>
            <a:r>
              <a:rPr sz="1600" dirty="0" err="1">
                <a:solidFill>
                  <a:srgbClr val="444A54"/>
                </a:solidFill>
                <a:latin typeface="Aptos Light"/>
              </a:rPr>
              <a:t>diseñadas</a:t>
            </a:r>
            <a:r>
              <a:rPr sz="1600" dirty="0">
                <a:solidFill>
                  <a:srgbClr val="444A54"/>
                </a:solidFill>
                <a:latin typeface="Aptos Light"/>
              </a:rPr>
              <a:t> o </a:t>
            </a:r>
            <a:r>
              <a:rPr sz="1600" dirty="0" err="1">
                <a:solidFill>
                  <a:srgbClr val="444A54"/>
                </a:solidFill>
                <a:latin typeface="Aptos Light"/>
              </a:rPr>
              <a:t>previstas</a:t>
            </a:r>
            <a:r>
              <a:rPr sz="1600" dirty="0">
                <a:solidFill>
                  <a:srgbClr val="444A54"/>
                </a:solidFill>
                <a:latin typeface="Aptos Light"/>
              </a:rPr>
              <a:t> </a:t>
            </a:r>
            <a:r>
              <a:rPr sz="1600" dirty="0" err="1">
                <a:solidFill>
                  <a:srgbClr val="444A54"/>
                </a:solidFill>
                <a:latin typeface="Aptos Light"/>
              </a:rPr>
              <a:t>pero</a:t>
            </a:r>
            <a:r>
              <a:rPr sz="1600" dirty="0">
                <a:solidFill>
                  <a:srgbClr val="444A54"/>
                </a:solidFill>
                <a:latin typeface="Aptos Light"/>
              </a:rPr>
              <a:t> </a:t>
            </a:r>
            <a:r>
              <a:rPr lang="es-ES" sz="1600" b="1" dirty="0">
                <a:solidFill>
                  <a:srgbClr val="444A54"/>
                </a:solidFill>
                <a:latin typeface="Aptos Light"/>
              </a:rPr>
              <a:t>no</a:t>
            </a:r>
            <a:r>
              <a:rPr sz="1600" dirty="0">
                <a:solidFill>
                  <a:srgbClr val="444A54"/>
                </a:solidFill>
                <a:latin typeface="Aptos Light"/>
              </a:rPr>
              <a:t> </a:t>
            </a:r>
            <a:r>
              <a:rPr sz="1600" dirty="0" err="1">
                <a:solidFill>
                  <a:srgbClr val="444A54"/>
                </a:solidFill>
                <a:latin typeface="Aptos Light"/>
              </a:rPr>
              <a:t>implementadas</a:t>
            </a:r>
            <a:r>
              <a:rPr sz="1600" dirty="0">
                <a:solidFill>
                  <a:srgbClr val="444A54"/>
                </a:solidFill>
                <a:latin typeface="Aptos Light"/>
              </a:rPr>
              <a:t> </a:t>
            </a:r>
            <a:r>
              <a:rPr sz="1600" dirty="0" err="1">
                <a:solidFill>
                  <a:srgbClr val="444A54"/>
                </a:solidFill>
                <a:latin typeface="Aptos Light"/>
              </a:rPr>
              <a:t>en</a:t>
            </a:r>
            <a:r>
              <a:rPr sz="1600" dirty="0">
                <a:solidFill>
                  <a:srgbClr val="444A54"/>
                </a:solidFill>
                <a:latin typeface="Aptos Light"/>
              </a:rPr>
              <a:t> la </a:t>
            </a:r>
            <a:r>
              <a:rPr sz="1600" dirty="0" err="1">
                <a:solidFill>
                  <a:srgbClr val="444A54"/>
                </a:solidFill>
                <a:latin typeface="Aptos Light"/>
              </a:rPr>
              <a:t>versión</a:t>
            </a:r>
            <a:r>
              <a:rPr sz="1600" dirty="0">
                <a:solidFill>
                  <a:srgbClr val="444A54"/>
                </a:solidFill>
                <a:latin typeface="Aptos Light"/>
              </a:rPr>
              <a:t> actual</a:t>
            </a:r>
            <a:endParaRPr lang="es-ES" sz="1600" dirty="0">
              <a:solidFill>
                <a:srgbClr val="444A54"/>
              </a:solidFill>
              <a:latin typeface="Aptos Light"/>
            </a:endParaRPr>
          </a:p>
          <a:p>
            <a:pPr algn="just">
              <a:spcAft>
                <a:spcPts val="600"/>
              </a:spcAft>
            </a:pPr>
            <a:r>
              <a:rPr sz="1600" dirty="0">
                <a:solidFill>
                  <a:srgbClr val="444A54"/>
                </a:solidFill>
                <a:latin typeface="Aptos Light"/>
              </a:rPr>
              <a:t>Se </a:t>
            </a:r>
            <a:r>
              <a:rPr sz="1600" dirty="0" err="1">
                <a:solidFill>
                  <a:srgbClr val="444A54"/>
                </a:solidFill>
                <a:latin typeface="Aptos Light"/>
              </a:rPr>
              <a:t>separan</a:t>
            </a:r>
            <a:r>
              <a:rPr sz="1600" dirty="0">
                <a:solidFill>
                  <a:srgbClr val="444A54"/>
                </a:solidFill>
                <a:latin typeface="Aptos Light"/>
              </a:rPr>
              <a:t> </a:t>
            </a:r>
            <a:r>
              <a:rPr lang="es-ES" sz="1600" dirty="0">
                <a:solidFill>
                  <a:srgbClr val="444A54"/>
                </a:solidFill>
                <a:latin typeface="Aptos Light"/>
              </a:rPr>
              <a:t>con el objetivo de</a:t>
            </a:r>
            <a:r>
              <a:rPr sz="1600" dirty="0">
                <a:solidFill>
                  <a:srgbClr val="444A54"/>
                </a:solidFill>
                <a:latin typeface="Aptos Light"/>
              </a:rPr>
              <a:t> no </a:t>
            </a:r>
            <a:r>
              <a:rPr sz="1600" dirty="0" err="1">
                <a:solidFill>
                  <a:srgbClr val="444A54"/>
                </a:solidFill>
                <a:latin typeface="Aptos Light"/>
              </a:rPr>
              <a:t>confundir</a:t>
            </a:r>
            <a:r>
              <a:rPr sz="1600" dirty="0">
                <a:solidFill>
                  <a:srgbClr val="444A54"/>
                </a:solidFill>
                <a:latin typeface="Aptos Light"/>
              </a:rPr>
              <a:t> </a:t>
            </a:r>
            <a:r>
              <a:rPr lang="es-ES" sz="1600" dirty="0">
                <a:solidFill>
                  <a:srgbClr val="444A54"/>
                </a:solidFill>
                <a:latin typeface="Aptos Light"/>
              </a:rPr>
              <a:t>el trabajo</a:t>
            </a:r>
            <a:r>
              <a:rPr sz="1600" dirty="0">
                <a:solidFill>
                  <a:srgbClr val="444A54"/>
                </a:solidFill>
                <a:latin typeface="Aptos Light"/>
              </a:rPr>
              <a:t> </a:t>
            </a:r>
            <a:r>
              <a:rPr sz="1600" dirty="0" err="1">
                <a:solidFill>
                  <a:srgbClr val="444A54"/>
                </a:solidFill>
                <a:latin typeface="Aptos Light"/>
              </a:rPr>
              <a:t>entregado</a:t>
            </a:r>
            <a:r>
              <a:rPr sz="1600" dirty="0">
                <a:solidFill>
                  <a:srgbClr val="444A54"/>
                </a:solidFill>
                <a:latin typeface="Aptos Light"/>
              </a:rPr>
              <a:t> </a:t>
            </a:r>
            <a:r>
              <a:rPr lang="es-ES" sz="1600" dirty="0">
                <a:solidFill>
                  <a:srgbClr val="444A54"/>
                </a:solidFill>
                <a:latin typeface="Aptos Light"/>
              </a:rPr>
              <a:t>frente a la mejora </a:t>
            </a:r>
            <a:r>
              <a:rPr sz="1600" dirty="0" err="1">
                <a:solidFill>
                  <a:srgbClr val="444A54"/>
                </a:solidFill>
                <a:latin typeface="Aptos Light"/>
              </a:rPr>
              <a:t>pendiente</a:t>
            </a:r>
            <a:r>
              <a:rPr sz="1600" dirty="0">
                <a:solidFill>
                  <a:srgbClr val="444A54"/>
                </a:solidFill>
                <a:latin typeface="Aptos Light"/>
              </a:rPr>
              <a:t>.</a:t>
            </a:r>
          </a:p>
        </p:txBody>
      </p:sp>
      <p:graphicFrame>
        <p:nvGraphicFramePr>
          <p:cNvPr id="6" name="Table 5"/>
          <p:cNvGraphicFramePr>
            <a:graphicFrameLocks noGrp="1"/>
          </p:cNvGraphicFramePr>
          <p:nvPr>
            <p:extLst>
              <p:ext uri="{D42A27DB-BD31-4B8C-83A1-F6EECF244321}">
                <p14:modId xmlns:p14="http://schemas.microsoft.com/office/powerpoint/2010/main" val="2820240101"/>
              </p:ext>
            </p:extLst>
          </p:nvPr>
        </p:nvGraphicFramePr>
        <p:xfrm>
          <a:off x="472287" y="2256656"/>
          <a:ext cx="11247120" cy="2834640"/>
        </p:xfrm>
        <a:graphic>
          <a:graphicData uri="http://schemas.openxmlformats.org/drawingml/2006/table">
            <a:tbl>
              <a:tblPr firstRow="1" bandRow="1">
                <a:tableStyleId>{5C22544A-7EE6-4342-B048-85BDC9FD1C3A}</a:tableStyleId>
              </a:tblPr>
              <a:tblGrid>
                <a:gridCol w="402336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tblGrid>
              <a:tr h="365760">
                <a:tc>
                  <a:txBody>
                    <a:bodyPr/>
                    <a:lstStyle/>
                    <a:p>
                      <a:pPr marL="0" algn="ctr" defTabSz="457200" rtl="0" eaLnBrk="1" latinLnBrk="0" hangingPunct="1"/>
                      <a:r>
                        <a:rPr sz="1600" b="1" kern="1200" dirty="0" err="1">
                          <a:solidFill>
                            <a:srgbClr val="FFFFFF"/>
                          </a:solidFill>
                          <a:latin typeface="Aptos Light" panose="020B0004020202020204" pitchFamily="34" charset="0"/>
                          <a:ea typeface="+mn-ea"/>
                          <a:cs typeface="+mn-cs"/>
                        </a:rPr>
                        <a:t>Mejora</a:t>
                      </a:r>
                      <a:endParaRPr sz="1600" b="1" kern="1200" dirty="0">
                        <a:solidFill>
                          <a:srgbClr val="FFFFFF"/>
                        </a:solidFill>
                        <a:latin typeface="Aptos Light" panose="020B0004020202020204" pitchFamily="34" charset="0"/>
                        <a:ea typeface="+mn-ea"/>
                        <a:cs typeface="+mn-cs"/>
                      </a:endParaRPr>
                    </a:p>
                  </a:txBody>
                  <a:tcPr>
                    <a:solidFill>
                      <a:schemeClr val="tx2"/>
                    </a:solidFill>
                  </a:tcPr>
                </a:tc>
                <a:tc>
                  <a:txBody>
                    <a:bodyPr/>
                    <a:lstStyle/>
                    <a:p>
                      <a:pPr marL="0" algn="ctr" defTabSz="457200" rtl="0" eaLnBrk="1" latinLnBrk="0" hangingPunct="1"/>
                      <a:r>
                        <a:rPr sz="1600" b="1" kern="1200" dirty="0">
                          <a:solidFill>
                            <a:srgbClr val="FFFFFF"/>
                          </a:solidFill>
                          <a:latin typeface="Aptos Light" panose="020B0004020202020204" pitchFamily="34" charset="0"/>
                          <a:ea typeface="+mn-ea"/>
                          <a:cs typeface="+mn-cs"/>
                        </a:rPr>
                        <a:t>Estado actual</a:t>
                      </a:r>
                    </a:p>
                  </a:txBody>
                  <a:tcPr>
                    <a:solidFill>
                      <a:schemeClr val="tx2"/>
                    </a:solidFill>
                  </a:tcPr>
                </a:tc>
                <a:extLst>
                  <a:ext uri="{0D108BD9-81ED-4DB2-BD59-A6C34878D82A}">
                    <a16:rowId xmlns:a16="http://schemas.microsoft.com/office/drawing/2014/main" val="10000"/>
                  </a:ext>
                </a:extLst>
              </a:tr>
              <a:tr h="365760">
                <a:tc>
                  <a:txBody>
                    <a:bodyPr/>
                    <a:lstStyle/>
                    <a:p>
                      <a:pPr marL="0" algn="ctr" defTabSz="457200" rtl="0" eaLnBrk="1" latinLnBrk="0" hangingPunct="1"/>
                      <a:r>
                        <a:rPr sz="1600" b="0" kern="1200" dirty="0" err="1">
                          <a:solidFill>
                            <a:schemeClr val="tx1"/>
                          </a:solidFill>
                          <a:latin typeface="Aptos Light" panose="020B0004020202020204" pitchFamily="34" charset="0"/>
                          <a:ea typeface="+mn-ea"/>
                          <a:cs typeface="+mn-cs"/>
                        </a:rPr>
                        <a:t>Interacción</a:t>
                      </a:r>
                      <a:r>
                        <a:rPr sz="1600" b="0" kern="1200" dirty="0">
                          <a:solidFill>
                            <a:schemeClr val="tx1"/>
                          </a:solidFill>
                          <a:latin typeface="Aptos Light" panose="020B0004020202020204" pitchFamily="34" charset="0"/>
                          <a:ea typeface="+mn-ea"/>
                          <a:cs typeface="+mn-cs"/>
                        </a:rPr>
                        <a:t> con LLM (</a:t>
                      </a:r>
                      <a:r>
                        <a:rPr sz="1600" b="0" kern="1200" dirty="0" err="1">
                          <a:solidFill>
                            <a:schemeClr val="tx1"/>
                          </a:solidFill>
                          <a:latin typeface="Aptos Light" panose="020B0004020202020204" pitchFamily="34" charset="0"/>
                          <a:ea typeface="+mn-ea"/>
                          <a:cs typeface="+mn-cs"/>
                        </a:rPr>
                        <a:t>asistencia</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por</a:t>
                      </a:r>
                      <a:r>
                        <a:rPr sz="1600" b="0" kern="1200" dirty="0">
                          <a:solidFill>
                            <a:schemeClr val="tx1"/>
                          </a:solidFill>
                          <a:latin typeface="Aptos Light" panose="020B0004020202020204" pitchFamily="34" charset="0"/>
                          <a:ea typeface="+mn-ea"/>
                          <a:cs typeface="+mn-cs"/>
                        </a:rPr>
                        <a:t> IA)</a:t>
                      </a:r>
                      <a:endParaRPr lang="es-ES" sz="1600" b="0" kern="1200" dirty="0">
                        <a:solidFill>
                          <a:schemeClr val="tx1"/>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dirty="0" err="1">
                          <a:solidFill>
                            <a:schemeClr val="tx1"/>
                          </a:solidFill>
                          <a:latin typeface="Aptos Light" panose="020B0004020202020204" pitchFamily="34" charset="0"/>
                          <a:ea typeface="+mn-ea"/>
                          <a:cs typeface="+mn-cs"/>
                        </a:rPr>
                        <a:t>Diseñada</a:t>
                      </a:r>
                      <a:r>
                        <a:rPr lang="es-ES" sz="1600" b="0" kern="1200" dirty="0">
                          <a:solidFill>
                            <a:schemeClr val="tx1"/>
                          </a:solidFill>
                          <a:latin typeface="Aptos Light" panose="020B0004020202020204" pitchFamily="34" charset="0"/>
                          <a:ea typeface="+mn-ea"/>
                          <a:cs typeface="+mn-cs"/>
                        </a:rPr>
                        <a:t> y armada</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Tabla</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ai_insight</a:t>
                      </a:r>
                      <a:r>
                        <a:rPr sz="1600" b="0" kern="1200" dirty="0">
                          <a:solidFill>
                            <a:schemeClr val="tx1"/>
                          </a:solidFill>
                          <a:latin typeface="Aptos Light" panose="020B0004020202020204" pitchFamily="34" charset="0"/>
                          <a:ea typeface="+mn-ea"/>
                          <a:cs typeface="+mn-cs"/>
                        </a:rPr>
                        <a:t> + </a:t>
                      </a:r>
                      <a:r>
                        <a:rPr sz="1600" b="0" kern="1200" dirty="0" err="1">
                          <a:solidFill>
                            <a:schemeClr val="tx1"/>
                          </a:solidFill>
                          <a:latin typeface="Aptos Light" panose="020B0004020202020204" pitchFamily="34" charset="0"/>
                          <a:ea typeface="+mn-ea"/>
                          <a:cs typeface="+mn-cs"/>
                        </a:rPr>
                        <a:t>frontera</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v_ai_payload</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listas</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falta</a:t>
                      </a:r>
                      <a:r>
                        <a:rPr sz="1600" b="0" kern="1200" dirty="0">
                          <a:solidFill>
                            <a:schemeClr val="tx1"/>
                          </a:solidFill>
                          <a:latin typeface="Aptos Light" panose="020B0004020202020204" pitchFamily="34" charset="0"/>
                          <a:ea typeface="+mn-ea"/>
                          <a:cs typeface="+mn-cs"/>
                        </a:rPr>
                        <a:t> </a:t>
                      </a:r>
                      <a:r>
                        <a:rPr lang="es-ES" sz="1600" b="0" kern="1200" dirty="0">
                          <a:solidFill>
                            <a:schemeClr val="tx1"/>
                          </a:solidFill>
                          <a:latin typeface="Aptos Light" panose="020B0004020202020204" pitchFamily="34" charset="0"/>
                          <a:ea typeface="+mn-ea"/>
                          <a:cs typeface="+mn-cs"/>
                        </a:rPr>
                        <a:t>conectar con servicio LLM</a:t>
                      </a:r>
                      <a:r>
                        <a:rPr sz="1600" b="0" kern="1200" dirty="0">
                          <a:solidFill>
                            <a:schemeClr val="tx1"/>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Cifrado Fernet respaldado por KMS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Pendiente. Hoy la clave va por variable de entorno; en prod debe gestionarse con KMS.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5760">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S3 como recurso externo gestionado</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Pendiente (condicionado por MVP). Hoy autohospedado; el objetivo lo externaliza.</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marL="0" algn="ctr" defTabSz="457200" rtl="0" eaLnBrk="1" latinLnBrk="0" hangingPunct="1"/>
                      <a:r>
                        <a:rPr sz="1600" b="0" kern="1200">
                          <a:solidFill>
                            <a:schemeClr val="tx1"/>
                          </a:solidFill>
                          <a:latin typeface="Aptos Light" panose="020B0004020202020204" pitchFamily="34" charset="0"/>
                          <a:ea typeface="+mn-ea"/>
                          <a:cs typeface="+mn-cs"/>
                        </a:rPr>
                        <a:t>Derecho al olvido (Art. 17 GDPR)</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457200" rtl="0" eaLnBrk="1" latinLnBrk="0" hangingPunct="1"/>
                      <a:r>
                        <a:rPr sz="1600" b="0" kern="1200" dirty="0" err="1">
                          <a:solidFill>
                            <a:schemeClr val="tx1"/>
                          </a:solidFill>
                          <a:latin typeface="Aptos Light" panose="020B0004020202020204" pitchFamily="34" charset="0"/>
                          <a:ea typeface="+mn-ea"/>
                          <a:cs typeface="+mn-cs"/>
                        </a:rPr>
                        <a:t>Diseñado</a:t>
                      </a:r>
                      <a:r>
                        <a:rPr sz="1600" b="0" kern="1200" dirty="0">
                          <a:solidFill>
                            <a:schemeClr val="tx1"/>
                          </a:solidFill>
                          <a:latin typeface="Aptos Light" panose="020B0004020202020204" pitchFamily="34" charset="0"/>
                          <a:ea typeface="+mn-ea"/>
                          <a:cs typeface="+mn-cs"/>
                        </a:rPr>
                        <a:t>, no </a:t>
                      </a:r>
                      <a:r>
                        <a:rPr sz="1600" b="0" kern="1200" dirty="0" err="1">
                          <a:solidFill>
                            <a:schemeClr val="tx1"/>
                          </a:solidFill>
                          <a:latin typeface="Aptos Light" panose="020B0004020202020204" pitchFamily="34" charset="0"/>
                          <a:ea typeface="+mn-ea"/>
                          <a:cs typeface="+mn-cs"/>
                        </a:rPr>
                        <a:t>implementado</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Esquema</a:t>
                      </a:r>
                      <a:r>
                        <a:rPr sz="1600" b="0" kern="1200" dirty="0">
                          <a:solidFill>
                            <a:schemeClr val="tx1"/>
                          </a:solidFill>
                          <a:latin typeface="Aptos Light" panose="020B0004020202020204" pitchFamily="34" charset="0"/>
                          <a:ea typeface="+mn-ea"/>
                          <a:cs typeface="+mn-cs"/>
                        </a:rPr>
                        <a:t> con </a:t>
                      </a:r>
                      <a:r>
                        <a:rPr sz="1600" b="0" kern="1200" dirty="0" err="1">
                          <a:solidFill>
                            <a:schemeClr val="tx1"/>
                          </a:solidFill>
                          <a:latin typeface="Aptos Light" panose="020B0004020202020204" pitchFamily="34" charset="0"/>
                          <a:ea typeface="+mn-ea"/>
                          <a:cs typeface="+mn-cs"/>
                        </a:rPr>
                        <a:t>is_deleted</a:t>
                      </a:r>
                      <a:r>
                        <a:rPr sz="1600" b="0" kern="1200" dirty="0">
                          <a:solidFill>
                            <a:schemeClr val="tx1"/>
                          </a:solidFill>
                          <a:latin typeface="Aptos Light" panose="020B0004020202020204" pitchFamily="34" charset="0"/>
                          <a:ea typeface="+mn-ea"/>
                          <a:cs typeface="+mn-cs"/>
                        </a:rPr>
                        <a:t> (UC-13) y </a:t>
                      </a:r>
                      <a:r>
                        <a:rPr sz="1600" b="0" kern="1200" dirty="0" err="1">
                          <a:solidFill>
                            <a:schemeClr val="tx1"/>
                          </a:solidFill>
                          <a:latin typeface="Aptos Light" panose="020B0004020202020204" pitchFamily="34" charset="0"/>
                          <a:ea typeface="+mn-ea"/>
                          <a:cs typeface="+mn-cs"/>
                        </a:rPr>
                        <a:t>borrado</a:t>
                      </a:r>
                      <a:r>
                        <a:rPr sz="1600" b="0" kern="1200" dirty="0">
                          <a:solidFill>
                            <a:schemeClr val="tx1"/>
                          </a:solidFill>
                          <a:latin typeface="Aptos Light" panose="020B0004020202020204" pitchFamily="34" charset="0"/>
                          <a:ea typeface="+mn-ea"/>
                          <a:cs typeface="+mn-cs"/>
                        </a:rPr>
                        <a:t> del </a:t>
                      </a:r>
                      <a:r>
                        <a:rPr sz="1600" b="0" kern="1200" dirty="0" err="1">
                          <a:solidFill>
                            <a:schemeClr val="tx1"/>
                          </a:solidFill>
                          <a:latin typeface="Aptos Light" panose="020B0004020202020204" pitchFamily="34" charset="0"/>
                          <a:ea typeface="+mn-ea"/>
                          <a:cs typeface="+mn-cs"/>
                        </a:rPr>
                        <a:t>mapa</a:t>
                      </a:r>
                      <a:r>
                        <a:rPr sz="1600" b="0" kern="1200" dirty="0">
                          <a:solidFill>
                            <a:schemeClr val="tx1"/>
                          </a:solidFill>
                          <a:latin typeface="Aptos Light" panose="020B0004020202020204" pitchFamily="34" charset="0"/>
                          <a:ea typeface="+mn-ea"/>
                          <a:cs typeface="+mn-cs"/>
                        </a:rPr>
                        <a:t>; </a:t>
                      </a:r>
                      <a:r>
                        <a:rPr sz="1600" b="0" kern="1200" dirty="0" err="1">
                          <a:solidFill>
                            <a:schemeClr val="tx1"/>
                          </a:solidFill>
                          <a:latin typeface="Aptos Light" panose="020B0004020202020204" pitchFamily="34" charset="0"/>
                          <a:ea typeface="+mn-ea"/>
                          <a:cs typeface="+mn-cs"/>
                        </a:rPr>
                        <a:t>falta</a:t>
                      </a:r>
                      <a:r>
                        <a:rPr sz="1600" b="0" kern="1200" dirty="0">
                          <a:solidFill>
                            <a:schemeClr val="tx1"/>
                          </a:solidFill>
                          <a:latin typeface="Aptos Light" panose="020B0004020202020204" pitchFamily="34" charset="0"/>
                          <a:ea typeface="+mn-ea"/>
                          <a:cs typeface="+mn-cs"/>
                        </a:rPr>
                        <a:t> el </a:t>
                      </a:r>
                      <a:r>
                        <a:rPr sz="1600" b="0" kern="1200" dirty="0" err="1">
                          <a:solidFill>
                            <a:schemeClr val="tx1"/>
                          </a:solidFill>
                          <a:latin typeface="Aptos Light" panose="020B0004020202020204" pitchFamily="34" charset="0"/>
                          <a:ea typeface="+mn-ea"/>
                          <a:cs typeface="+mn-cs"/>
                        </a:rPr>
                        <a:t>flujo</a:t>
                      </a:r>
                      <a:r>
                        <a:rPr sz="1600" b="0" kern="1200" dirty="0">
                          <a:solidFill>
                            <a:schemeClr val="tx1"/>
                          </a:solidFill>
                          <a:latin typeface="Aptos Light" panose="020B0004020202020204" pitchFamily="34" charset="0"/>
                          <a:ea typeface="+mn-ea"/>
                          <a:cs typeface="+mn-cs"/>
                        </a:rPr>
                        <a:t> de </a:t>
                      </a:r>
                      <a:r>
                        <a:rPr sz="1600" b="0" kern="1200" dirty="0" err="1">
                          <a:solidFill>
                            <a:schemeClr val="tx1"/>
                          </a:solidFill>
                          <a:latin typeface="Aptos Light" panose="020B0004020202020204" pitchFamily="34" charset="0"/>
                          <a:ea typeface="+mn-ea"/>
                          <a:cs typeface="+mn-cs"/>
                        </a:rPr>
                        <a:t>supresión</a:t>
                      </a:r>
                      <a:r>
                        <a:rPr sz="1600" b="0" kern="1200" dirty="0">
                          <a:solidFill>
                            <a:schemeClr val="tx1"/>
                          </a:solidFill>
                          <a:latin typeface="Aptos Light" panose="020B0004020202020204" pitchFamily="34" charset="0"/>
                          <a:ea typeface="+mn-ea"/>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5760">
                <a:tc>
                  <a:txBody>
                    <a:bodyPr/>
                    <a:lstStyle/>
                    <a:p>
                      <a:pPr marL="0" algn="ctr" defTabSz="457200" rtl="0" eaLnBrk="1" latinLnBrk="0" hangingPunct="1"/>
                      <a:r>
                        <a:rPr lang="es-ES" sz="1600" b="0" kern="1200" dirty="0">
                          <a:solidFill>
                            <a:schemeClr val="tx1"/>
                          </a:solidFill>
                          <a:latin typeface="Aptos Light" panose="020B0004020202020204" pitchFamily="34" charset="0"/>
                          <a:ea typeface="+mn-ea"/>
                          <a:cs typeface="+mn-cs"/>
                        </a:rPr>
                        <a:t>Consentimiento firmado</a:t>
                      </a:r>
                      <a:endParaRPr sz="1600" b="0" kern="1200" dirty="0">
                        <a:solidFill>
                          <a:schemeClr val="tx1"/>
                        </a:solidFill>
                        <a:latin typeface="Aptos Light" panose="020B0004020202020204" pitchFamily="34" charset="0"/>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marL="0" algn="ctr" defTabSz="457200" rtl="0" eaLnBrk="1" latinLnBrk="0" hangingPunct="1"/>
                      <a:r>
                        <a:rPr lang="es-ES" sz="1600" b="0" kern="1200" dirty="0">
                          <a:solidFill>
                            <a:schemeClr val="tx1"/>
                          </a:solidFill>
                          <a:latin typeface="Aptos Light" panose="020B0004020202020204" pitchFamily="34" charset="0"/>
                          <a:ea typeface="+mn-ea"/>
                          <a:cs typeface="+mn-cs"/>
                        </a:rPr>
                        <a:t>Consentimiento registrado, no firmado con </a:t>
                      </a:r>
                      <a:r>
                        <a:rPr lang="es-ES" sz="1600" b="0" kern="1200">
                          <a:solidFill>
                            <a:schemeClr val="tx1"/>
                          </a:solidFill>
                          <a:latin typeface="Aptos Light" panose="020B0004020202020204" pitchFamily="34" charset="0"/>
                          <a:ea typeface="+mn-ea"/>
                          <a:cs typeface="+mn-cs"/>
                        </a:rPr>
                        <a:t>firma digital (CERES,…)</a:t>
                      </a:r>
                      <a:endParaRPr sz="1600" b="0" kern="1200" dirty="0">
                        <a:solidFill>
                          <a:schemeClr val="tx1"/>
                        </a:solidFill>
                        <a:latin typeface="Aptos Light"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851869677"/>
                  </a:ext>
                </a:extLst>
              </a:tr>
            </a:tbl>
          </a:graphicData>
        </a:graphic>
      </p:graphicFrame>
      <p:sp>
        <p:nvSpPr>
          <p:cNvPr id="7" name="Rounded Rectangle 6"/>
          <p:cNvSpPr/>
          <p:nvPr/>
        </p:nvSpPr>
        <p:spPr>
          <a:xfrm>
            <a:off x="457200" y="5333446"/>
            <a:ext cx="11247120" cy="1416564"/>
          </a:xfrm>
          <a:prstGeom prst="roundRect">
            <a:avLst/>
          </a:prstGeom>
          <a:solidFill>
            <a:srgbClr val="FFF6E0"/>
          </a:solidFill>
          <a:ln w="15875">
            <a:solidFill>
              <a:srgbClr val="B57A00"/>
            </a:solid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r>
              <a:rPr lang="es-ES" sz="2400" b="1" dirty="0">
                <a:solidFill>
                  <a:srgbClr val="B57A00"/>
                </a:solidFill>
                <a:latin typeface="Aptos"/>
              </a:rPr>
              <a:t>Base</a:t>
            </a:r>
            <a:r>
              <a:rPr sz="2400" b="1" dirty="0">
                <a:solidFill>
                  <a:srgbClr val="B57A00"/>
                </a:solidFill>
                <a:latin typeface="Aptos"/>
              </a:rPr>
              <a:t> de </a:t>
            </a:r>
            <a:r>
              <a:rPr sz="2400" b="1" dirty="0" err="1">
                <a:solidFill>
                  <a:srgbClr val="B57A00"/>
                </a:solidFill>
                <a:latin typeface="Aptos"/>
              </a:rPr>
              <a:t>ingeniería</a:t>
            </a:r>
            <a:endParaRPr lang="es-ES" sz="2400" b="1" dirty="0">
              <a:solidFill>
                <a:srgbClr val="B57A00"/>
              </a:solidFill>
              <a:latin typeface="Aptos"/>
            </a:endParaRPr>
          </a:p>
          <a:p>
            <a:pPr algn="ctr"/>
            <a:endParaRPr sz="2400" b="1" dirty="0">
              <a:solidFill>
                <a:srgbClr val="B57A00"/>
              </a:solidFill>
              <a:latin typeface="Aptos"/>
            </a:endParaRPr>
          </a:p>
          <a:p>
            <a:pPr algn="ctr"/>
            <a:r>
              <a:rPr dirty="0">
                <a:solidFill>
                  <a:srgbClr val="444A54"/>
                </a:solidFill>
                <a:latin typeface="Aptos Light" panose="020B0004020202020204" pitchFamily="34" charset="0"/>
              </a:rPr>
              <a:t>Cada </a:t>
            </a:r>
            <a:r>
              <a:rPr dirty="0" err="1">
                <a:solidFill>
                  <a:srgbClr val="444A54"/>
                </a:solidFill>
                <a:latin typeface="Aptos Light" panose="020B0004020202020204" pitchFamily="34" charset="0"/>
              </a:rPr>
              <a:t>mejora</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tiene</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una</a:t>
            </a:r>
            <a:r>
              <a:rPr dirty="0">
                <a:solidFill>
                  <a:srgbClr val="444A54"/>
                </a:solidFill>
                <a:latin typeface="Aptos Light" panose="020B0004020202020204" pitchFamily="34" charset="0"/>
              </a:rPr>
              <a:t> base </a:t>
            </a:r>
            <a:r>
              <a:rPr lang="es-ES" b="1" dirty="0">
                <a:solidFill>
                  <a:schemeClr val="accent6">
                    <a:lumMod val="50000"/>
                  </a:schemeClr>
                </a:solidFill>
                <a:latin typeface="Aptos Light" panose="020B0004020202020204" pitchFamily="34" charset="0"/>
              </a:rPr>
              <a:t>a</a:t>
            </a:r>
            <a:r>
              <a:rPr b="1" dirty="0" err="1">
                <a:solidFill>
                  <a:schemeClr val="accent6">
                    <a:lumMod val="50000"/>
                  </a:schemeClr>
                </a:solidFill>
                <a:latin typeface="Aptos Light" panose="020B0004020202020204" pitchFamily="34" charset="0"/>
              </a:rPr>
              <a:t>sentada</a:t>
            </a:r>
            <a:r>
              <a:rPr b="1" dirty="0">
                <a:solidFill>
                  <a:schemeClr val="accent6">
                    <a:lumMod val="50000"/>
                  </a:schemeClr>
                </a:solidFill>
                <a:latin typeface="Aptos Light" panose="020B0004020202020204" pitchFamily="34" charset="0"/>
              </a:rPr>
              <a:t> </a:t>
            </a:r>
            <a:r>
              <a:rPr b="1" dirty="0" err="1">
                <a:solidFill>
                  <a:schemeClr val="accent6">
                    <a:lumMod val="50000"/>
                  </a:schemeClr>
                </a:solidFill>
                <a:latin typeface="Aptos Light" panose="020B0004020202020204" pitchFamily="34" charset="0"/>
              </a:rPr>
              <a:t>en</a:t>
            </a:r>
            <a:r>
              <a:rPr b="1" dirty="0">
                <a:solidFill>
                  <a:schemeClr val="accent6">
                    <a:lumMod val="50000"/>
                  </a:schemeClr>
                </a:solidFill>
                <a:latin typeface="Aptos Light" panose="020B0004020202020204" pitchFamily="34" charset="0"/>
              </a:rPr>
              <a:t> el </a:t>
            </a:r>
            <a:r>
              <a:rPr b="1" dirty="0" err="1">
                <a:solidFill>
                  <a:schemeClr val="accent6">
                    <a:lumMod val="50000"/>
                  </a:schemeClr>
                </a:solidFill>
                <a:latin typeface="Aptos Light" panose="020B0004020202020204" pitchFamily="34" charset="0"/>
              </a:rPr>
              <a:t>diseño</a:t>
            </a:r>
            <a:r>
              <a:rPr b="1" dirty="0">
                <a:solidFill>
                  <a:schemeClr val="accent6">
                    <a:lumMod val="50000"/>
                  </a:schemeClr>
                </a:solidFill>
                <a:latin typeface="Aptos Light" panose="020B0004020202020204" pitchFamily="34" charset="0"/>
              </a:rPr>
              <a:t> actual</a:t>
            </a:r>
            <a:r>
              <a:rPr lang="es-ES" dirty="0">
                <a:solidFill>
                  <a:srgbClr val="444A54"/>
                </a:solidFill>
                <a:latin typeface="Aptos Light" panose="020B0004020202020204" pitchFamily="34" charset="0"/>
              </a:rPr>
              <a:t>. N</a:t>
            </a:r>
            <a:r>
              <a:rPr dirty="0">
                <a:solidFill>
                  <a:srgbClr val="444A54"/>
                </a:solidFill>
                <a:latin typeface="Aptos Light" panose="020B0004020202020204" pitchFamily="34" charset="0"/>
              </a:rPr>
              <a:t>o son ideas </a:t>
            </a:r>
            <a:r>
              <a:rPr dirty="0" err="1">
                <a:solidFill>
                  <a:srgbClr val="444A54"/>
                </a:solidFill>
                <a:latin typeface="Aptos Light" panose="020B0004020202020204" pitchFamily="34" charset="0"/>
              </a:rPr>
              <a:t>sueltas</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sino</a:t>
            </a:r>
            <a:r>
              <a:rPr dirty="0">
                <a:solidFill>
                  <a:srgbClr val="444A54"/>
                </a:solidFill>
                <a:latin typeface="Aptos Light" panose="020B0004020202020204" pitchFamily="34" charset="0"/>
              </a:rPr>
              <a:t> la </a:t>
            </a:r>
            <a:r>
              <a:rPr b="1" dirty="0" err="1">
                <a:solidFill>
                  <a:schemeClr val="accent6">
                    <a:lumMod val="50000"/>
                  </a:schemeClr>
                </a:solidFill>
                <a:latin typeface="Aptos Light" panose="020B0004020202020204" pitchFamily="34" charset="0"/>
              </a:rPr>
              <a:t>evolución</a:t>
            </a:r>
            <a:r>
              <a:rPr b="1" dirty="0">
                <a:solidFill>
                  <a:schemeClr val="accent6">
                    <a:lumMod val="50000"/>
                  </a:schemeClr>
                </a:solidFill>
                <a:latin typeface="Aptos Light" panose="020B0004020202020204" pitchFamily="34" charset="0"/>
              </a:rPr>
              <a:t> natural </a:t>
            </a:r>
            <a:r>
              <a:rPr dirty="0">
                <a:solidFill>
                  <a:srgbClr val="444A54"/>
                </a:solidFill>
                <a:latin typeface="Aptos Light" panose="020B0004020202020204" pitchFamily="34" charset="0"/>
              </a:rPr>
              <a:t>de </a:t>
            </a:r>
            <a:r>
              <a:rPr dirty="0" err="1">
                <a:solidFill>
                  <a:srgbClr val="444A54"/>
                </a:solidFill>
                <a:latin typeface="Aptos Light" panose="020B0004020202020204" pitchFamily="34" charset="0"/>
              </a:rPr>
              <a:t>decisiones</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ya</a:t>
            </a:r>
            <a:r>
              <a:rPr dirty="0">
                <a:solidFill>
                  <a:srgbClr val="444A54"/>
                </a:solidFill>
                <a:latin typeface="Aptos Light" panose="020B0004020202020204" pitchFamily="34" charset="0"/>
              </a:rPr>
              <a:t> </a:t>
            </a:r>
            <a:r>
              <a:rPr dirty="0" err="1">
                <a:solidFill>
                  <a:srgbClr val="444A54"/>
                </a:solidFill>
                <a:latin typeface="Aptos Light" panose="020B0004020202020204" pitchFamily="34" charset="0"/>
              </a:rPr>
              <a:t>tomadas</a:t>
            </a:r>
            <a:r>
              <a:rPr sz="1300" dirty="0">
                <a:solidFill>
                  <a:srgbClr val="444A54"/>
                </a:solidFill>
                <a:latin typeface="Aptos Light"/>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3719D-1903-B461-641F-F705BE2CA0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3840BF6-1CD6-E1D4-406D-BA55E4BBC6A7}"/>
              </a:ext>
            </a:extLst>
          </p:cNvPr>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BE34667-B032-DEAA-2DE1-594B0A3EC0AD}"/>
              </a:ext>
            </a:extLst>
          </p:cNvPr>
          <p:cNvSpPr/>
          <p:nvPr/>
        </p:nvSpPr>
        <p:spPr>
          <a:xfrm>
            <a:off x="457200" y="256032"/>
            <a:ext cx="548640" cy="54864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A</a:t>
            </a:r>
          </a:p>
        </p:txBody>
      </p:sp>
      <p:sp>
        <p:nvSpPr>
          <p:cNvPr id="4" name="TextBox 3">
            <a:extLst>
              <a:ext uri="{FF2B5EF4-FFF2-40B4-BE49-F238E27FC236}">
                <a16:creationId xmlns:a16="http://schemas.microsoft.com/office/drawing/2014/main" id="{4401DAB9-797A-6B47-602D-9820A0C793E8}"/>
              </a:ext>
            </a:extLst>
          </p:cNvPr>
          <p:cNvSpPr txBox="1"/>
          <p:nvPr/>
        </p:nvSpPr>
        <p:spPr>
          <a:xfrm>
            <a:off x="1188720" y="314462"/>
            <a:ext cx="10515600" cy="523220"/>
          </a:xfrm>
          <a:prstGeom prst="rect">
            <a:avLst/>
          </a:prstGeom>
          <a:noFill/>
        </p:spPr>
        <p:txBody>
          <a:bodyPr wrap="square" anchor="ctr">
            <a:spAutoFit/>
          </a:bodyPr>
          <a:lstStyle/>
          <a:p>
            <a:pPr algn="l">
              <a:spcAft>
                <a:spcPts val="600"/>
              </a:spcAft>
            </a:pPr>
            <a:r>
              <a:rPr sz="2800" b="1" dirty="0">
                <a:solidFill>
                  <a:srgbClr val="FFFFFF"/>
                </a:solidFill>
                <a:latin typeface="Aptos Light" panose="020B0004020202020204" pitchFamily="34" charset="0"/>
              </a:rPr>
              <a:t>Anexo</a:t>
            </a:r>
          </a:p>
        </p:txBody>
      </p:sp>
      <p:sp>
        <p:nvSpPr>
          <p:cNvPr id="9" name="Rounded Rectangle 6">
            <a:extLst>
              <a:ext uri="{FF2B5EF4-FFF2-40B4-BE49-F238E27FC236}">
                <a16:creationId xmlns:a16="http://schemas.microsoft.com/office/drawing/2014/main" id="{7D68716D-B61C-BDBF-7875-3C766D6CC8C8}"/>
              </a:ext>
            </a:extLst>
          </p:cNvPr>
          <p:cNvSpPr/>
          <p:nvPr/>
        </p:nvSpPr>
        <p:spPr>
          <a:xfrm>
            <a:off x="411480" y="1222408"/>
            <a:ext cx="11247120" cy="4155941"/>
          </a:xfrm>
          <a:prstGeom prst="roundRect">
            <a:avLst/>
          </a:prstGeom>
          <a:solidFill>
            <a:srgbClr val="FFF6E0"/>
          </a:solidFill>
          <a:ln w="15875">
            <a:solidFill>
              <a:srgbClr val="B57A00"/>
            </a:solidFill>
          </a:ln>
          <a:effectLst/>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r>
              <a:rPr sz="2400" b="1" dirty="0">
                <a:solidFill>
                  <a:srgbClr val="B57A00"/>
                </a:solidFill>
                <a:latin typeface="Aptos"/>
              </a:rPr>
              <a:t>MVP vs. </a:t>
            </a:r>
            <a:r>
              <a:rPr sz="2400" b="1" dirty="0" err="1">
                <a:solidFill>
                  <a:srgbClr val="B57A00"/>
                </a:solidFill>
                <a:latin typeface="Aptos"/>
              </a:rPr>
              <a:t>arquitectura</a:t>
            </a:r>
            <a:r>
              <a:rPr sz="2400" b="1" dirty="0">
                <a:solidFill>
                  <a:srgbClr val="B57A00"/>
                </a:solidFill>
                <a:latin typeface="Aptos"/>
              </a:rPr>
              <a:t> </a:t>
            </a:r>
            <a:r>
              <a:rPr sz="2400" b="1" dirty="0" err="1">
                <a:solidFill>
                  <a:srgbClr val="B57A00"/>
                </a:solidFill>
                <a:latin typeface="Aptos"/>
              </a:rPr>
              <a:t>objetivo</a:t>
            </a:r>
            <a:r>
              <a:rPr sz="2400" b="1" dirty="0">
                <a:solidFill>
                  <a:srgbClr val="B57A00"/>
                </a:solidFill>
                <a:latin typeface="Aptos"/>
              </a:rPr>
              <a:t> (</a:t>
            </a:r>
            <a:r>
              <a:rPr sz="2400" b="1" dirty="0" err="1">
                <a:solidFill>
                  <a:srgbClr val="B57A00"/>
                </a:solidFill>
                <a:latin typeface="Aptos"/>
              </a:rPr>
              <a:t>resiliencia</a:t>
            </a:r>
            <a:r>
              <a:rPr sz="2400" b="1" dirty="0">
                <a:solidFill>
                  <a:srgbClr val="B57A00"/>
                </a:solidFill>
                <a:latin typeface="Aptos"/>
              </a:rPr>
              <a:t> y </a:t>
            </a:r>
            <a:r>
              <a:rPr sz="2400" b="1" dirty="0" err="1">
                <a:solidFill>
                  <a:srgbClr val="B57A00"/>
                </a:solidFill>
                <a:latin typeface="Aptos"/>
              </a:rPr>
              <a:t>escalabilidad</a:t>
            </a:r>
            <a:r>
              <a:rPr sz="2400" b="1" dirty="0">
                <a:solidFill>
                  <a:srgbClr val="B57A00"/>
                </a:solidFill>
                <a:latin typeface="Aptos"/>
              </a:rPr>
              <a:t>)</a:t>
            </a:r>
            <a:endParaRPr lang="es-ES" sz="2400" b="1" dirty="0">
              <a:solidFill>
                <a:srgbClr val="B57A00"/>
              </a:solidFill>
              <a:latin typeface="Aptos"/>
            </a:endParaRPr>
          </a:p>
          <a:p>
            <a:pPr algn="ctr"/>
            <a:endParaRPr sz="2400" b="1" dirty="0">
              <a:solidFill>
                <a:srgbClr val="B57A00"/>
              </a:solidFill>
              <a:latin typeface="Aptos"/>
            </a:endParaRPr>
          </a:p>
          <a:p>
            <a:r>
              <a:rPr lang="es-ES" sz="1600" b="1" dirty="0">
                <a:solidFill>
                  <a:schemeClr val="accent6">
                    <a:lumMod val="50000"/>
                  </a:schemeClr>
                </a:solidFill>
                <a:latin typeface="Aptos Light" panose="020B0004020202020204" pitchFamily="34" charset="0"/>
              </a:rPr>
              <a:t>MVP</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todo</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autohospedado</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tras</a:t>
            </a:r>
            <a:r>
              <a:rPr sz="1600" dirty="0">
                <a:solidFill>
                  <a:srgbClr val="444A54"/>
                </a:solidFill>
                <a:latin typeface="Aptos Light" panose="020B0004020202020204" pitchFamily="34" charset="0"/>
              </a:rPr>
              <a:t> un nginx</a:t>
            </a:r>
            <a:r>
              <a:rPr lang="es-ES" sz="1600" dirty="0">
                <a:solidFill>
                  <a:srgbClr val="444A54"/>
                </a:solidFill>
                <a:latin typeface="Aptos Light" panose="020B0004020202020204" pitchFamily="34" charset="0"/>
              </a:rPr>
              <a:t> y una red privada</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en</a:t>
            </a:r>
            <a:r>
              <a:rPr sz="1600" dirty="0">
                <a:solidFill>
                  <a:srgbClr val="444A54"/>
                </a:solidFill>
                <a:latin typeface="Aptos Light" panose="020B0004020202020204" pitchFamily="34" charset="0"/>
              </a:rPr>
              <a:t> </a:t>
            </a:r>
            <a:r>
              <a:rPr lang="es-ES" sz="1600" dirty="0">
                <a:solidFill>
                  <a:srgbClr val="444A54"/>
                </a:solidFill>
                <a:latin typeface="Aptos Light" panose="020B0004020202020204" pitchFamily="34" charset="0"/>
              </a:rPr>
              <a:t>DOS </a:t>
            </a:r>
            <a:r>
              <a:rPr sz="1600" dirty="0" err="1">
                <a:solidFill>
                  <a:srgbClr val="444A54"/>
                </a:solidFill>
                <a:latin typeface="Aptos Light" panose="020B0004020202020204" pitchFamily="34" charset="0"/>
              </a:rPr>
              <a:t>nodo</a:t>
            </a:r>
            <a:r>
              <a:rPr lang="es-ES" sz="1600" dirty="0">
                <a:solidFill>
                  <a:srgbClr val="444A54"/>
                </a:solidFill>
                <a:latin typeface="Aptos Light" panose="020B0004020202020204" pitchFamily="34" charset="0"/>
              </a:rPr>
              <a:t>s</a:t>
            </a:r>
            <a:r>
              <a:rPr sz="1600" dirty="0">
                <a:solidFill>
                  <a:srgbClr val="444A54"/>
                </a:solidFill>
                <a:latin typeface="Aptos Light" panose="020B0004020202020204" pitchFamily="34" charset="0"/>
              </a:rPr>
              <a:t>.</a:t>
            </a:r>
            <a:endParaRPr lang="es-ES" sz="1600" dirty="0">
              <a:solidFill>
                <a:srgbClr val="444A54"/>
              </a:solidFill>
              <a:latin typeface="Aptos Light" panose="020B0004020202020204" pitchFamily="34" charset="0"/>
            </a:endParaRPr>
          </a:p>
          <a:p>
            <a:endParaRPr lang="es-ES" sz="1600" dirty="0">
              <a:solidFill>
                <a:srgbClr val="444A54"/>
              </a:solidFill>
              <a:latin typeface="Aptos Light" panose="020B0004020202020204" pitchFamily="34" charset="0"/>
            </a:endParaRPr>
          </a:p>
          <a:p>
            <a:endParaRPr lang="es-ES" sz="1600" dirty="0">
              <a:solidFill>
                <a:srgbClr val="444A54"/>
              </a:solidFill>
              <a:latin typeface="Aptos Light" panose="020B0004020202020204" pitchFamily="34" charset="0"/>
            </a:endParaRPr>
          </a:p>
          <a:p>
            <a:r>
              <a:rPr lang="es-ES" sz="1600" b="1" dirty="0">
                <a:solidFill>
                  <a:schemeClr val="accent6">
                    <a:lumMod val="50000"/>
                  </a:schemeClr>
                </a:solidFill>
                <a:latin typeface="Aptos Light" panose="020B0004020202020204" pitchFamily="34" charset="0"/>
              </a:rPr>
              <a:t>Arquitectura o</a:t>
            </a:r>
            <a:r>
              <a:rPr sz="1600" b="1" dirty="0" err="1">
                <a:solidFill>
                  <a:schemeClr val="accent6">
                    <a:lumMod val="50000"/>
                  </a:schemeClr>
                </a:solidFill>
                <a:latin typeface="Aptos Light" panose="020B0004020202020204" pitchFamily="34" charset="0"/>
              </a:rPr>
              <a:t>bjetivo</a:t>
            </a:r>
            <a:r>
              <a:rPr sz="1600" dirty="0">
                <a:solidFill>
                  <a:srgbClr val="444A54"/>
                </a:solidFill>
                <a:latin typeface="Aptos Light" panose="020B0004020202020204" pitchFamily="34" charset="0"/>
              </a:rPr>
              <a:t>:
• S3 → </a:t>
            </a:r>
            <a:r>
              <a:rPr sz="1600" dirty="0" err="1">
                <a:solidFill>
                  <a:srgbClr val="444A54"/>
                </a:solidFill>
                <a:latin typeface="Aptos Light" panose="020B0004020202020204" pitchFamily="34" charset="0"/>
              </a:rPr>
              <a:t>almacenamiento</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gestionado</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externo</a:t>
            </a:r>
            <a:r>
              <a:rPr sz="1600" dirty="0">
                <a:solidFill>
                  <a:srgbClr val="444A54"/>
                </a:solidFill>
                <a:latin typeface="Aptos Light" panose="020B0004020202020204" pitchFamily="34" charset="0"/>
              </a:rPr>
              <a:t>.
• Postgres → </a:t>
            </a:r>
            <a:r>
              <a:rPr sz="1600" dirty="0" err="1">
                <a:solidFill>
                  <a:srgbClr val="444A54"/>
                </a:solidFill>
                <a:latin typeface="Aptos Light" panose="020B0004020202020204" pitchFamily="34" charset="0"/>
              </a:rPr>
              <a:t>servicio</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gestionado</a:t>
            </a:r>
            <a:r>
              <a:rPr sz="1600" dirty="0">
                <a:solidFill>
                  <a:srgbClr val="444A54"/>
                </a:solidFill>
                <a:latin typeface="Aptos Light" panose="020B0004020202020204" pitchFamily="34" charset="0"/>
              </a:rPr>
              <a:t> con </a:t>
            </a:r>
            <a:r>
              <a:rPr sz="1600" dirty="0" err="1">
                <a:solidFill>
                  <a:srgbClr val="444A54"/>
                </a:solidFill>
                <a:latin typeface="Aptos Light" panose="020B0004020202020204" pitchFamily="34" charset="0"/>
              </a:rPr>
              <a:t>réplicas</a:t>
            </a:r>
            <a:r>
              <a:rPr sz="1600" dirty="0">
                <a:solidFill>
                  <a:srgbClr val="444A54"/>
                </a:solidFill>
                <a:latin typeface="Aptos Light" panose="020B0004020202020204" pitchFamily="34" charset="0"/>
              </a:rPr>
              <a:t> y backups.
• UI-BFF → </a:t>
            </a:r>
            <a:r>
              <a:rPr sz="1600" dirty="0" err="1">
                <a:solidFill>
                  <a:srgbClr val="444A54"/>
                </a:solidFill>
                <a:latin typeface="Aptos Light" panose="020B0004020202020204" pitchFamily="34" charset="0"/>
              </a:rPr>
              <a:t>varias</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instancias</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tras</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balanceador</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escala</a:t>
            </a:r>
            <a:r>
              <a:rPr sz="1600" dirty="0">
                <a:solidFill>
                  <a:srgbClr val="444A54"/>
                </a:solidFill>
                <a:latin typeface="Aptos Light" panose="020B0004020202020204" pitchFamily="34" charset="0"/>
              </a:rPr>
              <a:t> horizontal).
• Worker → </a:t>
            </a:r>
            <a:r>
              <a:rPr sz="1600" dirty="0" err="1">
                <a:solidFill>
                  <a:srgbClr val="444A54"/>
                </a:solidFill>
                <a:latin typeface="Aptos Light" panose="020B0004020202020204" pitchFamily="34" charset="0"/>
              </a:rPr>
              <a:t>autoescalable</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según</a:t>
            </a:r>
            <a:r>
              <a:rPr sz="1600" dirty="0">
                <a:solidFill>
                  <a:srgbClr val="444A54"/>
                </a:solidFill>
                <a:latin typeface="Aptos Light" panose="020B0004020202020204" pitchFamily="34" charset="0"/>
              </a:rPr>
              <a:t> la cola de </a:t>
            </a:r>
            <a:r>
              <a:rPr sz="1600" dirty="0" err="1">
                <a:solidFill>
                  <a:srgbClr val="444A54"/>
                </a:solidFill>
                <a:latin typeface="Aptos Light" panose="020B0004020202020204" pitchFamily="34" charset="0"/>
              </a:rPr>
              <a:t>análisis</a:t>
            </a:r>
            <a:r>
              <a:rPr sz="1600" dirty="0">
                <a:solidFill>
                  <a:srgbClr val="444A54"/>
                </a:solidFill>
                <a:latin typeface="Aptos Light" panose="020B0004020202020204" pitchFamily="34" charset="0"/>
              </a:rPr>
              <a:t>.
• </a:t>
            </a:r>
            <a:r>
              <a:rPr sz="1600" dirty="0" err="1">
                <a:solidFill>
                  <a:srgbClr val="444A54"/>
                </a:solidFill>
                <a:latin typeface="Aptos Light" panose="020B0004020202020204" pitchFamily="34" charset="0"/>
              </a:rPr>
              <a:t>Keycloak</a:t>
            </a:r>
            <a:r>
              <a:rPr sz="1600" dirty="0">
                <a:solidFill>
                  <a:srgbClr val="444A54"/>
                </a:solidFill>
                <a:latin typeface="Aptos Light" panose="020B0004020202020204" pitchFamily="34" charset="0"/>
              </a:rPr>
              <a:t> → </a:t>
            </a:r>
            <a:r>
              <a:rPr sz="1600" dirty="0" err="1">
                <a:solidFill>
                  <a:srgbClr val="444A54"/>
                </a:solidFill>
                <a:latin typeface="Aptos Light" panose="020B0004020202020204" pitchFamily="34" charset="0"/>
              </a:rPr>
              <a:t>alta</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disponibilidad</a:t>
            </a:r>
            <a:r>
              <a:rPr sz="1600" dirty="0">
                <a:solidFill>
                  <a:srgbClr val="444A54"/>
                </a:solidFill>
                <a:latin typeface="Aptos Light" panose="020B0004020202020204" pitchFamily="34" charset="0"/>
              </a:rPr>
              <a:t> / IdP </a:t>
            </a:r>
            <a:r>
              <a:rPr sz="1600" dirty="0" err="1">
                <a:solidFill>
                  <a:srgbClr val="444A54"/>
                </a:solidFill>
                <a:latin typeface="Aptos Light" panose="020B0004020202020204" pitchFamily="34" charset="0"/>
              </a:rPr>
              <a:t>gestionado</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su</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caída</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bloquea</a:t>
            </a:r>
            <a:r>
              <a:rPr sz="1600" dirty="0">
                <a:solidFill>
                  <a:srgbClr val="444A54"/>
                </a:solidFill>
                <a:latin typeface="Aptos Light" panose="020B0004020202020204" pitchFamily="34" charset="0"/>
              </a:rPr>
              <a:t> el </a:t>
            </a:r>
            <a:r>
              <a:rPr sz="1600" dirty="0" err="1">
                <a:solidFill>
                  <a:srgbClr val="444A54"/>
                </a:solidFill>
                <a:latin typeface="Aptos Light" panose="020B0004020202020204" pitchFamily="34" charset="0"/>
              </a:rPr>
              <a:t>acceso</a:t>
            </a:r>
            <a:r>
              <a:rPr sz="1600" dirty="0">
                <a:solidFill>
                  <a:srgbClr val="444A54"/>
                </a:solidFill>
                <a:latin typeface="Aptos Light" panose="020B0004020202020204" pitchFamily="34" charset="0"/>
              </a:rPr>
              <a:t>).</a:t>
            </a:r>
            <a:endParaRPr lang="es-ES" sz="1600" dirty="0">
              <a:solidFill>
                <a:srgbClr val="444A54"/>
              </a:solidFill>
              <a:latin typeface="Aptos Light" panose="020B0004020202020204" pitchFamily="34" charset="0"/>
            </a:endParaRPr>
          </a:p>
          <a:p>
            <a:r>
              <a:rPr sz="1600" dirty="0">
                <a:solidFill>
                  <a:srgbClr val="444A54"/>
                </a:solidFill>
                <a:latin typeface="Aptos Light" panose="020B0004020202020204" pitchFamily="34" charset="0"/>
              </a:rPr>
              <a:t>
</a:t>
            </a:r>
            <a:r>
              <a:rPr lang="es-ES" sz="1600" dirty="0">
                <a:solidFill>
                  <a:srgbClr val="444A54"/>
                </a:solidFill>
                <a:latin typeface="Aptos Light" panose="020B0004020202020204" pitchFamily="34" charset="0"/>
              </a:rPr>
              <a:t>E</a:t>
            </a:r>
            <a:r>
              <a:rPr sz="1600" dirty="0">
                <a:solidFill>
                  <a:srgbClr val="444A54"/>
                </a:solidFill>
                <a:latin typeface="Aptos Light" panose="020B0004020202020204" pitchFamily="34" charset="0"/>
              </a:rPr>
              <a:t>l nginx</a:t>
            </a:r>
            <a:r>
              <a:rPr lang="es-ES" sz="1600" dirty="0">
                <a:solidFill>
                  <a:srgbClr val="444A54"/>
                </a:solidFill>
                <a:latin typeface="Aptos Light" panose="020B0004020202020204" pitchFamily="34" charset="0"/>
              </a:rPr>
              <a:t> y el host son</a:t>
            </a:r>
            <a:r>
              <a:rPr sz="1600" dirty="0">
                <a:solidFill>
                  <a:srgbClr val="444A54"/>
                </a:solidFill>
                <a:latin typeface="Aptos Light" panose="020B0004020202020204" pitchFamily="34" charset="0"/>
              </a:rPr>
              <a:t> </a:t>
            </a:r>
            <a:r>
              <a:rPr lang="es-ES" sz="1600" dirty="0">
                <a:solidFill>
                  <a:srgbClr val="444A54"/>
                </a:solidFill>
                <a:latin typeface="Aptos Light" panose="020B0004020202020204" pitchFamily="34" charset="0"/>
              </a:rPr>
              <a:t>h</a:t>
            </a:r>
            <a:r>
              <a:rPr sz="1600" dirty="0">
                <a:solidFill>
                  <a:srgbClr val="444A54"/>
                </a:solidFill>
                <a:latin typeface="Aptos Light" panose="020B0004020202020204" pitchFamily="34" charset="0"/>
              </a:rPr>
              <a:t>oy </a:t>
            </a:r>
            <a:r>
              <a:rPr lang="es-ES" sz="1600" b="1" dirty="0">
                <a:solidFill>
                  <a:schemeClr val="accent6">
                    <a:lumMod val="50000"/>
                  </a:schemeClr>
                </a:solidFill>
                <a:latin typeface="Aptos Light" panose="020B0004020202020204" pitchFamily="34" charset="0"/>
              </a:rPr>
              <a:t>únicos puntos de fallo</a:t>
            </a:r>
            <a:r>
              <a:rPr sz="1600" dirty="0">
                <a:solidFill>
                  <a:srgbClr val="444A54"/>
                </a:solidFill>
                <a:latin typeface="Aptos Light" panose="020B0004020202020204" pitchFamily="34" charset="0"/>
              </a:rPr>
              <a:t>. Pasar de </a:t>
            </a:r>
            <a:r>
              <a:rPr lang="es-ES" sz="1600" dirty="0">
                <a:solidFill>
                  <a:srgbClr val="444A54"/>
                </a:solidFill>
                <a:latin typeface="Aptos Light" panose="020B0004020202020204" pitchFamily="34" charset="0"/>
              </a:rPr>
              <a:t>de </a:t>
            </a:r>
            <a:r>
              <a:rPr sz="1600" dirty="0" err="1">
                <a:solidFill>
                  <a:srgbClr val="444A54"/>
                </a:solidFill>
                <a:latin typeface="Aptos Light" panose="020B0004020202020204" pitchFamily="34" charset="0"/>
              </a:rPr>
              <a:t>nodo</a:t>
            </a:r>
            <a:r>
              <a:rPr lang="es-ES" sz="1600" dirty="0">
                <a:solidFill>
                  <a:srgbClr val="444A54"/>
                </a:solidFill>
                <a:latin typeface="Aptos Light" panose="020B0004020202020204" pitchFamily="34" charset="0"/>
              </a:rPr>
              <a:t>s</a:t>
            </a:r>
            <a:r>
              <a:rPr sz="1600" dirty="0">
                <a:solidFill>
                  <a:srgbClr val="444A54"/>
                </a:solidFill>
                <a:latin typeface="Aptos Light" panose="020B0004020202020204" pitchFamily="34" charset="0"/>
              </a:rPr>
              <a:t> a </a:t>
            </a:r>
            <a:r>
              <a:rPr sz="1600" dirty="0" err="1">
                <a:solidFill>
                  <a:srgbClr val="444A54"/>
                </a:solidFill>
                <a:latin typeface="Aptos Light" panose="020B0004020202020204" pitchFamily="34" charset="0"/>
              </a:rPr>
              <a:t>componentes</a:t>
            </a:r>
            <a:r>
              <a:rPr sz="1600" dirty="0">
                <a:solidFill>
                  <a:srgbClr val="444A54"/>
                </a:solidFill>
                <a:latin typeface="Aptos Light" panose="020B0004020202020204" pitchFamily="34" charset="0"/>
              </a:rPr>
              <a:t> </a:t>
            </a:r>
            <a:r>
              <a:rPr sz="1600" dirty="0" err="1">
                <a:solidFill>
                  <a:srgbClr val="444A54"/>
                </a:solidFill>
                <a:latin typeface="Aptos Light" panose="020B0004020202020204" pitchFamily="34" charset="0"/>
              </a:rPr>
              <a:t>distribuidos</a:t>
            </a:r>
            <a:r>
              <a:rPr sz="1600" dirty="0">
                <a:solidFill>
                  <a:srgbClr val="444A54"/>
                </a:solidFill>
                <a:latin typeface="Aptos Light" panose="020B0004020202020204" pitchFamily="34" charset="0"/>
              </a:rPr>
              <a:t> con </a:t>
            </a:r>
            <a:r>
              <a:rPr sz="1600" dirty="0" err="1">
                <a:solidFill>
                  <a:srgbClr val="444A54"/>
                </a:solidFill>
                <a:latin typeface="Aptos Light" panose="020B0004020202020204" pitchFamily="34" charset="0"/>
              </a:rPr>
              <a:t>redundancia</a:t>
            </a:r>
            <a:r>
              <a:rPr sz="1600" dirty="0">
                <a:solidFill>
                  <a:srgbClr val="444A54"/>
                </a:solidFill>
                <a:latin typeface="Aptos Light" panose="020B0004020202020204" pitchFamily="34" charset="0"/>
              </a:rPr>
              <a:t> y </a:t>
            </a:r>
            <a:r>
              <a:rPr sz="1600" dirty="0" err="1">
                <a:solidFill>
                  <a:srgbClr val="444A54"/>
                </a:solidFill>
                <a:latin typeface="Aptos Light" panose="020B0004020202020204" pitchFamily="34" charset="0"/>
              </a:rPr>
              <a:t>balanceo</a:t>
            </a:r>
            <a:r>
              <a:rPr sz="1600" dirty="0">
                <a:solidFill>
                  <a:srgbClr val="444A54"/>
                </a:solidFill>
                <a:latin typeface="Aptos Light" panose="020B0004020202020204" pitchFamily="34" charset="0"/>
              </a:rPr>
              <a:t>.</a:t>
            </a:r>
          </a:p>
        </p:txBody>
      </p:sp>
    </p:spTree>
    <p:extLst>
      <p:ext uri="{BB962C8B-B14F-4D97-AF65-F5344CB8AC3E}">
        <p14:creationId xmlns:p14="http://schemas.microsoft.com/office/powerpoint/2010/main" val="409472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71D48-6190-D278-E872-1FE8D896AA1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63C6703-FA45-555B-9944-F05E230BF63A}"/>
              </a:ext>
            </a:extLst>
          </p:cNvPr>
          <p:cNvSpPr/>
          <p:nvPr/>
        </p:nvSpPr>
        <p:spPr>
          <a:xfrm>
            <a:off x="0" y="5120640"/>
            <a:ext cx="12191695" cy="1737360"/>
          </a:xfrm>
          <a:prstGeom prst="rect">
            <a:avLst/>
          </a:prstGeom>
          <a:solidFill>
            <a:srgbClr val="0E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1D4CC62-6182-DB91-7BBE-5C28FFFA571D}"/>
              </a:ext>
            </a:extLst>
          </p:cNvPr>
          <p:cNvSpPr txBox="1"/>
          <p:nvPr/>
        </p:nvSpPr>
        <p:spPr>
          <a:xfrm>
            <a:off x="2032328" y="1352639"/>
            <a:ext cx="10515600" cy="769441"/>
          </a:xfrm>
          <a:prstGeom prst="rect">
            <a:avLst/>
          </a:prstGeom>
          <a:noFill/>
        </p:spPr>
        <p:txBody>
          <a:bodyPr wrap="square" anchor="t">
            <a:spAutoFit/>
          </a:bodyPr>
          <a:lstStyle/>
          <a:p>
            <a:pPr algn="l">
              <a:spcAft>
                <a:spcPts val="600"/>
              </a:spcAft>
            </a:pPr>
            <a:r>
              <a:rPr lang="es-ES" sz="4400" b="1" dirty="0">
                <a:latin typeface="Aptos"/>
              </a:rPr>
              <a:t>GRACIAS POR LA ATENCION</a:t>
            </a:r>
            <a:endParaRPr sz="4400" b="1" dirty="0">
              <a:latin typeface="Aptos"/>
            </a:endParaRPr>
          </a:p>
        </p:txBody>
      </p:sp>
      <p:sp>
        <p:nvSpPr>
          <p:cNvPr id="4" name="TextBox 3">
            <a:extLst>
              <a:ext uri="{FF2B5EF4-FFF2-40B4-BE49-F238E27FC236}">
                <a16:creationId xmlns:a16="http://schemas.microsoft.com/office/drawing/2014/main" id="{8F268D50-E4D0-0102-C9B1-A4B3B4DE5AB6}"/>
              </a:ext>
            </a:extLst>
          </p:cNvPr>
          <p:cNvSpPr txBox="1"/>
          <p:nvPr/>
        </p:nvSpPr>
        <p:spPr>
          <a:xfrm>
            <a:off x="361798" y="5389155"/>
            <a:ext cx="10058400" cy="1200329"/>
          </a:xfrm>
          <a:prstGeom prst="rect">
            <a:avLst/>
          </a:prstGeom>
          <a:noFill/>
        </p:spPr>
        <p:txBody>
          <a:bodyPr wrap="square" anchor="t">
            <a:spAutoFit/>
          </a:bodyPr>
          <a:lstStyle/>
          <a:p>
            <a:pPr algn="l">
              <a:spcAft>
                <a:spcPts val="600"/>
              </a:spcAft>
            </a:pPr>
            <a:r>
              <a:rPr lang="es-ES" sz="2400" dirty="0">
                <a:solidFill>
                  <a:srgbClr val="B9CFE8"/>
                </a:solidFill>
                <a:latin typeface="Aptos"/>
              </a:rPr>
              <a:t>Master de Desarrollo con IA – Big School</a:t>
            </a:r>
          </a:p>
          <a:p>
            <a:pPr algn="l">
              <a:spcAft>
                <a:spcPts val="600"/>
              </a:spcAft>
            </a:pPr>
            <a:r>
              <a:rPr lang="es-ES" sz="2400" b="0" dirty="0">
                <a:solidFill>
                  <a:srgbClr val="B9CFE8"/>
                </a:solidFill>
                <a:latin typeface="Aptos"/>
              </a:rPr>
              <a:t>Memoria del Proyecto Final de Master</a:t>
            </a:r>
          </a:p>
          <a:p>
            <a:pPr algn="l">
              <a:spcAft>
                <a:spcPts val="600"/>
              </a:spcAft>
            </a:pPr>
            <a:r>
              <a:rPr lang="es-ES" sz="1400" dirty="0">
                <a:solidFill>
                  <a:srgbClr val="B9CFE8"/>
                </a:solidFill>
                <a:latin typeface="Aptos"/>
              </a:rPr>
              <a:t>Julio 2026 – Jose A Pelaez</a:t>
            </a:r>
            <a:endParaRPr sz="1400" b="0" dirty="0">
              <a:solidFill>
                <a:srgbClr val="B9CFE8"/>
              </a:solidFill>
              <a:latin typeface="Aptos"/>
            </a:endParaRPr>
          </a:p>
        </p:txBody>
      </p:sp>
      <p:sp>
        <p:nvSpPr>
          <p:cNvPr id="6" name="TextBox 3">
            <a:extLst>
              <a:ext uri="{FF2B5EF4-FFF2-40B4-BE49-F238E27FC236}">
                <a16:creationId xmlns:a16="http://schemas.microsoft.com/office/drawing/2014/main" id="{755976B6-1A7B-153F-F89E-A847BE37311B}"/>
              </a:ext>
            </a:extLst>
          </p:cNvPr>
          <p:cNvSpPr txBox="1"/>
          <p:nvPr/>
        </p:nvSpPr>
        <p:spPr>
          <a:xfrm>
            <a:off x="361798" y="3058536"/>
            <a:ext cx="10058400" cy="2062103"/>
          </a:xfrm>
          <a:prstGeom prst="rect">
            <a:avLst/>
          </a:prstGeom>
          <a:noFill/>
        </p:spPr>
        <p:txBody>
          <a:bodyPr wrap="square" anchor="t">
            <a:spAutoFit/>
          </a:bodyPr>
          <a:lstStyle/>
          <a:p>
            <a:pPr algn="l">
              <a:spcAft>
                <a:spcPts val="600"/>
              </a:spcAft>
            </a:pPr>
            <a:r>
              <a:rPr lang="es-ES" b="0" dirty="0">
                <a:latin typeface="Aptos"/>
              </a:rPr>
              <a:t>Agradecimientos:</a:t>
            </a:r>
            <a:br>
              <a:rPr lang="es-ES" b="0" dirty="0">
                <a:latin typeface="Aptos"/>
              </a:rPr>
            </a:br>
            <a:endParaRPr lang="es-ES" b="0" dirty="0">
              <a:latin typeface="Aptos"/>
            </a:endParaRPr>
          </a:p>
          <a:p>
            <a:pPr algn="l">
              <a:spcAft>
                <a:spcPts val="600"/>
              </a:spcAft>
            </a:pPr>
            <a:r>
              <a:rPr lang="es-ES" dirty="0">
                <a:latin typeface="Aptos"/>
              </a:rPr>
              <a:t>Francisco Pelaez (Paciente)</a:t>
            </a:r>
          </a:p>
          <a:p>
            <a:pPr>
              <a:spcAft>
                <a:spcPts val="600"/>
              </a:spcAft>
            </a:pPr>
            <a:r>
              <a:rPr lang="es-ES" dirty="0">
                <a:latin typeface="Aptos"/>
              </a:rPr>
              <a:t>Remedios Calderon (Terapeuta)</a:t>
            </a:r>
          </a:p>
          <a:p>
            <a:pPr>
              <a:spcAft>
                <a:spcPts val="600"/>
              </a:spcAft>
            </a:pPr>
            <a:r>
              <a:rPr lang="es-ES" dirty="0">
                <a:latin typeface="Aptos"/>
              </a:rPr>
              <a:t>Ana </a:t>
            </a:r>
            <a:r>
              <a:rPr lang="es-ES" dirty="0" err="1">
                <a:latin typeface="Aptos"/>
              </a:rPr>
              <a:t>Mª</a:t>
            </a:r>
            <a:r>
              <a:rPr lang="es-ES" dirty="0">
                <a:latin typeface="Aptos"/>
              </a:rPr>
              <a:t> </a:t>
            </a:r>
            <a:r>
              <a:rPr lang="es-ES" dirty="0" err="1">
                <a:latin typeface="Aptos"/>
              </a:rPr>
              <a:t>Lopez</a:t>
            </a:r>
            <a:r>
              <a:rPr lang="es-ES" dirty="0">
                <a:latin typeface="Aptos"/>
              </a:rPr>
              <a:t> (Idea original)</a:t>
            </a:r>
          </a:p>
          <a:p>
            <a:pPr marL="285750" indent="-285750">
              <a:spcAft>
                <a:spcPts val="600"/>
              </a:spcAft>
              <a:buFont typeface="Arial" panose="020B0604020202020204" pitchFamily="34" charset="0"/>
              <a:buChar char="•"/>
            </a:pPr>
            <a:endParaRPr lang="es-ES" b="0" dirty="0">
              <a:latin typeface="Aptos"/>
            </a:endParaRPr>
          </a:p>
        </p:txBody>
      </p:sp>
    </p:spTree>
    <p:extLst>
      <p:ext uri="{BB962C8B-B14F-4D97-AF65-F5344CB8AC3E}">
        <p14:creationId xmlns:p14="http://schemas.microsoft.com/office/powerpoint/2010/main" val="38062566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728</TotalTime>
  <Words>1781</Words>
  <Application>Microsoft Office PowerPoint</Application>
  <PresentationFormat>Panorámica</PresentationFormat>
  <Paragraphs>231</Paragraphs>
  <Slides>15</Slides>
  <Notes>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Aptos</vt:lpstr>
      <vt:lpstr>Aptos Light</vt: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Jose Antonio Peláez Calderón</cp:lastModifiedBy>
  <cp:revision>14</cp:revision>
  <dcterms:created xsi:type="dcterms:W3CDTF">2013-01-27T09:14:16Z</dcterms:created>
  <dcterms:modified xsi:type="dcterms:W3CDTF">2026-07-18T20:43:22Z</dcterms:modified>
  <cp:category/>
</cp:coreProperties>
</file>